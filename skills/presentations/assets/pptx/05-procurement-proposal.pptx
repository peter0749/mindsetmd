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e91c64b39b04c26" /><Relationship Type="http://schemas.openxmlformats.org/package/2006/relationships/metadata/core-properties" Target="/docProps/core.xml" Id="R724ee1f3d7554f3d" /><Relationship Type="http://schemas.openxmlformats.org/officeDocument/2006/relationships/extended-properties" Target="/docProps/app.xml" Id="Ra7c80ae9a588494a" /><Relationship Type="http://schemas.openxmlformats.org/officeDocument/2006/relationships/custom-properties" Target="/docProps/custom.xml" Id="Rd92f8d6574ec47a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7da3a45a77b413e"/>
  </p:notesMasterIdLst>
  <p:sldIdLst>
    <p:sldId id="256" r:id="R98557ff048fd486c"/>
    <p:sldId id="257" r:id="R4fe50393e5e844ef"/>
    <p:sldId id="258" r:id="Rc971229e07c74d6f"/>
    <p:sldId id="259" r:id="Rdb7a4dcdfd1c4532"/>
    <p:sldId id="260" r:id="R2048416b4ed14227"/>
    <p:sldId id="261" r:id="R495352a3a2da484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8557ff048fd486c" /><Relationship Type="http://schemas.openxmlformats.org/officeDocument/2006/relationships/notesMaster" Target="/ppt/notesMasters/notesMaster1.xml" Id="Rb7da3a45a77b413e" /><Relationship Type="http://schemas.openxmlformats.org/officeDocument/2006/relationships/slide" Target="/ppt/slides/slide2.xml" Id="R4fe50393e5e844ef" /><Relationship Type="http://schemas.openxmlformats.org/officeDocument/2006/relationships/slide" Target="/ppt/slides/slide3.xml" Id="Rc971229e07c74d6f" /><Relationship Type="http://schemas.openxmlformats.org/officeDocument/2006/relationships/slide" Target="/ppt/slides/slide4.xml" Id="Rdb7a4dcdfd1c4532" /><Relationship Type="http://schemas.openxmlformats.org/officeDocument/2006/relationships/slide" Target="/ppt/slides/slide5.xml" Id="R2048416b4ed14227" /><Relationship Type="http://schemas.openxmlformats.org/officeDocument/2006/relationships/slide" Target="/ppt/slides/slide6.xml" Id="R495352a3a2da48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c14544a03fb426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e8a0b09c5a84242" /><Relationship Type="http://schemas.openxmlformats.org/officeDocument/2006/relationships/slide" Target="/ppt/slides/slide1.xml" Id="R0d65df600fcb4a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462819f96cc478a" /><Relationship Type="http://schemas.openxmlformats.org/officeDocument/2006/relationships/slide" Target="/ppt/slides/slide2.xml" Id="R01112e7ac58c4d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e444e014f9a4d40" /><Relationship Type="http://schemas.openxmlformats.org/officeDocument/2006/relationships/slide" Target="/ppt/slides/slide3.xml" Id="R36e35f1923574b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358b70e87f645f2" /><Relationship Type="http://schemas.openxmlformats.org/officeDocument/2006/relationships/slide" Target="/ppt/slides/slide4.xml" Id="Rbe8ec8d3f4cc49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ca3cfb235449c8" /><Relationship Type="http://schemas.openxmlformats.org/officeDocument/2006/relationships/slide" Target="/ppt/slides/slide5.xml" Id="R3ace697786a6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a1ab0442fe745c8" /><Relationship Type="http://schemas.openxmlformats.org/officeDocument/2006/relationships/slide" Target="/ppt/slides/slide6.xml" Id="R072837768457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for Procurement proposal. State purpose in 10 seconds.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Read BLUF first. Do not walk chronology before the ask is clear.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Must list drives fair comparison.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Adoption is part of the ask.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on recommendation. Avoid re-deriving analysis aloud.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Never set decide-by equal to need-by.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f0917268b4e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40408865345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1f1db3fa847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d63463a924b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251c527f8403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fe59b816e364b4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2e67a5a934782" /><Relationship Type="http://schemas.openxmlformats.org/officeDocument/2006/relationships/notesSlide" Target="/ppt/notesSlides/notesSlide1.xml" Id="R6d7f2597a9b848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d8fd849d14419" /><Relationship Type="http://schemas.openxmlformats.org/officeDocument/2006/relationships/notesSlide" Target="/ppt/notesSlides/notesSlide2.xml" Id="R72efd26b750c47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3c687a7c488a" /><Relationship Type="http://schemas.openxmlformats.org/officeDocument/2006/relationships/notesSlide" Target="/ppt/notesSlides/notesSlide3.xml" Id="R9a1e2dac529e4b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b0857ce534ce2" /><Relationship Type="http://schemas.openxmlformats.org/officeDocument/2006/relationships/notesSlide" Target="/ppt/notesSlides/notesSlide4.xml" Id="R82c7cdf1428d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ba89de5546dc" /><Relationship Type="http://schemas.openxmlformats.org/officeDocument/2006/relationships/notesSlide" Target="/ppt/notesSlides/notesSlide5.xml" Id="R6f27df97aeeb44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5936bd96483c" /><Relationship Type="http://schemas.openxmlformats.org/officeDocument/2006/relationships/notesSlide" Target="/ppt/notesSlides/notesSlide6.xml" Id="Rea35e6b2ec0e4755" /></Relationships>
</file>

<file path=ppt/slides/slide1.xml><?xml version="1.0" encoding="utf-8"?>
<p:sld xmlns:p="http://schemas.openxmlformats.org/presentationml/2006/main">
  <p:cSld name="Procurement proposal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40000" y="108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ADCFC"/>
                </a:solidFill>
                <a:latin typeface="Calibri"/>
                <a:ea typeface="Calibri"/>
              </a:rPr>
              <a:t>SCENARIO 05  ·  PROCUREMENT / VENDOR / LICENSE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40000" y="1548000"/>
            <a:ext cx="10800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Procurement proposal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40000" y="2700000"/>
            <a:ext cx="1080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CADCFC"/>
                </a:solidFill>
                <a:latin typeface="Calibri"/>
                <a:ea typeface="Calibri"/>
              </a:rPr>
              <a:t>Buy / renew / switch — TCO, lead time, if-no impact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40000" y="604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0AEC0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BLUF — purchase decis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4" name="TextBox 1"/>
          <p:cNvSpPr txBox="1"/>
          <p:nvPr/>
        </p:nvSpPr>
        <p:spPr>
          <a:xfrm xmlns:a="http://schemas.openxmlformats.org/drawingml/2006/main">
            <a:off x="540000" y="432000"/>
            <a:ext cx="1098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1A202C"/>
                </a:solidFill>
                <a:latin typeface="Calibri"/>
                <a:ea typeface="Calibri"/>
              </a:rPr>
              <a:t>BLUF — purchase decision</a:t>
            </a:r>
          </a:p>
        </p:txBody>
      </p:sp>
      <p:sp>
        <p:nvSpPr>
          <p:cNvPr id="100005" name="TextBox 2"/>
          <p:cNvSpPr txBox="1"/>
          <p:nvPr/>
        </p:nvSpPr>
        <p:spPr>
          <a:xfrm xmlns:a="http://schemas.openxmlformats.org/drawingml/2006/main">
            <a:off x="540000" y="1188000"/>
            <a:ext cx="576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06" name="TextBox 3"/>
          <p:cNvSpPr txBox="1"/>
          <p:nvPr/>
        </p:nvSpPr>
        <p:spPr>
          <a:xfrm xmlns:a="http://schemas.openxmlformats.org/drawingml/2006/main">
            <a:off x="540000" y="1512000"/>
            <a:ext cx="1098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Recommend: Vendor A  ·  Term: 3yr  ·  Decide by: [date] (lead time!)</a:t>
            </a:r>
          </a:p>
        </p:txBody>
      </p:sp>
      <p:sp>
        <p:nvSpPr>
          <p:cNvPr id="100007" name="TextBox 4"/>
          <p:cNvSpPr txBox="1"/>
          <p:nvPr/>
        </p:nvSpPr>
        <p:spPr>
          <a:xfrm xmlns:a="http://schemas.openxmlformats.org/drawingml/2006/main">
            <a:off x="540000" y="2196000"/>
            <a:ext cx="109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Buy: [tool/IP/cloud/service] for [use case].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Why now: license expiry / project gate / capacity.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If no: [schedule or compliance impact].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Requirements (must / should)</a:t>
            </a:r>
          </a:p>
        </p:txBody>
      </p:sp>
      <p:sp>
        <p:nvSpPr>
          <p:cNvPr id="100008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Must: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Should: …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Security / compliance / local support / export control if relevant.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Implementation plan</a:t>
            </a:r>
          </a:p>
        </p:txBody>
      </p:sp>
      <p:sp>
        <p:nvSpPr>
          <p:cNvPr id="100009" name="TextBox 2"/>
          <p:cNvSpPr txBox="1"/>
          <p:nvPr/>
        </p:nvSpPr>
        <p:spPr>
          <a:xfrm xmlns:a="http://schemas.openxmlformats.org/drawingml/2006/main">
            <a:off x="540000" y="1440000"/>
            <a:ext cx="1098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POC → pilot → full seats.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Owner, training, success criteria, rollback.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Options &amp; recommendation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40000" y="1404000"/>
            <a:ext cx="10980000" cy="46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bold in the table. Decision owner must pick by the date on the Ask slide.</a:t>
            </a:r>
          </a:p>
        </p:txBody>
      </p:sp>
      <p:graphicFrame>
        <p:nvGraphicFramePr>
          <p:cNvPr id="100011" name="Table 1"/>
          <p:cNvGraphicFramePr/>
          <p:nvPr/>
        </p:nvGraphicFramePr>
        <p:xfrm>
          <a:off xmlns:a="http://schemas.openxmlformats.org/drawingml/2006/main" x="540000" y="1944000"/>
          <a:ext xmlns:a="http://schemas.openxmlformats.org/drawingml/2006/main" cx="10980000" cy="36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6000"/>
                <a:gridCol w="2196000"/>
                <a:gridCol w="2196000"/>
                <a:gridCol w="2196000"/>
                <a:gridCol w="2196000"/>
              </a:tblGrid>
              <a:tr h="900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TCO sketch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Time-to-value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Vendor A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Vendor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$…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cash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High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Decision &amp; ask</a:t>
            </a:r>
          </a:p>
        </p:txBody>
      </p:sp>
      <p:sp>
        <p:nvSpPr>
          <p:cNvPr id="100012" name="TextBox 2"/>
          <p:cNvSpPr txBox="1"/>
          <p:nvPr/>
        </p:nvSpPr>
        <p:spPr>
          <a:xfrm xmlns:a="http://schemas.openxmlformats.org/drawingml/2006/main">
            <a:off x="540000" y="1404000"/>
            <a:ext cx="109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540000" y="1764000"/>
            <a:ext cx="109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Approve Option A and start procurement path.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Sign-off chain: eng manager → finance → procurement.</a:t>
            </a:r>
          </a:p>
          <a:p xmlns:a="http://schemas.openxmlformats.org/drawingml/2006/main">
            <a:r>
              <a:rPr lang="en-US" sz="1800" b="0">
                <a:solidFill>
                  <a:srgbClr val="1A202C"/>
                </a:solidFill>
                <a:latin typeface="Calibri"/>
                <a:ea typeface="Calibri"/>
              </a:rPr>
              <a:t>Decision date must include vendor lead time.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2026-08-05T16:56:09Z</dcterms:created>
  <cp:lastModifiedBy>OfficeCLI</cp:lastModifiedBy>
  <dcterms:modified xsi:type="dcterms:W3CDTF">2026-08-05T16:56:09Z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2026-08-05T16:56:11Z</vt:lpwstr>
  </op:property>
</op:Properties>
</file>