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d3ca97d1dcdb4888" /><Relationship Type="http://schemas.openxmlformats.org/package/2006/relationships/metadata/core-properties" Target="/docProps/core.xml" Id="R467ab7886dc949df" /><Relationship Type="http://schemas.openxmlformats.org/officeDocument/2006/relationships/extended-properties" Target="/docProps/app.xml" Id="R7451915e076f457e" /><Relationship Type="http://schemas.openxmlformats.org/officeDocument/2006/relationships/custom-properties" Target="/docProps/custom.xml" Id="R8bba5973df6f4349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c2f12e00f867466e"/>
  </p:notesMasterIdLst>
  <p:sldIdLst>
    <p:sldId id="256" r:id="Rd01c45ab9e79439e"/>
    <p:sldId id="257" r:id="Rfffebc1f40944072"/>
    <p:sldId id="258" r:id="Rcd4f1186a0ea47cb"/>
    <p:sldId id="259" r:id="R82c61886c35c47eb"/>
    <p:sldId id="260" r:id="Rb789bfc0130f4a0a"/>
    <p:sldId id="261" r:id="R5d3f5e4150ab43ca"/>
    <p:sldId id="262" r:id="Rd8701ca3f2cc4904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d01c45ab9e79439e" /><Relationship Type="http://schemas.openxmlformats.org/officeDocument/2006/relationships/notesMaster" Target="/ppt/notesMasters/notesMaster1.xml" Id="Rc2f12e00f867466e" /><Relationship Type="http://schemas.openxmlformats.org/officeDocument/2006/relationships/slide" Target="/ppt/slides/slide2.xml" Id="Rfffebc1f40944072" /><Relationship Type="http://schemas.openxmlformats.org/officeDocument/2006/relationships/slide" Target="/ppt/slides/slide3.xml" Id="Rcd4f1186a0ea47cb" /><Relationship Type="http://schemas.openxmlformats.org/officeDocument/2006/relationships/slide" Target="/ppt/slides/slide4.xml" Id="R82c61886c35c47eb" /><Relationship Type="http://schemas.openxmlformats.org/officeDocument/2006/relationships/slide" Target="/ppt/slides/slide5.xml" Id="Rb789bfc0130f4a0a" /><Relationship Type="http://schemas.openxmlformats.org/officeDocument/2006/relationships/slide" Target="/ppt/slides/slide6.xml" Id="R5d3f5e4150ab43ca" /><Relationship Type="http://schemas.openxmlformats.org/officeDocument/2006/relationships/slide" Target="/ppt/slides/slide7.xml" Id="Rd8701ca3f2cc49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36df044171e4ba5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67cf7704ada4cff" /><Relationship Type="http://schemas.openxmlformats.org/officeDocument/2006/relationships/slide" Target="/ppt/slides/slide1.xml" Id="R1b9fe334bf8145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dec3e58a5ea4541" /><Relationship Type="http://schemas.openxmlformats.org/officeDocument/2006/relationships/slide" Target="/ppt/slides/slide2.xml" Id="R5a8b3aada26449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885269cbe004499" /><Relationship Type="http://schemas.openxmlformats.org/officeDocument/2006/relationships/slide" Target="/ppt/slides/slide3.xml" Id="R4af7131cb12340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a1925459a1644d1" /><Relationship Type="http://schemas.openxmlformats.org/officeDocument/2006/relationships/slide" Target="/ppt/slides/slide4.xml" Id="R5abf7d2d674a4e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7b14bf50655482f" /><Relationship Type="http://schemas.openxmlformats.org/officeDocument/2006/relationships/slide" Target="/ppt/slides/slide5.xml" Id="R209854c30ed64c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2f95c2f7692471f" /><Relationship Type="http://schemas.openxmlformats.org/officeDocument/2006/relationships/slide" Target="/ppt/slides/slide6.xml" Id="R9a299b4428c645d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fdd93d10e1543c6" /><Relationship Type="http://schemas.openxmlformats.org/officeDocument/2006/relationships/slide" Target="/ppt/slides/slide7.xml" Id="R879dc002783544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Cover for Benefit &amp; value case. State purpose in 10 seconds.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Read BLUF first. Do not walk chronology before the ask is clear.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No jargon without translation.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Mark correlation vs causation honestly.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Credibility &gt; inflated ROI.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Walk trade-offs; land on recommendation. Avoid re-deriving analysis aloud.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Land a clear portfolio decision.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6c6fe3541a4c7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cd340ddb69450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59110c4a7b48c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7032f801d24d0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c93d5c5d8f4a3f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6bdb74d218d24c9d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c41b7ec3c545a9" /><Relationship Type="http://schemas.openxmlformats.org/officeDocument/2006/relationships/notesSlide" Target="/ppt/notesSlides/notesSlide1.xml" Id="R248755a9e11945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b1c55a1a0f4b1d" /><Relationship Type="http://schemas.openxmlformats.org/officeDocument/2006/relationships/notesSlide" Target="/ppt/notesSlides/notesSlide2.xml" Id="R4d576c303bfe4b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dc0744453e441b" /><Relationship Type="http://schemas.openxmlformats.org/officeDocument/2006/relationships/notesSlide" Target="/ppt/notesSlides/notesSlide3.xml" Id="R9bfe15a4078d49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4e4392a0ad4588" /><Relationship Type="http://schemas.openxmlformats.org/officeDocument/2006/relationships/notesSlide" Target="/ppt/notesSlides/notesSlide4.xml" Id="Rcdab1862dbc449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6fd023be9e4b74" /><Relationship Type="http://schemas.openxmlformats.org/officeDocument/2006/relationships/notesSlide" Target="/ppt/notesSlides/notesSlide5.xml" Id="R579ad4545e7d4b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ff907d2c4842ba" /><Relationship Type="http://schemas.openxmlformats.org/officeDocument/2006/relationships/notesSlide" Target="/ppt/notesSlides/notesSlide6.xml" Id="Ra4101c29a9a24d0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de6b4dea9f4066" /><Relationship Type="http://schemas.openxmlformats.org/officeDocument/2006/relationships/notesSlide" Target="/ppt/notesSlides/notesSlide7.xml" Id="Rb4665e451b3d403b" /></Relationships>
</file>

<file path=ppt/slides/slide1.xml><?xml version="1.0" encoding="utf-8"?>
<p:sld xmlns:p="http://schemas.openxmlformats.org/presentationml/2006/main">
  <p:cSld name="Benefit &amp; value case"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540000" y="1080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CADCFC"/>
                </a:solidFill>
                <a:latin typeface="Calibri"/>
                <a:ea typeface="Calibri"/>
              </a:rPr>
              <a:t>SCENARIO 04  ·  BENEFIT / ROI / VALUE</a:t>
            </a:r>
          </a:p>
        </p:txBody>
      </p:sp>
      <p:sp>
        <p:nvSpPr>
          <p:cNvPr id="100001" name="TextBox 2"/>
          <p:cNvSpPr txBox="1"/>
          <p:nvPr/>
        </p:nvSpPr>
        <p:spPr>
          <a:xfrm xmlns:a="http://schemas.openxmlformats.org/drawingml/2006/main">
            <a:off x="540000" y="1548000"/>
            <a:ext cx="10800000" cy="100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  <a:latin typeface="Calibri"/>
                <a:ea typeface="Calibri"/>
              </a:rPr>
              <a:t>Benefit &amp; value case</a:t>
            </a:r>
          </a:p>
        </p:txBody>
      </p:sp>
      <p:sp>
        <p:nvSpPr>
          <p:cNvPr id="100002" name="TextBox 3"/>
          <p:cNvSpPr txBox="1"/>
          <p:nvPr/>
        </p:nvSpPr>
        <p:spPr>
          <a:xfrm xmlns:a="http://schemas.openxmlformats.org/drawingml/2006/main">
            <a:off x="540000" y="2700000"/>
            <a:ext cx="10800000" cy="79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CADCFC"/>
                </a:solidFill>
                <a:latin typeface="Calibri"/>
                <a:ea typeface="Calibri"/>
              </a:rPr>
              <a:t>Investment → impact chain → continue / expand / stop</a:t>
            </a:r>
          </a:p>
        </p:txBody>
      </p:sp>
      <p:sp>
        <p:nvSpPr>
          <p:cNvPr id="100003" name="TextBox 4"/>
          <p:cNvSpPr txBox="1"/>
          <p:nvPr/>
        </p:nvSpPr>
        <p:spPr>
          <a:xfrm xmlns:a="http://schemas.openxmlformats.org/drawingml/2006/main">
            <a:off x="540000" y="6048000"/>
            <a:ext cx="1080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A0AEC0"/>
                </a:solidFill>
                <a:latin typeface="Calibri"/>
                <a:ea typeface="Calibri"/>
              </a:rPr>
              <a:t>Team X  ·  Program Alpha  ·  Qn YYYY  ·  TEMPLATE — replace placeholders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BLUF — investment vs benefit</a:t>
            </a:r>
          </a:p>
        </p:txBody>
      </p:sp>
      <p:sp>
        <p:nvSpPr>
          <p:cNvPr id="100004" name="TextBox 2"/>
          <p:cNvSpPr txBox="1"/>
          <p:nvPr/>
        </p:nvSpPr>
        <p:spPr>
          <a:xfrm xmlns:a="http://schemas.openxmlformats.org/drawingml/2006/main">
            <a:off x="540000" y="540000"/>
            <a:ext cx="504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2B6CB0"/>
                </a:solidFill>
                <a:latin typeface="Calibri"/>
                <a:ea typeface="Calibri"/>
              </a:rPr>
              <a:t>BOTTOM LINE UP FRONT</a:t>
            </a:r>
          </a:p>
        </p:txBody>
      </p:sp>
      <p:sp>
        <p:nvSpPr>
          <p:cNvPr id="100005" name="TextBox 3"/>
          <p:cNvSpPr txBox="1"/>
          <p:nvPr/>
        </p:nvSpPr>
        <p:spPr>
          <a:xfrm xmlns:a="http://schemas.openxmlformats.org/drawingml/2006/main">
            <a:off x="540000" y="1512000"/>
            <a:ext cx="10980000" cy="5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7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FFFFFF"/>
                </a:solidFill>
                <a:latin typeface="Calibri"/>
                <a:ea typeface="Calibri"/>
              </a:rPr>
              <a:t>Recommend: CONTINUE  ·  Payback sketch: ~N months (assumptions labeled)</a:t>
            </a:r>
          </a:p>
        </p:txBody>
      </p:sp>
      <p:sp>
        <p:nvSpPr>
          <p:cNvPr id="100006" name="TextBox 4"/>
          <p:cNvSpPr txBox="1"/>
          <p:nvPr/>
        </p:nvSpPr>
        <p:spPr>
          <a:xfrm xmlns:a="http://schemas.openxmlformats.org/drawingml/2006/main">
            <a:off x="540000" y="2196000"/>
            <a:ext cx="10980000" cy="40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Investment: [project] cost [eng-quarters / $ example].</a:t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Benefit realized: [metric] → [business/risk language].</a:t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Ask: continue / expand / stop.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Business problem attacked</a:t>
            </a:r>
          </a:p>
        </p:txBody>
      </p:sp>
      <p:sp>
        <p:nvSpPr>
          <p:cNvPr id="100007" name="TextBox 2"/>
          <p:cNvSpPr txBox="1"/>
          <p:nvPr/>
        </p:nvSpPr>
        <p:spPr>
          <a:xfrm xmlns:a="http://schemas.openxmlformats.org/drawingml/2006/main">
            <a:off x="540000" y="1440000"/>
            <a:ext cx="10980000" cy="46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Customer / revenue / cost / risk framing.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Why engineering capacity was the right lever.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Impact chain</a:t>
            </a:r>
          </a:p>
        </p:txBody>
      </p:sp>
      <p:sp>
        <p:nvSpPr>
          <p:cNvPr id="100008" name="TextBox 2"/>
          <p:cNvSpPr txBox="1"/>
          <p:nvPr/>
        </p:nvSpPr>
        <p:spPr>
          <a:xfrm xmlns:a="http://schemas.openxmlformats.org/drawingml/2006/main">
            <a:off x="540000" y="1440000"/>
            <a:ext cx="10980000" cy="46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Technical result → process/behavior change → business metric.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Example: shared DV farm → regression 18h→6h → more test loops → fewer escapes → lower spin risk.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Counterfactual &amp; what we will not claim</a:t>
            </a:r>
          </a:p>
        </p:txBody>
      </p:sp>
      <p:sp>
        <p:nvSpPr>
          <p:cNvPr id="100009" name="TextBox 2"/>
          <p:cNvSpPr txBox="1"/>
          <p:nvPr/>
        </p:nvSpPr>
        <p:spPr>
          <a:xfrm xmlns:a="http://schemas.openxmlformats.org/drawingml/2006/main">
            <a:off x="540000" y="1440000"/>
            <a:ext cx="10980000" cy="46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If we had not done this: [extra cost / delay / risk].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Out of bounds claims (do not oversell): …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Options &amp; recommendation</a:t>
            </a:r>
          </a:p>
        </p:txBody>
      </p:sp>
      <p:sp>
        <p:nvSpPr>
          <p:cNvPr id="100010" name="TextBox 2"/>
          <p:cNvSpPr txBox="1"/>
          <p:nvPr/>
        </p:nvSpPr>
        <p:spPr>
          <a:xfrm xmlns:a="http://schemas.openxmlformats.org/drawingml/2006/main">
            <a:off x="540000" y="1404000"/>
            <a:ext cx="10980000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718096"/>
                </a:solidFill>
                <a:latin typeface="Calibri"/>
                <a:ea typeface="Calibri"/>
              </a:rPr>
              <a:t>Compare paths; recommendation is bold in the table. Decision owner must pick by the date on the Ask slide.</a:t>
            </a:r>
          </a:p>
        </p:txBody>
      </p:sp>
      <p:graphicFrame>
        <p:nvGraphicFramePr>
          <p:cNvPr id="100011" name="Table 1"/>
          <p:cNvGraphicFramePr/>
          <p:nvPr/>
        </p:nvGraphicFramePr>
        <p:xfrm>
          <a:off xmlns:a="http://schemas.openxmlformats.org/drawingml/2006/main" x="540000" y="1944000"/>
          <a:ext xmlns:a="http://schemas.openxmlformats.org/drawingml/2006/main" cx="10980000" cy="360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45000"/>
                <a:gridCol w="2745000"/>
                <a:gridCol w="2745000"/>
                <a:gridCol w="2745000"/>
              </a:tblGrid>
              <a:tr h="9000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Option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Scope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Cost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Expected lift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900000"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Continue (REC)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Steady 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$ / capacity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Sustain metric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00000"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Expand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Next module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Higher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Faster lift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00000"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Stop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Wind 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0 new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Accept regression 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Decision &amp; ask</a:t>
            </a:r>
          </a:p>
        </p:txBody>
      </p:sp>
      <p:sp>
        <p:nvSpPr>
          <p:cNvPr id="100012" name="TextBox 2"/>
          <p:cNvSpPr txBox="1"/>
          <p:nvPr/>
        </p:nvSpPr>
        <p:spPr>
          <a:xfrm xmlns:a="http://schemas.openxmlformats.org/drawingml/2006/main">
            <a:off x="540000" y="1404000"/>
            <a:ext cx="1098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2B6CB0"/>
                </a:solidFill>
                <a:latin typeface="Calibri"/>
                <a:ea typeface="Calibri"/>
              </a:rPr>
              <a:t>WHAT WE NEED FROM THIS ROOM</a:t>
            </a:r>
          </a:p>
        </p:txBody>
      </p:sp>
      <p:sp>
        <p:nvSpPr>
          <p:cNvPr id="100013" name="TextBox 3"/>
          <p:cNvSpPr txBox="1"/>
          <p:nvPr/>
        </p:nvSpPr>
        <p:spPr>
          <a:xfrm xmlns:a="http://schemas.openxmlformats.org/drawingml/2006/main">
            <a:off x="540000" y="1764000"/>
            <a:ext cx="10980000" cy="39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Decision: Continue / Expand / Stop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Owner: …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By: …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Assumptions doc link: …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OfficeCLI/1.0.143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2026-08-05T16:48:08Z</dcterms:created>
  <cp:lastModifiedBy>OfficeCLI</cp:lastModifiedBy>
  <dcterms:modified xsi:type="dcterms:W3CDTF">2026-08-05T16:48:08Z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1.0.143</vt:lpwstr>
  </op:property>
  <op:property fmtid="{D5CDD505-2E9C-101B-9397-08002B2CF9AE}" pid="3" name="OfficeCLI.LastModified">
    <vt:lpwstr xmlns:vt="http://schemas.openxmlformats.org/officeDocument/2006/docPropsVTypes">2026-08-05T16:48:09Z</vt:lpwstr>
  </op:property>
</op:Properties>
</file>