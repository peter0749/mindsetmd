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e36954081c44778" /><Relationship Type="http://schemas.openxmlformats.org/package/2006/relationships/metadata/core-properties" Target="/docProps/core.xml" Id="R6e30258abf76457b" /><Relationship Type="http://schemas.openxmlformats.org/officeDocument/2006/relationships/extended-properties" Target="/docProps/app.xml" Id="R8295834011414611" /><Relationship Type="http://schemas.openxmlformats.org/officeDocument/2006/relationships/custom-properties" Target="/docProps/custom.xml" Id="Ra9ef9cf0fec4427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2ec3877282c845d3"/>
  </p:notesMasterIdLst>
  <p:sldIdLst>
    <p:sldId id="256" r:id="R90f155681ee948cb"/>
    <p:sldId id="257" r:id="Rd537841d47ed485f"/>
    <p:sldId id="258" r:id="R493787cbd0ac4e74"/>
    <p:sldId id="259" r:id="R18d0940b83f1466b"/>
    <p:sldId id="260" r:id="Ra72398e4a7de40fb"/>
    <p:sldId id="261" r:id="R68b37a9f15164933"/>
    <p:sldId id="262" r:id="R9529adfc0f79436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90f155681ee948cb" /><Relationship Type="http://schemas.openxmlformats.org/officeDocument/2006/relationships/notesMaster" Target="/ppt/notesMasters/notesMaster1.xml" Id="R2ec3877282c845d3" /><Relationship Type="http://schemas.openxmlformats.org/officeDocument/2006/relationships/slide" Target="/ppt/slides/slide2.xml" Id="Rd537841d47ed485f" /><Relationship Type="http://schemas.openxmlformats.org/officeDocument/2006/relationships/slide" Target="/ppt/slides/slide3.xml" Id="R493787cbd0ac4e74" /><Relationship Type="http://schemas.openxmlformats.org/officeDocument/2006/relationships/slide" Target="/ppt/slides/slide4.xml" Id="R18d0940b83f1466b" /><Relationship Type="http://schemas.openxmlformats.org/officeDocument/2006/relationships/slide" Target="/ppt/slides/slide5.xml" Id="Ra72398e4a7de40fb" /><Relationship Type="http://schemas.openxmlformats.org/officeDocument/2006/relationships/slide" Target="/ppt/slides/slide6.xml" Id="R68b37a9f15164933" /><Relationship Type="http://schemas.openxmlformats.org/officeDocument/2006/relationships/slide" Target="/ppt/slides/slide7.xml" Id="R9529adfc0f7943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cd1199b2a6c4ea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392ce832bcf4bc6" /><Relationship Type="http://schemas.openxmlformats.org/officeDocument/2006/relationships/slide" Target="/ppt/slides/slide1.xml" Id="Rbc89901c1a904c7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a1955b4546d4ad4" /><Relationship Type="http://schemas.openxmlformats.org/officeDocument/2006/relationships/slide" Target="/ppt/slides/slide2.xml" Id="Rb0114d673ffd40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4c276ef1cd84ace" /><Relationship Type="http://schemas.openxmlformats.org/officeDocument/2006/relationships/slide" Target="/ppt/slides/slide3.xml" Id="R8dec859ac9d741d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42c2556961e4d8d" /><Relationship Type="http://schemas.openxmlformats.org/officeDocument/2006/relationships/slide" Target="/ppt/slides/slide4.xml" Id="R1c799537e4f34a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bb5907735294144" /><Relationship Type="http://schemas.openxmlformats.org/officeDocument/2006/relationships/slide" Target="/ppt/slides/slide5.xml" Id="Raa6a4f816ac145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441cc4cc844189" /><Relationship Type="http://schemas.openxmlformats.org/officeDocument/2006/relationships/slide" Target="/ppt/slides/slide6.xml" Id="R79d387fe7e2845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6a8e4885b38462b" /><Relationship Type="http://schemas.openxmlformats.org/officeDocument/2006/relationships/slide" Target="/ppt/slides/slide7.xml" Id="R9460aaeda3af4a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Benefit &amp; value case.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No jargon without translation.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Mark correlation vs causation honestly.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Credibility &gt; inflated ROI.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on recommendation. Avoid re-deriving analysis aloud.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a clear portfolio decision.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e52b0b2bc485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b26f10dd7343e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384703dbb4a3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3d805f7d704c8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6d46ccf0c4d62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fdefc9d251941ba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117ac334947b5" /><Relationship Type="http://schemas.openxmlformats.org/officeDocument/2006/relationships/notesSlide" Target="/ppt/notesSlides/notesSlide1.xml" Id="Rfae9add99ff74e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41dbdeb7124e9e" /><Relationship Type="http://schemas.openxmlformats.org/officeDocument/2006/relationships/notesSlide" Target="/ppt/notesSlides/notesSlide2.xml" Id="R8b1aa301faca4d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12b8397b8467e" /><Relationship Type="http://schemas.openxmlformats.org/officeDocument/2006/relationships/notesSlide" Target="/ppt/notesSlides/notesSlide3.xml" Id="R52cc80b652234fe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e887947e7493d" /><Relationship Type="http://schemas.openxmlformats.org/officeDocument/2006/relationships/notesSlide" Target="/ppt/notesSlides/notesSlide4.xml" Id="Re13343036ae746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46ec51bec64b63" /><Relationship Type="http://schemas.openxmlformats.org/officeDocument/2006/relationships/notesSlide" Target="/ppt/notesSlides/notesSlide5.xml" Id="R48f3e3340b0d44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e455ac46e47a8" /><Relationship Type="http://schemas.openxmlformats.org/officeDocument/2006/relationships/notesSlide" Target="/ppt/notesSlides/notesSlide6.xml" Id="Rffbdc8a700b14ed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f28486c514a83" /><Relationship Type="http://schemas.openxmlformats.org/officeDocument/2006/relationships/notesSlide" Target="/ppt/notesSlides/notesSlide7.xml" Id="Ref8d7b47f9df42c5" /></Relationships>
</file>

<file path=ppt/slides/slide1.xml><?xml version="1.0" encoding="utf-8"?>
<p:sld xmlns:p="http://schemas.openxmlformats.org/presentationml/2006/main">
  <p:cSld name="Benefit &amp; value case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04  ·  BENEFIT / ROI / VALUE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Benefit &amp; value case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Investment → impact chain → continue / expand / stop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investment vs benefi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40000" y="432000"/>
            <a:ext cx="109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A202C"/>
                </a:solidFill>
                <a:latin typeface="Calibri"/>
                <a:ea typeface="Calibri"/>
              </a:rPr>
              <a:t>BLUF — investment vs benefit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40000" y="1188000"/>
            <a:ext cx="576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Recommend: CONTINUE  ·  Payback sketch: ~N months (assumptions labeled)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Investment: [project] cost [eng-quarters / $ example].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Benefit realized: [metric] → [business/risk language].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continue / expand / stop.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Business problem attacked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Customer / revenue / cost / risk framing.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Why engineering capacity was the right lever.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Impact chain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Technical result → process/behavior change → business metric.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Example: shared DV farm → regression 18h→6h → more test loops → fewer escapes → lower spin risk.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Counterfactual &amp; what we will not claim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If we had not done this: [extra cost / delay / risk].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Out of bounds claims (do not oversell): …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Options &amp; recommendation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540000" y="1404000"/>
            <a:ext cx="1098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bold in the table. Decision owner must pick by the date on the Ask slide.</a:t>
            </a:r>
          </a:p>
        </p:txBody>
      </p:sp>
      <p:graphicFrame>
        <p:nvGraphicFramePr>
          <p:cNvPr id="100012" name="Table 1"/>
          <p:cNvGraphicFramePr/>
          <p:nvPr/>
        </p:nvGraphicFramePr>
        <p:xfrm>
          <a:off xmlns:a="http://schemas.openxmlformats.org/drawingml/2006/main" x="540000" y="1944000"/>
          <a:ext xmlns:a="http://schemas.openxmlformats.org/drawingml/2006/main" cx="10980000" cy="36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45000"/>
                <a:gridCol w="2745000"/>
                <a:gridCol w="2745000"/>
                <a:gridCol w="2745000"/>
              </a:tblGrid>
              <a:tr h="900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Scope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Cost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Expected lift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Continue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Steady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 /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Sustain metric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Expand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Next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Faster lift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Wind down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new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 regression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Decision: Continue / Expand / Stop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Owner: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By: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Assumptions doc link: 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2026-08-05T16:56:06Z</dcterms:created>
  <cp:lastModifiedBy>OfficeCLI</cp:lastModifiedBy>
  <dcterms:modified xsi:type="dcterms:W3CDTF">2026-08-05T16:56:06Z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2026-08-05T16:56:08Z</vt:lpwstr>
  </op:property>
</op:Properties>
</file>