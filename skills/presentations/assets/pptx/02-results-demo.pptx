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f55d7701a7045b1" /><Relationship Type="http://schemas.openxmlformats.org/package/2006/relationships/metadata/core-properties" Target="/docProps/core.xml" Id="R2a07a7fb6585402a" /><Relationship Type="http://schemas.openxmlformats.org/officeDocument/2006/relationships/extended-properties" Target="/docProps/app.xml" Id="R5433e0af14154af7" /><Relationship Type="http://schemas.openxmlformats.org/officeDocument/2006/relationships/custom-properties" Target="/docProps/custom.xml" Id="Rbd24df8060ee4d4f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notesMasterIdLst>
    <p:notesMasterId r:id="Rc520c2764ce840ee"/>
  </p:notesMasterIdLst>
  <p:sldIdLst>
    <p:sldId id="256" r:id="Raf24531da45645e0"/>
    <p:sldId id="257" r:id="R15d2a45eac494804"/>
    <p:sldId id="258" r:id="R445a4b84ea674474"/>
    <p:sldId id="259" r:id="R9a1073ac1d1440a5"/>
    <p:sldId id="260" r:id="Ra2f1110b561b470e"/>
    <p:sldId id="261" r:id="R8d4853b367a24230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af24531da45645e0" /><Relationship Type="http://schemas.openxmlformats.org/officeDocument/2006/relationships/notesMaster" Target="/ppt/notesMasters/notesMaster1.xml" Id="Rc520c2764ce840ee" /><Relationship Type="http://schemas.openxmlformats.org/officeDocument/2006/relationships/slide" Target="/ppt/slides/slide2.xml" Id="R15d2a45eac494804" /><Relationship Type="http://schemas.openxmlformats.org/officeDocument/2006/relationships/slide" Target="/ppt/slides/slide3.xml" Id="R445a4b84ea674474" /><Relationship Type="http://schemas.openxmlformats.org/officeDocument/2006/relationships/slide" Target="/ppt/slides/slide4.xml" Id="R9a1073ac1d1440a5" /><Relationship Type="http://schemas.openxmlformats.org/officeDocument/2006/relationships/slide" Target="/ppt/slides/slide5.xml" Id="Ra2f1110b561b470e" /><Relationship Type="http://schemas.openxmlformats.org/officeDocument/2006/relationships/slide" Target="/ppt/slides/slide6.xml" Id="R8d4853b367a2423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4a8ce9711d584808" 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1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3429000"/>
            <a:ext cx="5486400" cy="41148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fld id="{B1E4B0A2-5C8E-4E5F-9C1D-2F3A4B5C6D72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82e6498e6544665" /><Relationship Type="http://schemas.openxmlformats.org/officeDocument/2006/relationships/slide" Target="/ppt/slides/slide1.xml" Id="R80118b0cc8d647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c1d3dfe6996b4f9c" /><Relationship Type="http://schemas.openxmlformats.org/officeDocument/2006/relationships/slide" Target="/ppt/slides/slide2.xml" Id="R93794860472f4e3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03bd63cbf02b4224" /><Relationship Type="http://schemas.openxmlformats.org/officeDocument/2006/relationships/slide" Target="/ppt/slides/slide3.xml" Id="R18aeb8f28b2446b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a17755db5fdc450e" /><Relationship Type="http://schemas.openxmlformats.org/officeDocument/2006/relationships/slide" Target="/ppt/slides/slide4.xml" Id="R15dfec525a1947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3a086a7ca044af7" /><Relationship Type="http://schemas.openxmlformats.org/officeDocument/2006/relationships/slide" Target="/ppt/slides/slide5.xml" Id="Rb1a683c024774b5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notesMaster" Target="/ppt/notesMasters/notesMaster1.xml" Id="R9c7fbf216ad14674" /><Relationship Type="http://schemas.openxmlformats.org/officeDocument/2006/relationships/slide" Target="/ppt/slides/slide6.xml" Id="R8adb093d78f047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Cover for Results readout. State purpose in 10 seconds.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Read BLUF first. Do not walk chronology before the ask is clear.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Re-anchor to original commitment first.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Few metrics, high signal. Label data as-of date.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Process insight only if it changes next quarter behavior.</a:t>
            </a:r>
          </a:p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/>
          <p:nvPr>
            <p:ph type="sldImg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If pure celebration, still name residual risk.</a:t>
            </a:r>
          </a:p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d62905279c42e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998acc8af84a5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628e884c334c3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5818ffd2ff4ea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35257c07cf4901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49abb80abade417c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7e446d81c84d2d" /><Relationship Type="http://schemas.openxmlformats.org/officeDocument/2006/relationships/notesSlide" Target="/ppt/notesSlides/notesSlide1.xml" Id="R2a929b9aea6a44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9dc8df7324776" /><Relationship Type="http://schemas.openxmlformats.org/officeDocument/2006/relationships/notesSlide" Target="/ppt/notesSlides/notesSlide2.xml" Id="Rbf24dd4c64bd41e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827cecc3d4c6d" /><Relationship Type="http://schemas.openxmlformats.org/officeDocument/2006/relationships/notesSlide" Target="/ppt/notesSlides/notesSlide3.xml" Id="R1e688a06565346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3526b12ec4586" /><Relationship Type="http://schemas.openxmlformats.org/officeDocument/2006/relationships/notesSlide" Target="/ppt/notesSlides/notesSlide4.xml" Id="R14459d4808f04e6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6dc0b27b4482b" /><Relationship Type="http://schemas.openxmlformats.org/officeDocument/2006/relationships/notesSlide" Target="/ppt/notesSlides/notesSlide5.xml" Id="R123b90cea9b543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e45484bc594c86" /><Relationship Type="http://schemas.openxmlformats.org/officeDocument/2006/relationships/notesSlide" Target="/ppt/notesSlides/notesSlide6.xml" Id="Rce468de5157d431e" /></Relationships>
</file>

<file path=ppt/slides/slide1.xml><?xml version="1.0" encoding="utf-8"?>
<p:sld xmlns:p="http://schemas.openxmlformats.org/presentationml/2006/main">
  <p:cSld name="Results readout">
    <p:bg>
      <p:bgPr>
        <a:solidFill xmlns:a="http://schemas.openxmlformats.org/drawingml/2006/main">
          <a:srgbClr val="1E2761"/>
        </a:solidFill>
      </p:bgPr>
    </p:bg>
    <p:spTree>
      <p:nvGrpSpPr>
        <p:cNvPr id="1" name=""/>
        <p:cNvGrpSpPr/>
        <p:nvPr/>
      </p:nvGrpSpPr>
      <p:grpSpPr/>
      <p:sp>
        <p:nvSpPr>
          <p:cNvPr id="100000" name="TextBox 1"/>
          <p:cNvSpPr txBox="1"/>
          <p:nvPr/>
        </p:nvSpPr>
        <p:spPr>
          <a:xfrm xmlns:a="http://schemas.openxmlformats.org/drawingml/2006/main">
            <a:off x="540000" y="1080000"/>
            <a:ext cx="10800000" cy="36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600" b="1">
                <a:solidFill>
                  <a:srgbClr val="CADCFC"/>
                </a:solidFill>
                <a:latin typeface="Calibri"/>
                <a:ea typeface="Calibri"/>
              </a:rPr>
              <a:t>SCENARIO 02  ·  RESULTS / DEMO / LAUNCH</a:t>
            </a:r>
          </a:p>
        </p:txBody>
      </p:sp>
      <p:sp>
        <p:nvSpPr>
          <p:cNvPr id="100001" name="TextBox 2"/>
          <p:cNvSpPr txBox="1"/>
          <p:nvPr/>
        </p:nvSpPr>
        <p:spPr>
          <a:xfrm xmlns:a="http://schemas.openxmlformats.org/drawingml/2006/main">
            <a:off x="540000" y="1548000"/>
            <a:ext cx="10800000" cy="100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FFFFF"/>
                </a:solidFill>
                <a:latin typeface="Calibri"/>
                <a:ea typeface="Calibri"/>
              </a:rPr>
              <a:t>Results readout</a:t>
            </a:r>
          </a:p>
        </p:txBody>
      </p:sp>
      <p:sp>
        <p:nvSpPr>
          <p:cNvPr id="100002" name="TextBox 3"/>
          <p:cNvSpPr txBox="1"/>
          <p:nvPr/>
        </p:nvSpPr>
        <p:spPr>
          <a:xfrm xmlns:a="http://schemas.openxmlformats.org/drawingml/2006/main">
            <a:off x="540000" y="2700000"/>
            <a:ext cx="10800000" cy="79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CADCFC"/>
                </a:solidFill>
                <a:latin typeface="Calibri"/>
                <a:ea typeface="Calibri"/>
              </a:rPr>
              <a:t>What shipped, vs commitment, why it mattered — not a sprint diary</a:t>
            </a:r>
          </a:p>
        </p:txBody>
      </p:sp>
      <p:sp>
        <p:nvSpPr>
          <p:cNvPr id="100003" name="TextBox 4"/>
          <p:cNvSpPr txBox="1"/>
          <p:nvPr/>
        </p:nvSpPr>
        <p:spPr>
          <a:xfrm xmlns:a="http://schemas.openxmlformats.org/drawingml/2006/main">
            <a:off x="540000" y="6048000"/>
            <a:ext cx="10800000" cy="43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300" b="0">
                <a:solidFill>
                  <a:srgbClr val="A0AEC0"/>
                </a:solidFill>
                <a:latin typeface="Calibri"/>
                <a:ea typeface="Calibri"/>
              </a:rPr>
              <a:t>Team X  ·  Program Alpha  ·  Qn YYYY  ·  TEMPLATE — replace placeholders</a:t>
            </a:r>
          </a:p>
        </p:txBody>
      </p:sp>
    </p:spTree>
  </p:cSld>
</p:sld>
</file>

<file path=ppt/slides/slide2.xml><?xml version="1.0" encoding="utf-8"?>
<p:sld xmlns:p="http://schemas.openxmlformats.org/presentationml/2006/main">
  <p:cSld name="BLUF — result &amp; impact"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100004" name="TextBox 1"/>
          <p:cNvSpPr txBox="1"/>
          <p:nvPr/>
        </p:nvSpPr>
        <p:spPr>
          <a:xfrm xmlns:a="http://schemas.openxmlformats.org/drawingml/2006/main">
            <a:off x="540000" y="432000"/>
            <a:ext cx="10980000" cy="720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3200" b="1">
                <a:solidFill>
                  <a:srgbClr val="1A202C"/>
                </a:solidFill>
                <a:latin typeface="Calibri"/>
                <a:ea typeface="Calibri"/>
              </a:rPr>
              <a:t>BLUF — result &amp; impact</a:t>
            </a:r>
          </a:p>
        </p:txBody>
      </p:sp>
      <p:sp>
        <p:nvSpPr>
          <p:cNvPr id="100005" name="TextBox 2"/>
          <p:cNvSpPr txBox="1"/>
          <p:nvPr/>
        </p:nvSpPr>
        <p:spPr>
          <a:xfrm xmlns:a="http://schemas.openxmlformats.org/drawingml/2006/main">
            <a:off x="540000" y="1188000"/>
            <a:ext cx="5760000" cy="30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BOTTOM LINE UP FRONT</a:t>
            </a:r>
          </a:p>
        </p:txBody>
      </p:sp>
      <p:sp>
        <p:nvSpPr>
          <p:cNvPr id="100006" name="TextBox 3"/>
          <p:cNvSpPr txBox="1"/>
          <p:nvPr/>
        </p:nvSpPr>
        <p:spPr>
          <a:xfrm xmlns:a="http://schemas.openxmlformats.org/drawingml/2006/main">
            <a:off x="540000" y="1512000"/>
            <a:ext cx="10980000" cy="57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761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FFFFFF"/>
                </a:solidFill>
                <a:latin typeface="Calibri"/>
                <a:ea typeface="Calibri"/>
              </a:rPr>
              <a:t>Status: GREEN  ·  Result: [X] delivered on [date]  ·  Ask: none / next-phase approve</a:t>
            </a:r>
          </a:p>
        </p:txBody>
      </p:sp>
      <p:sp>
        <p:nvSpPr>
          <p:cNvPr id="100007" name="TextBox 4"/>
          <p:cNvSpPr txBox="1"/>
          <p:nvPr/>
        </p:nvSpPr>
        <p:spPr>
          <a:xfrm xmlns:a="http://schemas.openxmlformats.org/drawingml/2006/main">
            <a:off x="540000" y="2196000"/>
            <a:ext cx="10980000" cy="403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Outcome: [one line].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Impact: [metric baseline → actual].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Linked OKR / program goal: [one line].</a:t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700" b="0">
                <a:solidFill>
                  <a:srgbClr val="1A202C"/>
                </a:solidFill>
                <a:latin typeface="Calibri"/>
                <a:ea typeface="Calibri"/>
              </a:rPr>
              <a:t>Residual risk or follow-ups: [or none].</a:t>
            </a:r>
          </a:p>
        </p:txBody>
      </p:sp>
    </p:spTree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Goal recall (period start)</a:t>
            </a:r>
          </a:p>
        </p:txBody>
      </p:sp>
      <p:sp>
        <p:nvSpPr>
          <p:cNvPr id="100008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Original commit: [promise].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Success metric: target [T].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Avoid moving the goalposts — show the same definition of done.</a:t>
            </a:r>
          </a:p>
        </p:txBody>
      </p:sp>
    </p:spTree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Outcome metrics</a:t>
            </a:r>
          </a:p>
        </p:txBody>
      </p:sp>
      <p:sp>
        <p:nvSpPr>
          <p:cNvPr id="100009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Metric A: target … / actual … / Δ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Metric B: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IC examples: power −N% at iso-perf; bring-up day-k boot; coverage gate met.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SW examples: p95 latency; adoption %; change-fail rate.</a:t>
            </a:r>
          </a:p>
        </p:txBody>
      </p:sp>
    </p:spTree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How we got here + learnings</a:t>
            </a:r>
          </a:p>
        </p:txBody>
      </p:sp>
      <p:sp>
        <p:nvSpPr>
          <p:cNvPr id="100010" name="TextBox 2"/>
          <p:cNvSpPr txBox="1"/>
          <p:nvPr/>
        </p:nvSpPr>
        <p:spPr>
          <a:xfrm xmlns:a="http://schemas.openxmlformats.org/drawingml/2006/main">
            <a:off x="540000" y="1440000"/>
            <a:ext cx="10980000" cy="468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Three decisions that mattered: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1.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2.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3. …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Keep / stop / start (one each).</a:t>
            </a:r>
          </a:p>
        </p:txBody>
      </p:sp>
    </p:spTree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>
            <p:ph type="title"/>
          </p:nvPr>
        </p:nvSpPr>
        <p:spPr>
          <a:xfrm xmlns:a="http://schemas.openxmlformats.org/drawingml/2006/main">
            <a:off x="838200" y="365125"/>
            <a:ext cx="10515600" cy="13208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Decision &amp; ask</a:t>
            </a:r>
          </a:p>
        </p:txBody>
      </p:sp>
      <p:sp>
        <p:nvSpPr>
          <p:cNvPr id="100011" name="TextBox 2"/>
          <p:cNvSpPr txBox="1"/>
          <p:nvPr/>
        </p:nvSpPr>
        <p:spPr>
          <a:xfrm xmlns:a="http://schemas.openxmlformats.org/drawingml/2006/main">
            <a:off x="540000" y="1404000"/>
            <a:ext cx="10980000" cy="28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B6CB0"/>
                </a:solidFill>
                <a:latin typeface="Calibri"/>
                <a:ea typeface="Calibri"/>
              </a:rPr>
              <a:t>WHAT WE NEED FROM THIS ROOM</a:t>
            </a:r>
          </a:p>
        </p:txBody>
      </p:sp>
      <p:sp>
        <p:nvSpPr>
          <p:cNvPr id="100012" name="TextBox 3"/>
          <p:cNvSpPr txBox="1"/>
          <p:nvPr/>
        </p:nvSpPr>
        <p:spPr>
          <a:xfrm xmlns:a="http://schemas.openxmlformats.org/drawingml/2006/main">
            <a:off x="540000" y="1764000"/>
            <a:ext cx="10980000" cy="396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Ask: [visibility only / approve next phase / fund follow-on]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Or: No decision required — FYI readout.</a:t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/>
            </a:r>
          </a:p>
          <a:p xmlns:a="http://schemas.openxmlformats.org/drawingml/2006/main">
            <a:r>
              <a:rPr lang="en-US" sz="1800" b="0">
                <a:solidFill>
                  <a:srgbClr val="1A202C"/>
                </a:solidFill>
                <a:latin typeface="Calibri"/>
                <a:ea typeface="Calibri"/>
              </a:rPr>
              <a:t>Next milestone: [date + gate].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OfficeCLI</dc:creator>
  <dcterms:created xsi:type="dcterms:W3CDTF">2026-08-05T16:56:00Z</dcterms:created>
  <cp:lastModifiedBy>OfficeCLI</cp:lastModifiedBy>
  <dcterms:modified xsi:type="dcterms:W3CDTF">2026-08-05T16:56:00Z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2026-08-05T16:56:01Z</vt:lpwstr>
  </op:property>
</op:Properties>
</file>