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a3506ce8aee54c4f" /><Relationship Type="http://schemas.openxmlformats.org/package/2006/relationships/metadata/core-properties" Target="/docProps/core.xml" Id="R63ed70defa6c4f71" /><Relationship Type="http://schemas.openxmlformats.org/officeDocument/2006/relationships/extended-properties" Target="/docProps/app.xml" Id="R363b57c252b84cf7" /><Relationship Type="http://schemas.openxmlformats.org/officeDocument/2006/relationships/custom-properties" Target="/docProps/custom.xml" Id="R736da33411444488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f6873c1615784315"/>
  </p:notesMasterIdLst>
  <p:sldIdLst>
    <p:sldId id="256" r:id="Rfe1ff3991b314a25"/>
    <p:sldId id="257" r:id="Rd73eecd06c3b4d34"/>
    <p:sldId id="258" r:id="Rdfa6e21c72334d31"/>
    <p:sldId id="259" r:id="Rc05ebab2869f4e37"/>
    <p:sldId id="260" r:id="R5dea74e3a29748a4"/>
    <p:sldId id="261" r:id="R8561d63b5b6540b8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fe1ff3991b314a25" /><Relationship Type="http://schemas.openxmlformats.org/officeDocument/2006/relationships/notesMaster" Target="/ppt/notesMasters/notesMaster1.xml" Id="Rf6873c1615784315" /><Relationship Type="http://schemas.openxmlformats.org/officeDocument/2006/relationships/slide" Target="/ppt/slides/slide2.xml" Id="Rd73eecd06c3b4d34" /><Relationship Type="http://schemas.openxmlformats.org/officeDocument/2006/relationships/slide" Target="/ppt/slides/slide3.xml" Id="Rdfa6e21c72334d31" /><Relationship Type="http://schemas.openxmlformats.org/officeDocument/2006/relationships/slide" Target="/ppt/slides/slide4.xml" Id="Rc05ebab2869f4e37" /><Relationship Type="http://schemas.openxmlformats.org/officeDocument/2006/relationships/slide" Target="/ppt/slides/slide5.xml" Id="R5dea74e3a29748a4" /><Relationship Type="http://schemas.openxmlformats.org/officeDocument/2006/relationships/slide" Target="/ppt/slides/slide6.xml" Id="R8561d63b5b6540b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7208c73dfd4643f8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cb4721c92ebd4ae0" /><Relationship Type="http://schemas.openxmlformats.org/officeDocument/2006/relationships/slide" Target="/ppt/slides/slide1.xml" Id="R8dbabad15cd0493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d74675598ba444b2" /><Relationship Type="http://schemas.openxmlformats.org/officeDocument/2006/relationships/slide" Target="/ppt/slides/slide2.xml" Id="R5f88ef2d02804a2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a64e465519404f5f" /><Relationship Type="http://schemas.openxmlformats.org/officeDocument/2006/relationships/slide" Target="/ppt/slides/slide3.xml" Id="R13f8099fe6da47a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2cb1177b80284341" /><Relationship Type="http://schemas.openxmlformats.org/officeDocument/2006/relationships/slide" Target="/ppt/slides/slide4.xml" Id="Ra0b31bd1d0d14a1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23cad18d6ec94596" /><Relationship Type="http://schemas.openxmlformats.org/officeDocument/2006/relationships/slide" Target="/ppt/slides/slide5.xml" Id="Ra83f970907e24ea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b263feb2b8a84283" /><Relationship Type="http://schemas.openxmlformats.org/officeDocument/2006/relationships/slide" Target="/ppt/slides/slide6.xml" Id="R6fe55c1d5dcf4f1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Cover (template). Results readout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If pure celebration, still name residual risk.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Re-anchor to original commitment first.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Few metrics, high signal.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Only process insight that changes next quarter.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If pure celebration, still name residual risk.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e93543861c429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4839eff1b14c2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30ecd779fc45e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c03b5ff2ea49b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e7591ab7d543ae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3b7bb2e5c389488a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609fa317fb45f7" /><Relationship Type="http://schemas.openxmlformats.org/officeDocument/2006/relationships/notesSlide" Target="/ppt/notesSlides/notesSlide1.xml" Id="R119786bae177454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6520bda13a4281" /><Relationship Type="http://schemas.openxmlformats.org/officeDocument/2006/relationships/notesSlide" Target="/ppt/notesSlides/notesSlide2.xml" Id="R915563ba56ea42f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c514ec00c14986" /><Relationship Type="http://schemas.openxmlformats.org/officeDocument/2006/relationships/notesSlide" Target="/ppt/notesSlides/notesSlide3.xml" Id="R2f611fc5e3c6471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bd283a5c2045f2" /><Relationship Type="http://schemas.openxmlformats.org/officeDocument/2006/relationships/notesSlide" Target="/ppt/notesSlides/notesSlide4.xml" Id="R40b3a4b95c224df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0d3d201e5d4d43" /><Relationship Type="http://schemas.openxmlformats.org/officeDocument/2006/relationships/notesSlide" Target="/ppt/notesSlides/notesSlide5.xml" Id="R8f7be6ecda02416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762610fe2e484c" /><Relationship Type="http://schemas.openxmlformats.org/officeDocument/2006/relationships/notesSlide" Target="/ppt/notesSlides/notesSlide6.xml" Id="R360e00040d7c4ed6" /></Relationships>
</file>

<file path=ppt/slides/slide1.xml><?xml version="1.0" encoding="utf-8"?>
<p:sld xmlns:p="http://schemas.openxmlformats.org/presentationml/2006/main">
  <p:cSld name="Results readout">
    <p:bg>
      <p:bgPr>
        <a:solidFill xmlns:a="http://schemas.openxmlformats.org/drawingml/2006/main">
          <a:srgbClr val="1E2761"/>
        </a:solidFill>
      </p:bgPr>
    </p:bg>
    <p:spTree>
      <p:nvGrpSpPr>
        <p:cNvPr id="1" name=""/>
        <p:cNvGrpSpPr/>
        <p:nvPr/>
      </p:nvGrpSpPr>
      <p:grpSpPr/>
      <p:sp>
        <p:nvSpPr>
          <p:cNvPr id="100000" name="TextBox 1"/>
          <p:cNvSpPr txBox="1"/>
          <p:nvPr/>
        </p:nvSpPr>
        <p:spPr>
          <a:xfrm xmlns:a="http://schemas.openxmlformats.org/drawingml/2006/main">
            <a:off x="504000" y="1008000"/>
            <a:ext cx="11088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CADCFC"/>
                </a:solidFill>
                <a:latin typeface="Calibri"/>
                <a:ea typeface="Calibri"/>
              </a:rPr>
              <a:t>SCENARIO 02  ·  RESULTS / DEMO / LAUNCH</a:t>
            </a:r>
          </a:p>
        </p:txBody>
      </p:sp>
      <p:sp>
        <p:nvSpPr>
          <p:cNvPr id="100001" name="TextBox 2"/>
          <p:cNvSpPr txBox="1"/>
          <p:nvPr/>
        </p:nvSpPr>
        <p:spPr>
          <a:xfrm xmlns:a="http://schemas.openxmlformats.org/drawingml/2006/main">
            <a:off x="504000" y="1440000"/>
            <a:ext cx="11088000" cy="93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400" b="1">
                <a:solidFill>
                  <a:srgbClr val="FFFFFF"/>
                </a:solidFill>
                <a:latin typeface="Calibri"/>
                <a:ea typeface="Calibri"/>
              </a:rPr>
              <a:t>Results readout</a:t>
            </a:r>
          </a:p>
        </p:txBody>
      </p:sp>
      <p:sp>
        <p:nvSpPr>
          <p:cNvPr id="100002" name="TextBox 3"/>
          <p:cNvSpPr txBox="1"/>
          <p:nvPr/>
        </p:nvSpPr>
        <p:spPr>
          <a:xfrm xmlns:a="http://schemas.openxmlformats.org/drawingml/2006/main">
            <a:off x="504000" y="2520000"/>
            <a:ext cx="11088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 b="0">
                <a:solidFill>
                  <a:srgbClr val="CADCFC"/>
                </a:solidFill>
                <a:latin typeface="Calibri"/>
                <a:ea typeface="Calibri"/>
              </a:rPr>
              <a:t>What shipped, vs commitment, why it mattered — not a sprint diary</a:t>
            </a:r>
          </a:p>
        </p:txBody>
      </p:sp>
      <p:sp>
        <p:nvSpPr>
          <p:cNvPr id="100003" name="TextBox 4"/>
          <p:cNvSpPr txBox="1"/>
          <p:nvPr/>
        </p:nvSpPr>
        <p:spPr>
          <a:xfrm xmlns:a="http://schemas.openxmlformats.org/drawingml/2006/main">
            <a:off x="504000" y="5976000"/>
            <a:ext cx="11088000" cy="3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A0AEC0"/>
                </a:solidFill>
                <a:latin typeface="Calibri"/>
                <a:ea typeface="Calibri"/>
              </a:rPr>
              <a:t>TEMPLATE  ·  Team X  ·  Program Alpha  ·  Qn YYYY  ·  TEMPLATE — replace placeholders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 name="BLUF — result &amp; impact"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100004" name="TextBox 1"/>
          <p:cNvSpPr txBox="1"/>
          <p:nvPr/>
        </p:nvSpPr>
        <p:spPr>
          <a:xfrm xmlns:a="http://schemas.openxmlformats.org/drawingml/2006/main">
            <a:off x="504000" y="270000"/>
            <a:ext cx="11088000" cy="27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2B6CB0"/>
                </a:solidFill>
                <a:latin typeface="Calibri"/>
                <a:ea typeface="Calibri"/>
              </a:rPr>
              <a:t>BOTTOM LINE UP FRONT</a:t>
            </a:r>
          </a:p>
        </p:txBody>
      </p:sp>
      <p:sp>
        <p:nvSpPr>
          <p:cNvPr id="100005" name="TextBox 2"/>
          <p:cNvSpPr txBox="1"/>
          <p:nvPr/>
        </p:nvSpPr>
        <p:spPr>
          <a:xfrm xmlns:a="http://schemas.openxmlformats.org/drawingml/2006/main">
            <a:off x="504000" y="558000"/>
            <a:ext cx="11088000" cy="61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1A202C"/>
                </a:solidFill>
                <a:latin typeface="Calibri"/>
                <a:ea typeface="Calibri"/>
              </a:rPr>
              <a:t>BLUF — result &amp; impact</a:t>
            </a:r>
          </a:p>
        </p:txBody>
      </p:sp>
      <p:sp>
        <p:nvSpPr>
          <p:cNvPr id="100006" name="TextBox 3"/>
          <p:cNvSpPr txBox="1"/>
          <p:nvPr/>
        </p:nvSpPr>
        <p:spPr>
          <a:xfrm xmlns:a="http://schemas.openxmlformats.org/drawingml/2006/main">
            <a:off x="504000" y="1260000"/>
            <a:ext cx="11088000" cy="63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76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FFFFFF"/>
                </a:solidFill>
                <a:latin typeface="Calibri"/>
                <a:ea typeface="Calibri"/>
              </a:rPr>
              <a:t>Status: GREEN  ·  Result: [X] delivered on [date]  ·  Ask: none / next-phase approve</a:t>
            </a:r>
          </a:p>
        </p:txBody>
      </p:sp>
      <p:sp>
        <p:nvSpPr>
          <p:cNvPr id="100007" name="TextBox 4"/>
          <p:cNvSpPr txBox="1"/>
          <p:nvPr/>
        </p:nvSpPr>
        <p:spPr>
          <a:xfrm xmlns:a="http://schemas.openxmlformats.org/drawingml/2006/main">
            <a:off x="504000" y="1980000"/>
            <a:ext cx="11088000" cy="421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Outcome: [one line].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Impact: [metric baseline → actual].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Linked OKR / program goal: [one line].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Residual risk or follow-ups: [or none].</a:t>
            </a:r>
          </a:p>
        </p:txBody>
      </p:sp>
      <p:sp>
        <p:nvSpPr>
          <p:cNvPr id="100008" name="TextBox 5"/>
          <p:cNvSpPr txBox="1"/>
          <p:nvPr/>
        </p:nvSpPr>
        <p:spPr>
          <a:xfrm xmlns:a="http://schemas.openxmlformats.org/drawingml/2006/main">
            <a:off x="504000" y="642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718096"/>
                </a:solidFill>
                <a:latin typeface="Calibri"/>
                <a:ea typeface="Calibri"/>
              </a:rPr>
              <a:t>Team X  ·  Program Alpha  ·  Qn YYYY  ·  TEMPLATE — replace placeholders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 name="Goal recall (period start)"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100009" name="TextBox 1"/>
          <p:cNvSpPr txBox="1"/>
          <p:nvPr/>
        </p:nvSpPr>
        <p:spPr>
          <a:xfrm xmlns:a="http://schemas.openxmlformats.org/drawingml/2006/main">
            <a:off x="504000" y="396000"/>
            <a:ext cx="11088000" cy="68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1A202C"/>
                </a:solidFill>
                <a:latin typeface="Calibri"/>
                <a:ea typeface="Calibri"/>
              </a:rPr>
              <a:t>Goal recall (period start)</a:t>
            </a:r>
          </a:p>
        </p:txBody>
      </p:sp>
      <p:sp>
        <p:nvSpPr>
          <p:cNvPr id="100010" name="TextBox 2"/>
          <p:cNvSpPr txBox="1"/>
          <p:nvPr/>
        </p:nvSpPr>
        <p:spPr>
          <a:xfrm xmlns:a="http://schemas.openxmlformats.org/drawingml/2006/main">
            <a:off x="504000" y="1260000"/>
            <a:ext cx="11088000" cy="48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Original commit: [promise].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Success metric: target [T].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Avoid moving the goalposts — show the same definition of done.</a:t>
            </a:r>
          </a:p>
        </p:txBody>
      </p:sp>
      <p:sp>
        <p:nvSpPr>
          <p:cNvPr id="100011" name="TextBox 3"/>
          <p:cNvSpPr txBox="1"/>
          <p:nvPr/>
        </p:nvSpPr>
        <p:spPr>
          <a:xfrm xmlns:a="http://schemas.openxmlformats.org/drawingml/2006/main">
            <a:off x="504000" y="642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718096"/>
                </a:solidFill>
                <a:latin typeface="Calibri"/>
                <a:ea typeface="Calibri"/>
              </a:rPr>
              <a:t>Team X  ·  Program Alpha  ·  Qn YYYY  ·  TEMPLATE — replace placeholders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 name="Outcome metrics"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100012" name="TextBox 1"/>
          <p:cNvSpPr txBox="1"/>
          <p:nvPr/>
        </p:nvSpPr>
        <p:spPr>
          <a:xfrm xmlns:a="http://schemas.openxmlformats.org/drawingml/2006/main">
            <a:off x="504000" y="396000"/>
            <a:ext cx="11088000" cy="68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1A202C"/>
                </a:solidFill>
                <a:latin typeface="Calibri"/>
                <a:ea typeface="Calibri"/>
              </a:rPr>
              <a:t>Outcome metrics</a:t>
            </a:r>
          </a:p>
        </p:txBody>
      </p:sp>
      <p:sp>
        <p:nvSpPr>
          <p:cNvPr id="100013" name="TextBox 2"/>
          <p:cNvSpPr txBox="1"/>
          <p:nvPr/>
        </p:nvSpPr>
        <p:spPr>
          <a:xfrm xmlns:a="http://schemas.openxmlformats.org/drawingml/2006/main">
            <a:off x="504000" y="1260000"/>
            <a:ext cx="11088000" cy="48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Metric A: target … / actual … / Δ …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Metric B: …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IC examples: power −N% at iso-perf; bring-up day-k boot; coverage gate met.</a:t>
            </a:r>
          </a:p>
        </p:txBody>
      </p:sp>
      <p:sp>
        <p:nvSpPr>
          <p:cNvPr id="100014" name="TextBox 3"/>
          <p:cNvSpPr txBox="1"/>
          <p:nvPr/>
        </p:nvSpPr>
        <p:spPr>
          <a:xfrm xmlns:a="http://schemas.openxmlformats.org/drawingml/2006/main">
            <a:off x="504000" y="642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718096"/>
                </a:solidFill>
                <a:latin typeface="Calibri"/>
                <a:ea typeface="Calibri"/>
              </a:rPr>
              <a:t>Team X  ·  Program Alpha  ·  Qn YYYY  ·  TEMPLATE — replace placeholders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 name="How we got here + learnings"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100015" name="TextBox 1"/>
          <p:cNvSpPr txBox="1"/>
          <p:nvPr/>
        </p:nvSpPr>
        <p:spPr>
          <a:xfrm xmlns:a="http://schemas.openxmlformats.org/drawingml/2006/main">
            <a:off x="504000" y="396000"/>
            <a:ext cx="11088000" cy="68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1A202C"/>
                </a:solidFill>
                <a:latin typeface="Calibri"/>
                <a:ea typeface="Calibri"/>
              </a:rPr>
              <a:t>How we got here + learnings</a:t>
            </a:r>
          </a:p>
        </p:txBody>
      </p:sp>
      <p:sp>
        <p:nvSpPr>
          <p:cNvPr id="100016" name="TextBox 2"/>
          <p:cNvSpPr txBox="1"/>
          <p:nvPr/>
        </p:nvSpPr>
        <p:spPr>
          <a:xfrm xmlns:a="http://schemas.openxmlformats.org/drawingml/2006/main">
            <a:off x="504000" y="1260000"/>
            <a:ext cx="11088000" cy="48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Three decisions that mattered: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1. …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2. …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3. …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Keep / stop / start (one each).</a:t>
            </a:r>
          </a:p>
        </p:txBody>
      </p:sp>
      <p:sp>
        <p:nvSpPr>
          <p:cNvPr id="100017" name="TextBox 3"/>
          <p:cNvSpPr txBox="1"/>
          <p:nvPr/>
        </p:nvSpPr>
        <p:spPr>
          <a:xfrm xmlns:a="http://schemas.openxmlformats.org/drawingml/2006/main">
            <a:off x="504000" y="642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718096"/>
                </a:solidFill>
                <a:latin typeface="Calibri"/>
                <a:ea typeface="Calibri"/>
              </a:rPr>
              <a:t>Team X  ·  Program Alpha  ·  Qn YYYY  ·  TEMPLATE — replace placeholders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 name="Decision &amp; ask"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100018" name="TextBox 1"/>
          <p:cNvSpPr txBox="1"/>
          <p:nvPr/>
        </p:nvSpPr>
        <p:spPr>
          <a:xfrm xmlns:a="http://schemas.openxmlformats.org/drawingml/2006/main">
            <a:off x="504000" y="270000"/>
            <a:ext cx="11088000" cy="27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2B6CB0"/>
                </a:solidFill>
                <a:latin typeface="Calibri"/>
                <a:ea typeface="Calibri"/>
              </a:rPr>
              <a:t>WHAT WE NEED FROM THIS ROOM</a:t>
            </a:r>
          </a:p>
        </p:txBody>
      </p:sp>
      <p:sp>
        <p:nvSpPr>
          <p:cNvPr id="100019" name="TextBox 2"/>
          <p:cNvSpPr txBox="1"/>
          <p:nvPr/>
        </p:nvSpPr>
        <p:spPr>
          <a:xfrm xmlns:a="http://schemas.openxmlformats.org/drawingml/2006/main">
            <a:off x="504000" y="558000"/>
            <a:ext cx="11088000" cy="61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1A202C"/>
                </a:solidFill>
                <a:latin typeface="Calibri"/>
                <a:ea typeface="Calibri"/>
              </a:rPr>
              <a:t>Decision &amp; ask</a:t>
            </a:r>
          </a:p>
        </p:txBody>
      </p:sp>
      <p:sp>
        <p:nvSpPr>
          <p:cNvPr id="100020" name="TextBox 3"/>
          <p:cNvSpPr txBox="1"/>
          <p:nvPr/>
        </p:nvSpPr>
        <p:spPr>
          <a:xfrm xmlns:a="http://schemas.openxmlformats.org/drawingml/2006/main">
            <a:off x="504000" y="1260000"/>
            <a:ext cx="11088000" cy="48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 b="0">
                <a:solidFill>
                  <a:srgbClr val="1A202C"/>
                </a:solidFill>
                <a:latin typeface="Calibri"/>
                <a:ea typeface="Calibri"/>
              </a:rPr>
              <a:t>Ask: [visibility only / approve next phase / fund follow-on]</a:t>
            </a:r>
          </a:p>
          <a:p xmlns:a="http://schemas.openxmlformats.org/drawingml/2006/main">
            <a:r>
              <a:rPr lang="en-US" sz="1700" b="0">
                <a:solidFill>
                  <a:srgbClr val="1A202C"/>
                </a:solidFill>
                <a:latin typeface="Calibri"/>
                <a:ea typeface="Calibri"/>
              </a:rPr>
              <a:t>Or: No decision required — FYI readout.</a:t>
            </a:r>
          </a:p>
          <a:p xmlns:a="http://schemas.openxmlformats.org/drawingml/2006/main">
            <a:r>
              <a:rPr lang="en-US" sz="17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700" b="0">
                <a:solidFill>
                  <a:srgbClr val="1A202C"/>
                </a:solidFill>
                <a:latin typeface="Calibri"/>
                <a:ea typeface="Calibri"/>
              </a:rPr>
              <a:t>Next milestone: [date + gate].</a:t>
            </a:r>
          </a:p>
        </p:txBody>
      </p:sp>
      <p:sp>
        <p:nvSpPr>
          <p:cNvPr id="100021" name="TextBox 4"/>
          <p:cNvSpPr txBox="1"/>
          <p:nvPr/>
        </p:nvSpPr>
        <p:spPr>
          <a:xfrm xmlns:a="http://schemas.openxmlformats.org/drawingml/2006/main">
            <a:off x="504000" y="642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718096"/>
                </a:solidFill>
                <a:latin typeface="Calibri"/>
                <a:ea typeface="Calibri"/>
              </a:rPr>
              <a:t>Team X  ·  Program Alpha  ·  Qn YYYY  ·  TEMPLATE — replace placeholders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OfficeCLI/1.0.143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2026-08-05T23:16:40Z</dcterms:created>
  <cp:lastModifiedBy>OfficeCLI</cp:lastModifiedBy>
  <dcterms:modified xsi:type="dcterms:W3CDTF">2026-08-05T23:16:40Z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1.0.143</vt:lpwstr>
  </op:property>
  <op:property fmtid="{D5CDD505-2E9C-101B-9397-08002B2CF9AE}" pid="3" name="OfficeCLI.LastModified">
    <vt:lpwstr xmlns:vt="http://schemas.openxmlformats.org/officeDocument/2006/docPropsVTypes">2026-08-05T23:16:41Z</vt:lpwstr>
  </op:property>
</op:Properties>
</file>