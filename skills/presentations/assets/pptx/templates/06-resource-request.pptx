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7569d17d05214545" /><Relationship Type="http://schemas.openxmlformats.org/package/2006/relationships/metadata/core-properties" Target="/docProps/core.xml" Id="Rb3ee33ecd5bf4bae" /><Relationship Type="http://schemas.openxmlformats.org/officeDocument/2006/relationships/extended-properties" Target="/docProps/app.xml" Id="Rcd53c749bc064f32" /><Relationship Type="http://schemas.openxmlformats.org/officeDocument/2006/relationships/custom-properties" Target="/docProps/custom.xml" Id="Rd56f779eb35b4257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82ae9b6d1519479d"/>
  </p:notesMasterIdLst>
  <p:sldIdLst>
    <p:sldId id="256" r:id="R2b5bbcfe05dd4f9b"/>
    <p:sldId id="257" r:id="Re6972eb6848946e0"/>
    <p:sldId id="258" r:id="R48d9358458e74fe0"/>
    <p:sldId id="259" r:id="Rfd17e31f70bc44fe"/>
    <p:sldId id="260" r:id="R55421a43b3a44dd5"/>
    <p:sldId id="261" r:id="R0bd9fabe4cc742a7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2b5bbcfe05dd4f9b" /><Relationship Type="http://schemas.openxmlformats.org/officeDocument/2006/relationships/notesMaster" Target="/ppt/notesMasters/notesMaster1.xml" Id="R82ae9b6d1519479d" /><Relationship Type="http://schemas.openxmlformats.org/officeDocument/2006/relationships/slide" Target="/ppt/slides/slide2.xml" Id="Re6972eb6848946e0" /><Relationship Type="http://schemas.openxmlformats.org/officeDocument/2006/relationships/slide" Target="/ppt/slides/slide3.xml" Id="R48d9358458e74fe0" /><Relationship Type="http://schemas.openxmlformats.org/officeDocument/2006/relationships/slide" Target="/ppt/slides/slide4.xml" Id="Rfd17e31f70bc44fe" /><Relationship Type="http://schemas.openxmlformats.org/officeDocument/2006/relationships/slide" Target="/ppt/slides/slide5.xml" Id="R55421a43b3a44dd5" /><Relationship Type="http://schemas.openxmlformats.org/officeDocument/2006/relationships/slide" Target="/ppt/slides/slide6.xml" Id="R0bd9fabe4cc742a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cf943ead7ccf4328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a9e4cf9e90954a54" /><Relationship Type="http://schemas.openxmlformats.org/officeDocument/2006/relationships/slide" Target="/ppt/slides/slide1.xml" Id="Re4c4baa85aa74f4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a2555296cc544572" /><Relationship Type="http://schemas.openxmlformats.org/officeDocument/2006/relationships/slide" Target="/ppt/slides/slide2.xml" Id="Rd3a124796f334f2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18f04a7c8dfb4caa" /><Relationship Type="http://schemas.openxmlformats.org/officeDocument/2006/relationships/slide" Target="/ppt/slides/slide3.xml" Id="R13c5466d922c4b0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5b6d076129f74215" /><Relationship Type="http://schemas.openxmlformats.org/officeDocument/2006/relationships/slide" Target="/ppt/slides/slide4.xml" Id="R2a595c873d5743b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bafdebe2e4294a21" /><Relationship Type="http://schemas.openxmlformats.org/officeDocument/2006/relationships/slide" Target="/ppt/slides/slide5.xml" Id="R6abb34aa6d9b441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45fb08b668574ab6" /><Relationship Type="http://schemas.openxmlformats.org/officeDocument/2006/relationships/slide" Target="/ppt/slides/slide6.xml" Id="Ra84fd104d4754fa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Cover (template). Resource request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Trade-off decision, not comfort request.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Backwards from roadmap.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Make leadership choose trade-offs.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Walk trade-offs; land recommendation.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Trade-off decision, not comfort request.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efd53e86384400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b36763bbcee4615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d7a8f2b469046c8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16643db87664415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5cb408e31974be0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e2a28ed1118745ee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671fc3ec9642e3" /><Relationship Type="http://schemas.openxmlformats.org/officeDocument/2006/relationships/notesSlide" Target="/ppt/notesSlides/notesSlide1.xml" Id="Rda85ff60aeda4d8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aa82e1932c4c38" /><Relationship Type="http://schemas.openxmlformats.org/officeDocument/2006/relationships/notesSlide" Target="/ppt/notesSlides/notesSlide2.xml" Id="R5ee058a107bb49a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52663245db4b00" /><Relationship Type="http://schemas.openxmlformats.org/officeDocument/2006/relationships/notesSlide" Target="/ppt/notesSlides/notesSlide3.xml" Id="R2724a4294e934c2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d5e8d380ad4c18" /><Relationship Type="http://schemas.openxmlformats.org/officeDocument/2006/relationships/notesSlide" Target="/ppt/notesSlides/notesSlide4.xml" Id="R64b7c7af2b824c4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b38518bc9b40ad" /><Relationship Type="http://schemas.openxmlformats.org/officeDocument/2006/relationships/notesSlide" Target="/ppt/notesSlides/notesSlide5.xml" Id="R32dce23b192a4c6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fae879770746d4" /><Relationship Type="http://schemas.openxmlformats.org/officeDocument/2006/relationships/notesSlide" Target="/ppt/notesSlides/notesSlide6.xml" Id="R4ba33e82b93546dd" /></Relationships>
</file>

<file path=ppt/slides/slide1.xml><?xml version="1.0" encoding="utf-8"?>
<p:sld xmlns:p="http://schemas.openxmlformats.org/presentationml/2006/main">
  <p:cSld name="Resource request"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00" name="TextBox 1"/>
          <p:cNvSpPr txBox="1"/>
          <p:nvPr/>
        </p:nvSpPr>
        <p:spPr>
          <a:xfrm xmlns:a="http://schemas.openxmlformats.org/drawingml/2006/main">
            <a:off x="504000" y="1008000"/>
            <a:ext cx="11088000" cy="32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CADCFC"/>
                </a:solidFill>
                <a:latin typeface="Calibri"/>
                <a:ea typeface="Calibri"/>
              </a:rPr>
              <a:t>SCENARIO 06  ·  HEADCOUNT / BUDGET / AIR COVER</a:t>
            </a:r>
          </a:p>
        </p:txBody>
      </p:sp>
      <p:sp>
        <p:nvSpPr>
          <p:cNvPr id="100001" name="TextBox 2"/>
          <p:cNvSpPr txBox="1"/>
          <p:nvPr/>
        </p:nvSpPr>
        <p:spPr>
          <a:xfrm xmlns:a="http://schemas.openxmlformats.org/drawingml/2006/main">
            <a:off x="504000" y="1440000"/>
            <a:ext cx="11088000" cy="93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400" b="1">
                <a:solidFill>
                  <a:srgbClr val="FFFFFF"/>
                </a:solidFill>
                <a:latin typeface="Calibri"/>
                <a:ea typeface="Calibri"/>
              </a:rPr>
              <a:t>Resource request</a:t>
            </a:r>
          </a:p>
        </p:txBody>
      </p:sp>
      <p:sp>
        <p:nvSpPr>
          <p:cNvPr id="100002" name="TextBox 3"/>
          <p:cNvSpPr txBox="1"/>
          <p:nvPr/>
        </p:nvSpPr>
        <p:spPr>
          <a:xfrm xmlns:a="http://schemas.openxmlformats.org/drawingml/2006/main">
            <a:off x="504000" y="2520000"/>
            <a:ext cx="11088000" cy="72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CADCFC"/>
                </a:solidFill>
                <a:latin typeface="Calibri"/>
                <a:ea typeface="Calibri"/>
              </a:rPr>
              <a:t>Outcome-linked capacity — context B staffing math</a:t>
            </a:r>
          </a:p>
        </p:txBody>
      </p:sp>
      <p:sp>
        <p:nvSpPr>
          <p:cNvPr id="100003" name="TextBox 4"/>
          <p:cNvSpPr txBox="1"/>
          <p:nvPr/>
        </p:nvSpPr>
        <p:spPr>
          <a:xfrm xmlns:a="http://schemas.openxmlformats.org/drawingml/2006/main">
            <a:off x="504000" y="5976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200" b="0">
                <a:solidFill>
                  <a:srgbClr val="A0AEC0"/>
                </a:solidFill>
                <a:latin typeface="Calibri"/>
                <a:ea typeface="Calibri"/>
              </a:rPr>
              <a:t>TEMPLATE  ·  Team X  ·  Program Alpha  ·  Qn YYYY  ·  TEMPLATE — replace placeholders</a:t>
            </a:r>
          </a:p>
        </p:txBody>
      </p:sp>
    </p:spTree>
  </p:cSld>
</p:sld>
</file>

<file path=ppt/slides/slide2.xml><?xml version="1.0" encoding="utf-8"?>
<p:sld xmlns:p="http://schemas.openxmlformats.org/presentationml/2006/main">
  <p:cSld name="BLUF — resource ask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4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BOTTOM LINE UP FRONT</a:t>
            </a:r>
          </a:p>
        </p:txBody>
      </p:sp>
      <p:sp>
        <p:nvSpPr>
          <p:cNvPr id="100005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BLUF — resource ask</a:t>
            </a:r>
          </a:p>
        </p:txBody>
      </p:sp>
      <p:sp>
        <p:nvSpPr>
          <p:cNvPr id="100006" name="TextBox 3"/>
          <p:cNvSpPr txBox="1"/>
          <p:nvPr/>
        </p:nvSpPr>
        <p:spPr>
          <a:xfrm xmlns:a="http://schemas.openxmlformats.org/drawingml/2006/main">
            <a:off x="504000" y="1260000"/>
            <a:ext cx="11088000" cy="63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76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FFFFFF"/>
                </a:solidFill>
                <a:latin typeface="Calibri"/>
                <a:ea typeface="Calibri"/>
              </a:rPr>
              <a:t>Ask: +N [role]  ·  If no: [commit X slips]  ·  Decide by: [date]</a:t>
            </a:r>
          </a:p>
        </p:txBody>
      </p:sp>
      <p:sp>
        <p:nvSpPr>
          <p:cNvPr id="100007" name="TextBox 4"/>
          <p:cNvSpPr txBox="1"/>
          <p:nvPr/>
        </p:nvSpPr>
        <p:spPr>
          <a:xfrm xmlns:a="http://schemas.openxmlformats.org/drawingml/2006/main">
            <a:off x="504000" y="1980000"/>
            <a:ext cx="11088000" cy="421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Outcome unlocked: [milestone / OKR].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Role closes capability gap: [what nobody can do today].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Capacity math: headcount context B — include unplanned 20–30% in demand.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(Quarter plan still uses context A once staffed.)</a:t>
            </a:r>
          </a:p>
        </p:txBody>
      </p:sp>
      <p:sp>
        <p:nvSpPr>
          <p:cNvPr id="100008" name="TextBox 5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3.xml><?xml version="1.0" encoding="utf-8"?>
<p:sld xmlns:p="http://schemas.openxmlformats.org/presentationml/2006/main">
  <p:cSld name="Linked roadmap outcomes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9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Linked roadmap outcomes</a:t>
            </a:r>
          </a:p>
        </p:txBody>
      </p:sp>
      <p:sp>
        <p:nvSpPr>
          <p:cNvPr id="100010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Roadmap items blocked without capacity: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• …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• …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Hiring lag assumption: 3–6 months to productive.</a:t>
            </a:r>
          </a:p>
        </p:txBody>
      </p:sp>
      <p:sp>
        <p:nvSpPr>
          <p:cNvPr id="100011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4.xml><?xml version="1.0" encoding="utf-8"?>
<p:sld xmlns:p="http://schemas.openxmlformats.org/presentationml/2006/main">
  <p:cSld name="If declined (explicit)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2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If declined (explicit)</a:t>
            </a:r>
          </a:p>
        </p:txBody>
      </p:sp>
      <p:sp>
        <p:nvSpPr>
          <p:cNvPr id="100013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Slip / descope table: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• Project P → next half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• Goal G at risk</a:t>
            </a:r>
          </a:p>
        </p:txBody>
      </p:sp>
      <p:sp>
        <p:nvSpPr>
          <p:cNvPr id="100014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5.xml><?xml version="1.0" encoding="utf-8"?>
<p:sld xmlns:p="http://schemas.openxmlformats.org/presentationml/2006/main">
  <p:cSld name="Options &amp; recommendation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5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Options &amp; recommendation</a:t>
            </a:r>
          </a:p>
        </p:txBody>
      </p:sp>
      <p:sp>
        <p:nvSpPr>
          <p:cNvPr id="100016" name="TextBox 2"/>
          <p:cNvSpPr txBox="1"/>
          <p:nvPr/>
        </p:nvSpPr>
        <p:spPr>
          <a:xfrm xmlns:a="http://schemas.openxmlformats.org/drawingml/2006/main">
            <a:off x="504000" y="1224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 b="0">
                <a:solidFill>
                  <a:srgbClr val="718096"/>
                </a:solidFill>
                <a:latin typeface="Calibri"/>
                <a:ea typeface="Calibri"/>
              </a:rPr>
              <a:t>Compare paths; recommendation is marked REC. Decision owner picks by the date on the Ask slide.</a:t>
            </a:r>
          </a:p>
        </p:txBody>
      </p:sp>
      <p:graphicFrame>
        <p:nvGraphicFramePr>
          <p:cNvPr id="100017" name="Table 1"/>
          <p:cNvGraphicFramePr/>
          <p:nvPr/>
        </p:nvGraphicFramePr>
        <p:xfrm>
          <a:off xmlns:a="http://schemas.openxmlformats.org/drawingml/2006/main" x="504000" y="1692000"/>
          <a:ext xmlns:a="http://schemas.openxmlformats.org/drawingml/2006/main" cx="11088000" cy="414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772000"/>
                <a:gridCol w="2772000"/>
                <a:gridCol w="2772000"/>
                <a:gridCol w="2772000"/>
              </a:tblGrid>
              <a:tr h="103500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Option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Deliverable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Cost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Risk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Full approve (REC)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All named outcomes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N HC / $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Lowest schedule risk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Partial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Subset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N-1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Medium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No hire + descope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Cut scope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0 HC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Miss original commit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0018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6.xml><?xml version="1.0" encoding="utf-8"?>
<p:sld xmlns:p="http://schemas.openxmlformats.org/presentationml/2006/main">
  <p:cSld name="Decision &amp; ask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9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WHAT WE NEED FROM THIS ROOM</a:t>
            </a:r>
          </a:p>
        </p:txBody>
      </p:sp>
      <p:sp>
        <p:nvSpPr>
          <p:cNvPr id="100020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Decision &amp; ask</a:t>
            </a:r>
          </a:p>
        </p:txBody>
      </p:sp>
      <p:sp>
        <p:nvSpPr>
          <p:cNvPr id="100021" name="TextBox 3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Decision: Full / Partial / Descope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Open req by: …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Air cover needed in steering: restate priority of [initiative].</a:t>
            </a:r>
          </a:p>
        </p:txBody>
      </p:sp>
      <p:sp>
        <p:nvSpPr>
          <p:cNvPr id="100022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OfficeCLI/1.0.143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2026-08-05T23:17:05Z</dcterms:created>
  <cp:lastModifiedBy>OfficeCLI</cp:lastModifiedBy>
  <dcterms:modified xsi:type="dcterms:W3CDTF">2026-08-05T23:17:05Z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1.0.143</vt:lpwstr>
  </op:property>
  <op:property fmtid="{D5CDD505-2E9C-101B-9397-08002B2CF9AE}" pid="3" name="OfficeCLI.LastModified">
    <vt:lpwstr xmlns:vt="http://schemas.openxmlformats.org/officeDocument/2006/docPropsVTypes">2026-08-05T23:17:06Z</vt:lpwstr>
  </op:property>
</op:Properties>
</file>