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3a42ec22271490f" /><Relationship Type="http://schemas.openxmlformats.org/package/2006/relationships/metadata/core-properties" Target="/docProps/core.xml" Id="R91549f10b799480a" /><Relationship Type="http://schemas.openxmlformats.org/officeDocument/2006/relationships/extended-properties" Target="/docProps/app.xml" Id="R40d69317b9d94a43" /><Relationship Type="http://schemas.openxmlformats.org/officeDocument/2006/relationships/custom-properties" Target="/docProps/custom.xml" Id="R6658891186144e7c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ef7d0eb69a154ce1"/>
  </p:notesMasterIdLst>
  <p:sldIdLst>
    <p:sldId id="256" r:id="R001d9007589f4119"/>
    <p:sldId id="257" r:id="R2230b7e94dce4ff8"/>
    <p:sldId id="258" r:id="R9131ca4910454f78"/>
    <p:sldId id="259" r:id="R872a4b9ac2ed4108"/>
    <p:sldId id="260" r:id="R174d05377cc648b9"/>
    <p:sldId id="261" r:id="Rcebf838558e24cc1"/>
    <p:sldId id="262" r:id="R3cdfdca2bc394b4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01d9007589f4119" /><Relationship Type="http://schemas.openxmlformats.org/officeDocument/2006/relationships/notesMaster" Target="/ppt/notesMasters/notesMaster1.xml" Id="Ref7d0eb69a154ce1" /><Relationship Type="http://schemas.openxmlformats.org/officeDocument/2006/relationships/slide" Target="/ppt/slides/slide2.xml" Id="R2230b7e94dce4ff8" /><Relationship Type="http://schemas.openxmlformats.org/officeDocument/2006/relationships/slide" Target="/ppt/slides/slide3.xml" Id="R9131ca4910454f78" /><Relationship Type="http://schemas.openxmlformats.org/officeDocument/2006/relationships/slide" Target="/ppt/slides/slide4.xml" Id="R872a4b9ac2ed4108" /><Relationship Type="http://schemas.openxmlformats.org/officeDocument/2006/relationships/slide" Target="/ppt/slides/slide5.xml" Id="R174d05377cc648b9" /><Relationship Type="http://schemas.openxmlformats.org/officeDocument/2006/relationships/slide" Target="/ppt/slides/slide6.xml" Id="Rcebf838558e24cc1" /><Relationship Type="http://schemas.openxmlformats.org/officeDocument/2006/relationships/slide" Target="/ppt/slides/slide7.xml" Id="R3cdfdca2bc394b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b56b9649acc45bf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966fafe67f14cbf" /><Relationship Type="http://schemas.openxmlformats.org/officeDocument/2006/relationships/slide" Target="/ppt/slides/slide1.xml" Id="R153fc79af95c49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3cdfaa5324b4880" /><Relationship Type="http://schemas.openxmlformats.org/officeDocument/2006/relationships/slide" Target="/ppt/slides/slide2.xml" Id="R3c4983ef12724a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9501e40f7b242e3" /><Relationship Type="http://schemas.openxmlformats.org/officeDocument/2006/relationships/slide" Target="/ppt/slides/slide3.xml" Id="R41d6d7a95db44e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b8e8218143b4b13" /><Relationship Type="http://schemas.openxmlformats.org/officeDocument/2006/relationships/slide" Target="/ppt/slides/slide4.xml" Id="Rdc6577a4aec048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a97b51b6e224034" /><Relationship Type="http://schemas.openxmlformats.org/officeDocument/2006/relationships/slide" Target="/ppt/slides/slide5.xml" Id="Rb940686502c949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836b4924f0e4f1f" /><Relationship Type="http://schemas.openxmlformats.org/officeDocument/2006/relationships/slide" Target="/ppt/slides/slide6.xml" Id="Ra66e840e0ae546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73825fb75b24c59" /><Relationship Type="http://schemas.openxmlformats.org/officeDocument/2006/relationships/slide" Target="/ppt/slides/slide7.xml" Id="R8f773b24e3f24c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 (template). Resource request</a:t>
            </a:r>
          </a:p>
          <a:p xmlns:a="http://schemas.openxmlformats.org/drawingml/2006/main">
            <a:r>
              <a:rPr lang="en-US"/>
              <a:t/>
            </a:r>
          </a:p>
          <a:p xmlns:a="http://schemas.openxmlformats.org/drawingml/2006/main">
            <a:r>
              <a:rPr lang="en-US"/>
              <a:t>Roadmap-backed headcount / resource business case</a:t>
            </a:r>
          </a:p>
          <a:p xmlns:a="http://schemas.openxmlformats.org/drawingml/2006/main">
            <a:r>
              <a:rPr lang="en-US"/>
              <a:t>EM Tools — Headcount planning: https://www.em-tools.io/engineering-manager-responsibilities/headcount-planning</a:t>
            </a:r>
          </a:p>
          <a:p xmlns:a="http://schemas.openxmlformats.org/drawingml/2006/main">
            <a:r>
              <a:rPr lang="en-US"/>
              <a:t>TPM influence without authority (when no budget ownership): https://www.mariogerard.com/how-to-influence-without-authority-as-a-tpm/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Roadmap-backed headcount / resource business case</a:t>
            </a:r>
          </a:p>
          <a:p xmlns:a="http://schemas.openxmlformats.org/drawingml/2006/main">
            <a:r>
              <a:rPr lang="en-US"/>
              <a:t>EM Tools — Headcount planning: https://www.em-tools.io/engineering-manager-responsibilities/headcount-planning</a:t>
            </a:r>
          </a:p>
          <a:p xmlns:a="http://schemas.openxmlformats.org/drawingml/2006/main">
            <a:r>
              <a:rPr lang="en-US"/>
              <a:t>TPM influence without authority (when no budget ownership): https://www.mariogerard.com/how-to-influence-without-authority-as-a-tpm/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Trade-off decision, not comfort request.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Backwards from roadmap.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Make leadership choose trade-offs.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Walk trade-offs; land recommendation.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Trade-off decision, not comfort request.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44a1a156784e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c4ef3c534143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25e0b5911e4cb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9043dd29e7484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6762261a644ab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7a4cfb561974543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21c8826f84f21" /><Relationship Type="http://schemas.openxmlformats.org/officeDocument/2006/relationships/notesSlide" Target="/ppt/notesSlides/notesSlide1.xml" Id="R74fd90c8c6124c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f7ce1e60040fb" /><Relationship Type="http://schemas.openxmlformats.org/officeDocument/2006/relationships/notesSlide" Target="/ppt/notesSlides/notesSlide2.xml" Id="Rfcfb560a5b9e49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fd1025f86437a" /><Relationship Type="http://schemas.openxmlformats.org/officeDocument/2006/relationships/notesSlide" Target="/ppt/notesSlides/notesSlide3.xml" Id="Re510e8cface540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2f60cb8254fe4" /><Relationship Type="http://schemas.openxmlformats.org/officeDocument/2006/relationships/notesSlide" Target="/ppt/notesSlides/notesSlide4.xml" Id="Rbb8fc33084b845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685cf1fc1476a" /><Relationship Type="http://schemas.openxmlformats.org/officeDocument/2006/relationships/notesSlide" Target="/ppt/notesSlides/notesSlide5.xml" Id="Rf29fdd2ffb7745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fec6d7d004778" /><Relationship Type="http://schemas.openxmlformats.org/officeDocument/2006/relationships/notesSlide" Target="/ppt/notesSlides/notesSlide6.xml" Id="R7ed1cf10feea4e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d5921cf8b4d75" /><Relationship Type="http://schemas.openxmlformats.org/officeDocument/2006/relationships/notesSlide" Target="/ppt/notesSlides/notesSlide7.xml" Id="Rca6c40ed41c44964" /></Relationships>
</file>

<file path=ppt/slides/slide1.xml><?xml version="1.0" encoding="utf-8"?>
<p:sld xmlns:p="http://schemas.openxmlformats.org/presentationml/2006/main">
  <p:cSld name="Resource request"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504000" y="93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CADCFC"/>
                </a:solidFill>
                <a:latin typeface="Calibri"/>
                <a:ea typeface="Calibri"/>
              </a:rPr>
              <a:t>SCENARIO 06  ·  HEADCOUNT / BUDGET / AIR COVER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504000" y="1332000"/>
            <a:ext cx="11088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Resource request</a:t>
            </a:r>
          </a:p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504000" y="2340000"/>
            <a:ext cx="11088000" cy="64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CADCFC"/>
                </a:solidFill>
                <a:latin typeface="Calibri"/>
                <a:ea typeface="Calibri"/>
              </a:rPr>
              <a:t>Outcome-linked capacity — context B staffing math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504000" y="3240000"/>
            <a:ext cx="11088000" cy="57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A0C4E8"/>
                </a:solidFill>
                <a:latin typeface="Calibri"/>
                <a:ea typeface="Calibri"/>
              </a:rPr>
              <a:t>Pattern: Roadmap-backed headcount / resource business case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504000" y="5976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A0AEC0"/>
                </a:solidFill>
                <a:latin typeface="Calibri"/>
                <a:ea typeface="Calibri"/>
              </a:rPr>
              <a:t>TEMPLATE  ·  Team X  ·  Program Alpha  ·  Qn YYYY  ·  TEMPLATE — replace placeholders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 name="Pattern provenance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5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WHERE THIS DECK SHAPE COMES FROM</a:t>
            </a:r>
          </a:p>
        </p:txBody>
      </p:sp>
      <p:sp>
        <p:nvSpPr>
          <p:cNvPr id="100006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Pattern provenance</a:t>
            </a:r>
          </a:p>
        </p:txBody>
      </p:sp>
      <p:sp>
        <p:nvSpPr>
          <p:cNvPr id="100007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Public pattern (structure only — not a confidential company deck):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Roadmap-backed headcount / resource business case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• EM Tools — Headcount planning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  https://www.em-tools.io/engineering-manager-responsibilities/headcount-planning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• TPM influence without authority (when no budget ownership)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  https://www.mariogerard.com/how-to-influence-without-authority-as-a-tpm/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How to use: copy section order and decision verbs; replace with your metrics.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CONTENT TEMPLATE ONLY — do not copy visual design (colors, margins, fonts) as a brand system.</a:t>
            </a:r>
          </a:p>
          <a:p xmlns:a="http://schemas.openxmlformats.org/drawingml/2006/main">
            <a:r>
              <a:rPr lang="en-US" sz="1500" b="0">
                <a:solidFill>
                  <a:srgbClr val="1A202C"/>
                </a:solidFill>
                <a:latin typeface="Calibri"/>
                <a:ea typeface="Calibri"/>
              </a:rPr>
              <a:t>In-repo: skills/presentations/classic-public-cases.md · assets/README.md (agent notice)</a:t>
            </a:r>
          </a:p>
        </p:txBody>
      </p:sp>
      <p:sp>
        <p:nvSpPr>
          <p:cNvPr id="100008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 name="BLUF — resource ask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09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BOTTOM LINE UP FRONT</a:t>
            </a:r>
          </a:p>
        </p:txBody>
      </p:sp>
      <p:sp>
        <p:nvSpPr>
          <p:cNvPr id="100010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BLUF — resource ask</a:t>
            </a:r>
          </a:p>
        </p:txBody>
      </p:sp>
      <p:sp>
        <p:nvSpPr>
          <p:cNvPr id="100011" name="TextBox 3"/>
          <p:cNvSpPr txBox="1"/>
          <p:nvPr/>
        </p:nvSpPr>
        <p:spPr>
          <a:xfrm xmlns:a="http://schemas.openxmlformats.org/drawingml/2006/main">
            <a:off x="504000" y="1260000"/>
            <a:ext cx="11088000" cy="63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7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Ask: +N [role]  ·  If no: [commit X slips]  ·  Decide by: [date]</a:t>
            </a:r>
          </a:p>
        </p:txBody>
      </p:sp>
      <p:sp>
        <p:nvSpPr>
          <p:cNvPr id="100012" name="TextBox 4"/>
          <p:cNvSpPr txBox="1"/>
          <p:nvPr/>
        </p:nvSpPr>
        <p:spPr>
          <a:xfrm xmlns:a="http://schemas.openxmlformats.org/drawingml/2006/main">
            <a:off x="504000" y="1980000"/>
            <a:ext cx="11088000" cy="42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Outcome unlocked: [milestone / OKR].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Role closes capability gap: [what nobody can do today].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Capacity math: headcount context B — include unplanned 20–30% in demand.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(Quarter plan still uses context A once staffed.)</a:t>
            </a:r>
          </a:p>
        </p:txBody>
      </p:sp>
      <p:sp>
        <p:nvSpPr>
          <p:cNvPr id="100013" name="TextBox 5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 name="Linked roadmap outcomes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4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Linked roadmap outcomes</a:t>
            </a:r>
          </a:p>
        </p:txBody>
      </p:sp>
      <p:sp>
        <p:nvSpPr>
          <p:cNvPr id="100015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Roadmap items blocked without capacity: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• …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• …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/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Hiring lag assumption: 3–6 months to productive.</a:t>
            </a:r>
          </a:p>
        </p:txBody>
      </p:sp>
      <p:sp>
        <p:nvSpPr>
          <p:cNvPr id="100016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 name="If declined (explicit)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17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If declined (explicit)</a:t>
            </a:r>
          </a:p>
        </p:txBody>
      </p:sp>
      <p:sp>
        <p:nvSpPr>
          <p:cNvPr id="100018" name="TextBox 2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Slip / descope table: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• Project P → next half</a:t>
            </a:r>
          </a:p>
          <a:p xmlns:a="http://schemas.openxmlformats.org/drawingml/2006/main">
            <a:r>
              <a:rPr lang="en-US" sz="1600" b="0">
                <a:solidFill>
                  <a:srgbClr val="1A202C"/>
                </a:solidFill>
                <a:latin typeface="Calibri"/>
                <a:ea typeface="Calibri"/>
              </a:rPr>
              <a:t>• Goal G at risk</a:t>
            </a:r>
          </a:p>
        </p:txBody>
      </p:sp>
      <p:sp>
        <p:nvSpPr>
          <p:cNvPr id="100019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 name="Options &amp; recommendation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0" name="TextBox 1"/>
          <p:cNvSpPr txBox="1"/>
          <p:nvPr/>
        </p:nvSpPr>
        <p:spPr>
          <a:xfrm xmlns:a="http://schemas.openxmlformats.org/drawingml/2006/main">
            <a:off x="504000" y="396000"/>
            <a:ext cx="11088000" cy="68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1A202C"/>
                </a:solidFill>
                <a:latin typeface="Calibri"/>
                <a:ea typeface="Calibri"/>
              </a:rPr>
              <a:t>Options &amp; recommendation</a:t>
            </a:r>
          </a:p>
        </p:txBody>
      </p:sp>
      <p:sp>
        <p:nvSpPr>
          <p:cNvPr id="100021" name="TextBox 2"/>
          <p:cNvSpPr txBox="1"/>
          <p:nvPr/>
        </p:nvSpPr>
        <p:spPr>
          <a:xfrm xmlns:a="http://schemas.openxmlformats.org/drawingml/2006/main">
            <a:off x="504000" y="1224000"/>
            <a:ext cx="11088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718096"/>
                </a:solidFill>
                <a:latin typeface="Calibri"/>
                <a:ea typeface="Calibri"/>
              </a:rPr>
              <a:t>Compare paths; recommendation is marked REC. Decision owner picks by the date on the Ask slide.</a:t>
            </a:r>
          </a:p>
        </p:txBody>
      </p:sp>
      <p:graphicFrame>
        <p:nvGraphicFramePr>
          <p:cNvPr id="100022" name="Table 1"/>
          <p:cNvGraphicFramePr/>
          <p:nvPr/>
        </p:nvGraphicFramePr>
        <p:xfrm>
          <a:off xmlns:a="http://schemas.openxmlformats.org/drawingml/2006/main" x="504000" y="1692000"/>
          <a:ext xmlns:a="http://schemas.openxmlformats.org/drawingml/2006/main" cx="11088000" cy="414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72000"/>
                <a:gridCol w="2772000"/>
                <a:gridCol w="2772000"/>
                <a:gridCol w="2772000"/>
              </a:tblGrid>
              <a:tr h="1035000"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Option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Deliverable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Cost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Risk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Full approve (REC)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All named outcomes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N HC /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Lowest schedule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Subset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N-1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No hire + descope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Cut scope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0 HC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>
                          <a:solidFill>
                            <a:srgbClr val="1A202C"/>
                          </a:solidFill>
                          <a:latin typeface="Calibri"/>
                          <a:ea typeface="Calibri"/>
                        </a:rPr>
                        <a:t>Miss original commit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023" name="TextBox 3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 name="Decision &amp; ask"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/>
      <p:sp>
        <p:nvSpPr>
          <p:cNvPr id="100024" name="TextBox 1"/>
          <p:cNvSpPr txBox="1"/>
          <p:nvPr/>
        </p:nvSpPr>
        <p:spPr>
          <a:xfrm xmlns:a="http://schemas.openxmlformats.org/drawingml/2006/main">
            <a:off x="504000" y="270000"/>
            <a:ext cx="11088000" cy="27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2B6CB0"/>
                </a:solidFill>
                <a:latin typeface="Calibri"/>
                <a:ea typeface="Calibri"/>
              </a:rPr>
              <a:t>WHAT WE NEED FROM THIS ROOM</a:t>
            </a:r>
          </a:p>
        </p:txBody>
      </p:sp>
      <p:sp>
        <p:nvSpPr>
          <p:cNvPr id="100025" name="TextBox 2"/>
          <p:cNvSpPr txBox="1"/>
          <p:nvPr/>
        </p:nvSpPr>
        <p:spPr>
          <a:xfrm xmlns:a="http://schemas.openxmlformats.org/drawingml/2006/main">
            <a:off x="504000" y="558000"/>
            <a:ext cx="11088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02C"/>
                </a:solidFill>
                <a:latin typeface="Calibri"/>
                <a:ea typeface="Calibri"/>
              </a:rPr>
              <a:t>Decision &amp; ask</a:t>
            </a:r>
          </a:p>
        </p:txBody>
      </p:sp>
      <p:sp>
        <p:nvSpPr>
          <p:cNvPr id="100026" name="TextBox 3"/>
          <p:cNvSpPr txBox="1"/>
          <p:nvPr/>
        </p:nvSpPr>
        <p:spPr>
          <a:xfrm xmlns:a="http://schemas.openxmlformats.org/drawingml/2006/main">
            <a:off x="504000" y="1260000"/>
            <a:ext cx="1108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Decision: Full / Partial / Descope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Open req by: …</a:t>
            </a:r>
          </a:p>
          <a:p xmlns:a="http://schemas.openxmlformats.org/drawingml/2006/main">
            <a:r>
              <a:rPr lang="en-US" sz="1700" b="0">
                <a:solidFill>
                  <a:srgbClr val="1A202C"/>
                </a:solidFill>
                <a:latin typeface="Calibri"/>
                <a:ea typeface="Calibri"/>
              </a:rPr>
              <a:t>Air cover needed in steering: restate priority of [initiative].</a:t>
            </a:r>
          </a:p>
        </p:txBody>
      </p:sp>
      <p:sp>
        <p:nvSpPr>
          <p:cNvPr id="100027" name="TextBox 4"/>
          <p:cNvSpPr txBox="1"/>
          <p:nvPr/>
        </p:nvSpPr>
        <p:spPr>
          <a:xfrm xmlns:a="http://schemas.openxmlformats.org/drawingml/2006/main">
            <a:off x="504000" y="6426000"/>
            <a:ext cx="11088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718096"/>
                </a:solidFill>
                <a:latin typeface="Calibri"/>
                <a:ea typeface="Calibri"/>
              </a:rPr>
              <a:t>Team X  ·  Program Alpha  ·  Qn YYYY  ·  TEMPLATE — replace placeholders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2026-08-06T00:05:59Z</dcterms:created>
  <cp:lastModifiedBy>OfficeCLI</cp:lastModifiedBy>
  <dcterms:modified xsi:type="dcterms:W3CDTF">2026-08-06T00:05:59Z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2026-08-06T00:06:00Z</vt:lpwstr>
  </op:property>
</op:Properties>
</file>