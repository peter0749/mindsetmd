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b2763df2d024b2f" /><Relationship Type="http://schemas.openxmlformats.org/package/2006/relationships/metadata/core-properties" Target="/docProps/core.xml" Id="R58812ac459c04c16" /><Relationship Type="http://schemas.openxmlformats.org/officeDocument/2006/relationships/extended-properties" Target="/docProps/app.xml" Id="Rfccd314c5a66448a" /><Relationship Type="http://schemas.openxmlformats.org/officeDocument/2006/relationships/custom-properties" Target="/docProps/custom.xml" Id="R7c960a2aa94a46d4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911f378345d0451e"/>
  </p:notesMasterIdLst>
  <p:sldIdLst>
    <p:sldId id="256" r:id="R04561f7adbb04847"/>
    <p:sldId id="257" r:id="Rf6a0945a2e784da6"/>
    <p:sldId id="258" r:id="R79df6ec595604910"/>
    <p:sldId id="259" r:id="R8345e80be824495c"/>
    <p:sldId id="260" r:id="R9e53194244ad4da1"/>
    <p:sldId id="261" r:id="R97323825e1b94272"/>
    <p:sldId id="262" r:id="R5459f8220f9d46bd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04561f7adbb04847" /><Relationship Type="http://schemas.openxmlformats.org/officeDocument/2006/relationships/notesMaster" Target="/ppt/notesMasters/notesMaster1.xml" Id="R911f378345d0451e" /><Relationship Type="http://schemas.openxmlformats.org/officeDocument/2006/relationships/slide" Target="/ppt/slides/slide2.xml" Id="Rf6a0945a2e784da6" /><Relationship Type="http://schemas.openxmlformats.org/officeDocument/2006/relationships/slide" Target="/ppt/slides/slide3.xml" Id="R79df6ec595604910" /><Relationship Type="http://schemas.openxmlformats.org/officeDocument/2006/relationships/slide" Target="/ppt/slides/slide4.xml" Id="R8345e80be824495c" /><Relationship Type="http://schemas.openxmlformats.org/officeDocument/2006/relationships/slide" Target="/ppt/slides/slide5.xml" Id="R9e53194244ad4da1" /><Relationship Type="http://schemas.openxmlformats.org/officeDocument/2006/relationships/slide" Target="/ppt/slides/slide6.xml" Id="R97323825e1b94272" /><Relationship Type="http://schemas.openxmlformats.org/officeDocument/2006/relationships/slide" Target="/ppt/slides/slide7.xml" Id="R5459f8220f9d46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d80a6ced9014ece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ebe3051d25e46fc" /><Relationship Type="http://schemas.openxmlformats.org/officeDocument/2006/relationships/slide" Target="/ppt/slides/slide1.xml" Id="R96faa2af993143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0c121becef74004" /><Relationship Type="http://schemas.openxmlformats.org/officeDocument/2006/relationships/slide" Target="/ppt/slides/slide2.xml" Id="Raaef1b06e1ae45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a706a02c82642d7" /><Relationship Type="http://schemas.openxmlformats.org/officeDocument/2006/relationships/slide" Target="/ppt/slides/slide3.xml" Id="R74d547f30ee242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27d06217d554555" /><Relationship Type="http://schemas.openxmlformats.org/officeDocument/2006/relationships/slide" Target="/ppt/slides/slide4.xml" Id="Rfde9ef1dedc34e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9206c27e6c74b3f" /><Relationship Type="http://schemas.openxmlformats.org/officeDocument/2006/relationships/slide" Target="/ppt/slides/slide5.xml" Id="R0d8d3b45d9c643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49194610dae4a4a" /><Relationship Type="http://schemas.openxmlformats.org/officeDocument/2006/relationships/slide" Target="/ppt/slides/slide6.xml" Id="R4a35a90d26184c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3906f6eaf954ba8" /><Relationship Type="http://schemas.openxmlformats.org/officeDocument/2006/relationships/slide" Target="/ppt/slides/slide7.xml" Id="Reb3c3f52b75e43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Cover (template). Procurement proposal</a:t>
            </a:r>
          </a:p>
          <a:p xmlns:a="http://schemas.openxmlformats.org/drawingml/2006/main">
            <a:r>
              <a:rPr lang="en-US"/>
              <a:t/>
            </a:r>
          </a:p>
          <a:p xmlns:a="http://schemas.openxmlformats.org/drawingml/2006/main">
            <a:r>
              <a:rPr lang="en-US"/>
              <a:t>Vendor TCO options + procurement lead time</a:t>
            </a:r>
          </a:p>
          <a:p xmlns:a="http://schemas.openxmlformats.org/drawingml/2006/main">
            <a:r>
              <a:rPr lang="en-US"/>
              <a:t>Industry EDA/tool buy case shape (must/should + lead time): https://www.em-tools.io/engineering-manager-responsibilities/headcount-planning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Vendor TCO options + procurement lead time</a:t>
            </a:r>
          </a:p>
          <a:p xmlns:a="http://schemas.openxmlformats.org/drawingml/2006/main">
            <a:r>
              <a:rPr lang="en-US"/>
              <a:t>Industry EDA/tool buy case shape (must/should + lead time): https://www.em-tools.io/engineering-manager-responsibilities/headcount-planning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Never set decide-by equal to need-by.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Must list drives fair comparison.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Adoption is part of the ask.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Walk trade-offs; land recommendation.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Never set decide-by equal to need-by.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27c4d932914f6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2bb8a52e8d4fe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bdd229d02e479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6b77a27b1a4c6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d7745604bf43b5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78f68ce40ece4832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fcd4db50bc4cfb" /><Relationship Type="http://schemas.openxmlformats.org/officeDocument/2006/relationships/notesSlide" Target="/ppt/notesSlides/notesSlide1.xml" Id="Rdea61218d07c4d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589507d634d2b" /><Relationship Type="http://schemas.openxmlformats.org/officeDocument/2006/relationships/notesSlide" Target="/ppt/notesSlides/notesSlide2.xml" Id="Rb424e274838e45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e7f066e834c89" /><Relationship Type="http://schemas.openxmlformats.org/officeDocument/2006/relationships/notesSlide" Target="/ppt/notesSlides/notesSlide3.xml" Id="Ra9304f93ee7a4d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7c9853dbb4e50" /><Relationship Type="http://schemas.openxmlformats.org/officeDocument/2006/relationships/notesSlide" Target="/ppt/notesSlides/notesSlide4.xml" Id="R0f503bc6729748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80de28957e4137" /><Relationship Type="http://schemas.openxmlformats.org/officeDocument/2006/relationships/notesSlide" Target="/ppt/notesSlides/notesSlide5.xml" Id="R04fb2d0bf25f47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f0638877ff4b67" /><Relationship Type="http://schemas.openxmlformats.org/officeDocument/2006/relationships/notesSlide" Target="/ppt/notesSlides/notesSlide6.xml" Id="R0c73830b39b44b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c4e3f44044358" /><Relationship Type="http://schemas.openxmlformats.org/officeDocument/2006/relationships/notesSlide" Target="/ppt/notesSlides/notesSlide7.xml" Id="R16a5416e3e434d0f" /></Relationships>
</file>

<file path=ppt/slides/slide1.xml><?xml version="1.0" encoding="utf-8"?>
<p:sld xmlns:p="http://schemas.openxmlformats.org/presentationml/2006/main">
  <p:cSld name="Procurement proposal"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504000" y="93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CADCFC"/>
                </a:solidFill>
                <a:latin typeface="Calibri"/>
                <a:ea typeface="Calibri"/>
              </a:rPr>
              <a:t>SCENARIO 05  ·  PROCUREMENT / VENDOR / LICENSE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504000" y="1332000"/>
            <a:ext cx="11088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  <a:latin typeface="Calibri"/>
                <a:ea typeface="Calibri"/>
              </a:rPr>
              <a:t>Procurement proposal</a:t>
            </a:r>
          </a:p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504000" y="2340000"/>
            <a:ext cx="11088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CADCFC"/>
                </a:solidFill>
                <a:latin typeface="Calibri"/>
                <a:ea typeface="Calibri"/>
              </a:rPr>
              <a:t>Buy / renew / switch — TCO, lead time, if-no impact</a:t>
            </a:r>
          </a:p>
        </p:txBody>
      </p:sp>
      <p:sp>
        <p:nvSpPr>
          <p:cNvPr id="100003" name="TextBox 4"/>
          <p:cNvSpPr txBox="1"/>
          <p:nvPr/>
        </p:nvSpPr>
        <p:spPr>
          <a:xfrm xmlns:a="http://schemas.openxmlformats.org/drawingml/2006/main">
            <a:off x="504000" y="3240000"/>
            <a:ext cx="11088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A0C4E8"/>
                </a:solidFill>
                <a:latin typeface="Calibri"/>
                <a:ea typeface="Calibri"/>
              </a:rPr>
              <a:t>Pattern: Vendor TCO options + procurement lead time</a:t>
            </a:r>
          </a:p>
        </p:txBody>
      </p:sp>
      <p:sp>
        <p:nvSpPr>
          <p:cNvPr id="100004" name="TextBox 5"/>
          <p:cNvSpPr txBox="1"/>
          <p:nvPr/>
        </p:nvSpPr>
        <p:spPr>
          <a:xfrm xmlns:a="http://schemas.openxmlformats.org/drawingml/2006/main">
            <a:off x="504000" y="5976000"/>
            <a:ext cx="11088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A0AEC0"/>
                </a:solidFill>
                <a:latin typeface="Calibri"/>
                <a:ea typeface="Calibri"/>
              </a:rPr>
              <a:t>TEMPLATE  ·  Team X  ·  Program Alpha  ·  Qn YYYY  ·  TEMPLATE — replace placeholders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 name="Pattern provenance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05" name="TextBox 1"/>
          <p:cNvSpPr txBox="1"/>
          <p:nvPr/>
        </p:nvSpPr>
        <p:spPr>
          <a:xfrm xmlns:a="http://schemas.openxmlformats.org/drawingml/2006/main">
            <a:off x="504000" y="270000"/>
            <a:ext cx="11088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2B6CB0"/>
                </a:solidFill>
                <a:latin typeface="Calibri"/>
                <a:ea typeface="Calibri"/>
              </a:rPr>
              <a:t>WHERE THIS DECK SHAPE COMES FROM</a:t>
            </a:r>
          </a:p>
        </p:txBody>
      </p:sp>
      <p:sp>
        <p:nvSpPr>
          <p:cNvPr id="100006" name="TextBox 2"/>
          <p:cNvSpPr txBox="1"/>
          <p:nvPr/>
        </p:nvSpPr>
        <p:spPr>
          <a:xfrm xmlns:a="http://schemas.openxmlformats.org/drawingml/2006/main">
            <a:off x="504000" y="558000"/>
            <a:ext cx="1108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202C"/>
                </a:solidFill>
                <a:latin typeface="Calibri"/>
                <a:ea typeface="Calibri"/>
              </a:rPr>
              <a:t>Pattern provenance</a:t>
            </a:r>
          </a:p>
        </p:txBody>
      </p:sp>
      <p:sp>
        <p:nvSpPr>
          <p:cNvPr id="100007" name="TextBox 3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Public pattern (structure only — not a confidential company deck):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Vendor TCO options + procurement lead time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• Industry EDA/tool buy case shape (must/should + lead time)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  https://www.em-tools.io/engineering-manager-responsibilities/headcount-planning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How to use: copy section order and decision verbs; replace with your metrics.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CONTENT TEMPLATE ONLY — do not copy visual design (colors, margins, fonts) as a brand system.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In-repo: skills/presentations/classic-public-cases.md · assets/README.md (agent notice)</a:t>
            </a:r>
          </a:p>
        </p:txBody>
      </p:sp>
      <p:sp>
        <p:nvSpPr>
          <p:cNvPr id="100008" name="TextBox 4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 name="BLUF — purchase decision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09" name="TextBox 1"/>
          <p:cNvSpPr txBox="1"/>
          <p:nvPr/>
        </p:nvSpPr>
        <p:spPr>
          <a:xfrm xmlns:a="http://schemas.openxmlformats.org/drawingml/2006/main">
            <a:off x="504000" y="270000"/>
            <a:ext cx="11088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2B6CB0"/>
                </a:solidFill>
                <a:latin typeface="Calibri"/>
                <a:ea typeface="Calibri"/>
              </a:rPr>
              <a:t>BOTTOM LINE UP FRONT</a:t>
            </a:r>
          </a:p>
        </p:txBody>
      </p:sp>
      <p:sp>
        <p:nvSpPr>
          <p:cNvPr id="100010" name="TextBox 2"/>
          <p:cNvSpPr txBox="1"/>
          <p:nvPr/>
        </p:nvSpPr>
        <p:spPr>
          <a:xfrm xmlns:a="http://schemas.openxmlformats.org/drawingml/2006/main">
            <a:off x="504000" y="558000"/>
            <a:ext cx="1108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202C"/>
                </a:solidFill>
                <a:latin typeface="Calibri"/>
                <a:ea typeface="Calibri"/>
              </a:rPr>
              <a:t>BLUF — purchase decision</a:t>
            </a:r>
          </a:p>
        </p:txBody>
      </p:sp>
      <p:sp>
        <p:nvSpPr>
          <p:cNvPr id="100011" name="TextBox 3"/>
          <p:cNvSpPr txBox="1"/>
          <p:nvPr/>
        </p:nvSpPr>
        <p:spPr>
          <a:xfrm xmlns:a="http://schemas.openxmlformats.org/drawingml/2006/main">
            <a:off x="504000" y="1260000"/>
            <a:ext cx="11088000" cy="63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7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Recommend: Vendor A  ·  Term: 3yr  ·  Decide by: [date] (lead time!)</a:t>
            </a:r>
          </a:p>
        </p:txBody>
      </p:sp>
      <p:sp>
        <p:nvSpPr>
          <p:cNvPr id="100012" name="TextBox 4"/>
          <p:cNvSpPr txBox="1"/>
          <p:nvPr/>
        </p:nvSpPr>
        <p:spPr>
          <a:xfrm xmlns:a="http://schemas.openxmlformats.org/drawingml/2006/main">
            <a:off x="504000" y="1980000"/>
            <a:ext cx="11088000" cy="42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Buy: [tool/IP/cloud/service] for [use case].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Why now: license expiry / project gate / capacity.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If no: [schedule or compliance impact].</a:t>
            </a:r>
          </a:p>
        </p:txBody>
      </p:sp>
      <p:sp>
        <p:nvSpPr>
          <p:cNvPr id="100013" name="TextBox 5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 name="Requirements (must / should)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14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Requirements (must / should)</a:t>
            </a:r>
          </a:p>
        </p:txBody>
      </p:sp>
      <p:sp>
        <p:nvSpPr>
          <p:cNvPr id="100015" name="TextBox 2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Must: …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Should: …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Security / compliance / local support / export control if relevant.</a:t>
            </a:r>
          </a:p>
        </p:txBody>
      </p:sp>
      <p:sp>
        <p:nvSpPr>
          <p:cNvPr id="100016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 name="Implementation plan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17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Implementation plan</a:t>
            </a:r>
          </a:p>
        </p:txBody>
      </p:sp>
      <p:sp>
        <p:nvSpPr>
          <p:cNvPr id="100018" name="TextBox 2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POC → pilot → full seats.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Owner, training, success criteria, rollback.</a:t>
            </a:r>
          </a:p>
        </p:txBody>
      </p:sp>
      <p:sp>
        <p:nvSpPr>
          <p:cNvPr id="100019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 name="Options &amp; recommendation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20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Options &amp; recommendation</a:t>
            </a:r>
          </a:p>
        </p:txBody>
      </p:sp>
      <p:sp>
        <p:nvSpPr>
          <p:cNvPr id="100021" name="TextBox 2"/>
          <p:cNvSpPr txBox="1"/>
          <p:nvPr/>
        </p:nvSpPr>
        <p:spPr>
          <a:xfrm xmlns:a="http://schemas.openxmlformats.org/drawingml/2006/main">
            <a:off x="504000" y="1224000"/>
            <a:ext cx="11088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718096"/>
                </a:solidFill>
                <a:latin typeface="Calibri"/>
                <a:ea typeface="Calibri"/>
              </a:rPr>
              <a:t>Compare paths; recommendation is marked REC. Decision owner picks by the date on the Ask slide.</a:t>
            </a:r>
          </a:p>
        </p:txBody>
      </p:sp>
      <p:graphicFrame>
        <p:nvGraphicFramePr>
          <p:cNvPr id="100022" name="Table 1"/>
          <p:cNvGraphicFramePr/>
          <p:nvPr/>
        </p:nvGraphicFramePr>
        <p:xfrm>
          <a:off xmlns:a="http://schemas.openxmlformats.org/drawingml/2006/main" x="504000" y="1692000"/>
          <a:ext xmlns:a="http://schemas.openxmlformats.org/drawingml/2006/main" cx="11088000" cy="414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217600"/>
                <a:gridCol w="2217600"/>
                <a:gridCol w="2217600"/>
                <a:gridCol w="2217600"/>
                <a:gridCol w="2217600"/>
              </a:tblGrid>
              <a:tr h="1035000"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Option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TCO sketch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Time-to-value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Risk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Fit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1035000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Vendor A (REC)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$…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Fast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5000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Vendor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$…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5000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Status quo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0 cash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High schedule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0023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 name="Decision &amp; ask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24" name="TextBox 1"/>
          <p:cNvSpPr txBox="1"/>
          <p:nvPr/>
        </p:nvSpPr>
        <p:spPr>
          <a:xfrm xmlns:a="http://schemas.openxmlformats.org/drawingml/2006/main">
            <a:off x="504000" y="270000"/>
            <a:ext cx="11088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2B6CB0"/>
                </a:solidFill>
                <a:latin typeface="Calibri"/>
                <a:ea typeface="Calibri"/>
              </a:rPr>
              <a:t>WHAT WE NEED FROM THIS ROOM</a:t>
            </a:r>
          </a:p>
        </p:txBody>
      </p:sp>
      <p:sp>
        <p:nvSpPr>
          <p:cNvPr id="100025" name="TextBox 2"/>
          <p:cNvSpPr txBox="1"/>
          <p:nvPr/>
        </p:nvSpPr>
        <p:spPr>
          <a:xfrm xmlns:a="http://schemas.openxmlformats.org/drawingml/2006/main">
            <a:off x="504000" y="558000"/>
            <a:ext cx="1108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202C"/>
                </a:solidFill>
                <a:latin typeface="Calibri"/>
                <a:ea typeface="Calibri"/>
              </a:rPr>
              <a:t>Decision &amp; ask</a:t>
            </a:r>
          </a:p>
        </p:txBody>
      </p:sp>
      <p:sp>
        <p:nvSpPr>
          <p:cNvPr id="100026" name="TextBox 3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Approve Option A and start procurement path.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Sign-off chain: eng manager → finance → procurement.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Decision date must include vendor lead time.</a:t>
            </a:r>
          </a:p>
        </p:txBody>
      </p:sp>
      <p:sp>
        <p:nvSpPr>
          <p:cNvPr id="100027" name="TextBox 4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2026-08-06T00:05:53Z</dcterms:created>
  <cp:lastModifiedBy>OfficeCLI</cp:lastModifiedBy>
  <dcterms:modified xsi:type="dcterms:W3CDTF">2026-08-06T00:05:53Z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2026-08-06T00:05:55Z</vt:lpwstr>
  </op:property>
</op:Properties>
</file>