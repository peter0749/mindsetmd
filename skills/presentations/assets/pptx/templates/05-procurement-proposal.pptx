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rels" ContentType="application/vnd.openxmlformats-package.relationships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notesMasters/notesMaster1.xml" ContentType="application/vnd.openxmlformats-officedocument.presentationml.notesMaster+xml"/>
  <Override PartName="/ppt/notesMasters/theme/theme2.xml" ContentType="application/vnd.openxmlformats-officedocument.them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b22e90ee5fd84177" /><Relationship Type="http://schemas.openxmlformats.org/package/2006/relationships/metadata/core-properties" Target="/docProps/core.xml" Id="Rff4c09f50b304598" /><Relationship Type="http://schemas.openxmlformats.org/officeDocument/2006/relationships/extended-properties" Target="/docProps/app.xml" Id="Rea69fa2a8a7647f1" /><Relationship Type="http://schemas.openxmlformats.org/officeDocument/2006/relationships/custom-properties" Target="/docProps/custom.xml" Id="Rd5e3e1c90233403c" /></Relationships>
</file>

<file path=ppt/presentation.xml><?xml version="1.0" encoding="utf-8"?>
<p:presentation xmlns:r="http://schemas.openxmlformats.org/officeDocument/2006/relationships" xmlns:p="http://schemas.openxmlformats.org/presentationml/2006/main">
  <p:sldMasterIdLst>
    <p:sldMasterId xmlns:r="http://schemas.openxmlformats.org/officeDocument/2006/relationships" id="2147483648" r:id="rId1"/>
  </p:sldMasterIdLst>
  <p:notesMasterIdLst>
    <p:notesMasterId r:id="R07de1624af4f4b42"/>
  </p:notesMasterIdLst>
  <p:sldIdLst>
    <p:sldId id="256" r:id="R2ffe87ddb96b4f2c"/>
    <p:sldId id="257" r:id="R632d7b6b0aa14e20"/>
    <p:sldId id="258" r:id="Raa05be2a5f7e40f5"/>
    <p:sldId id="259" r:id="R6de05439a8654aa3"/>
    <p:sldId id="260" r:id="R74e79243a07e4b93"/>
    <p:sldId id="261" r:id="Rc90e8fda8ee94ba5"/>
  </p:sldIdLst>
  <p:sldSz cx="12192000" cy="6858000"/>
  <p:notesSz cx="6858000" cy="9144000"/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1" /><Relationship Type="http://schemas.openxmlformats.org/officeDocument/2006/relationships/theme" Target="/ppt/theme/theme1.xml" Id="rId2" /><Relationship Type="http://schemas.openxmlformats.org/officeDocument/2006/relationships/slide" Target="/ppt/slides/slide1.xml" Id="R2ffe87ddb96b4f2c" /><Relationship Type="http://schemas.openxmlformats.org/officeDocument/2006/relationships/notesMaster" Target="/ppt/notesMasters/notesMaster1.xml" Id="R07de1624af4f4b42" /><Relationship Type="http://schemas.openxmlformats.org/officeDocument/2006/relationships/slide" Target="/ppt/slides/slide2.xml" Id="R632d7b6b0aa14e20" /><Relationship Type="http://schemas.openxmlformats.org/officeDocument/2006/relationships/slide" Target="/ppt/slides/slide3.xml" Id="Raa05be2a5f7e40f5" /><Relationship Type="http://schemas.openxmlformats.org/officeDocument/2006/relationships/slide" Target="/ppt/slides/slide4.xml" Id="R6de05439a8654aa3" /><Relationship Type="http://schemas.openxmlformats.org/officeDocument/2006/relationships/slide" Target="/ppt/slides/slide5.xml" Id="R74e79243a07e4b93" /><Relationship Type="http://schemas.openxmlformats.org/officeDocument/2006/relationships/slide" Target="/ppt/slides/slide6.xml" Id="Rc90e8fda8ee94ba5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2.xml" Id="R56d64f7effd54097" 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r">
              <a:defRPr sz="1200"/>
            </a:lvl1pPr>
          </a:lstStyle>
          <a:p>
            <a:fld id="{B1E4B0A2-5C8E-4E5F-9C1D-2F3A4B5C6D71}" type="datetimeFigureOut">
              <a:rPr lang="en-US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257175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3429000"/>
            <a:ext cx="5486400" cy="4114800"/>
          </a:xfrm>
          <a:prstGeom prst="rect">
            <a:avLst/>
          </a:prstGeom>
        </p:spPr>
        <p:txBody>
          <a:bodyPr vert="horz" lIns="91440" tIns="45720" rIns="91440" bIns="4572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r">
              <a:defRPr sz="1200"/>
            </a:lvl1pPr>
          </a:lstStyle>
          <a:p>
            <a:fld id="{B1E4B0A2-5C8E-4E5F-9C1D-2F3A4B5C6D72}" type="slidenum">
              <a:rPr lang="en-US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>
          <a:solidFill>
            <a:schemeClr val="phClr"/>
          </a:solidFill>
        </a:ln>
        <a:ln w="12700" cap="flat">
          <a:solidFill>
            <a:schemeClr val="phClr"/>
          </a:solidFill>
        </a:ln>
        <a:ln w="19050" cap="flat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1c4c8d8a9c5c4eb9" /><Relationship Type="http://schemas.openxmlformats.org/officeDocument/2006/relationships/slide" Target="/ppt/slides/slide1.xml" Id="Rcb9b95e344764284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67997b0465764c19" /><Relationship Type="http://schemas.openxmlformats.org/officeDocument/2006/relationships/slide" Target="/ppt/slides/slide2.xml" Id="R916e95b963f34f30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00d1d24cafca4c7c" /><Relationship Type="http://schemas.openxmlformats.org/officeDocument/2006/relationships/slide" Target="/ppt/slides/slide3.xml" Id="Rbd40eaf0ac564096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026d627fce9f48c6" /><Relationship Type="http://schemas.openxmlformats.org/officeDocument/2006/relationships/slide" Target="/ppt/slides/slide4.xml" Id="Rd196dec13c514c93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0df91cda48454cec" /><Relationship Type="http://schemas.openxmlformats.org/officeDocument/2006/relationships/slide" Target="/ppt/slides/slide5.xml" Id="R6cce44e3b67c4ae5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82f2b7eb92e04671" /><Relationship Type="http://schemas.openxmlformats.org/officeDocument/2006/relationships/slide" Target="/ppt/slides/slide6.xml" Id="Rb8ec90cbde62441a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Cover (template). Procurement proposal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Never set decide-by equal to need-by.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Must list drives fair comparison.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Adoption is part of the ask.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Walk trade-offs; land recommendation.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Never set decide-by equal to need-by.</a:t>
            </a:r>
          </a:p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b21a05e054a4342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c8da586c3de4936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2b43298ce64494e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83f53164df74861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88fc124b43f4892" /></Relationships>
</file>

<file path=ppt/slideLayouts/slideLayout1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/>
    </p:spTree>
  </p:cSld>
</p:sldLayout>
</file>

<file path=ppt/slideLayouts/slideLayout2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ctrTitle"/>
          </p:nvPr>
        </p:nvSpPr>
        <p:spPr>
          <a:xfrm xmlns:a="http://schemas.openxmlformats.org/drawingml/2006/main">
            <a:off x="685800" y="2130425"/>
            <a:ext cx="7772400" cy="147002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Subtitle"/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371600" y="3886200"/>
            <a:ext cx="6400800" cy="17526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Layouts/slideLayout3.xml><?xml version="1.0" encoding="utf-8"?>
<p:sldLayout xmlns:p="http://schemas.openxmlformats.org/presentationml/2006/main" type="objTx">
  <p:cSld name="Title and Content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Content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ColTx">
  <p:cSld name="Two Content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Content Left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4" name="Content Right"/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172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Layouts/slideLayout5.xml><?xml version="1.0" encoding="utf-8"?>
<p:sldLayout xmlns:p="http://schemas.openxmlformats.org/presentationml/2006/main" type="titleOnly">
  <p:cSld name="Title Only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1" /><Relationship Type="http://schemas.openxmlformats.org/officeDocument/2006/relationships/theme" Target="/ppt/theme/theme1.xml" Id="Rd4fbfd69969e45b4" /><Relationship Type="http://schemas.openxmlformats.org/officeDocument/2006/relationships/slideLayout" Target="/ppt/slideLayouts/slideLayout2.xml" Id="rId2" /><Relationship Type="http://schemas.openxmlformats.org/officeDocument/2006/relationships/slideLayout" Target="/ppt/slideLayouts/slideLayout3.xml" Id="rId3" /><Relationship Type="http://schemas.openxmlformats.org/officeDocument/2006/relationships/slideLayout" Target="/ppt/slideLayouts/slideLayout4.xml" Id="rId4" /><Relationship Type="http://schemas.openxmlformats.org/officeDocument/2006/relationships/slideLayout" Target="/ppt/slideLayouts/slideLayout5.xml" Id="rId5" /></Relationships>
</file>

<file path=ppt/slideMasters/slideMaster1.xml><?xml version="1.0" encoding="utf-8"?>
<p:sldMaster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Id1"/>
    <p:sldLayoutId xmlns:r="http://schemas.openxmlformats.org/officeDocument/2006/relationships" id="2147483650" r:id="rId2"/>
    <p:sldLayoutId xmlns:r="http://schemas.openxmlformats.org/officeDocument/2006/relationships" id="2147483651" r:id="rId3"/>
    <p:sldLayoutId xmlns:r="http://schemas.openxmlformats.org/officeDocument/2006/relationships" id="2147483652" r:id="rId4"/>
    <p:sldLayoutId xmlns:r="http://schemas.openxmlformats.org/officeDocument/2006/relationships" id="2147483653" r:id="rId5"/>
  </p:sldLayoutIdLst>
</p:sldMaster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8c73df23b304518" /><Relationship Type="http://schemas.openxmlformats.org/officeDocument/2006/relationships/notesSlide" Target="/ppt/notesSlides/notesSlide1.xml" Id="R0476a273cf944e23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acc1959efd94c32" /><Relationship Type="http://schemas.openxmlformats.org/officeDocument/2006/relationships/notesSlide" Target="/ppt/notesSlides/notesSlide2.xml" Id="Rd946864752874159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ddff1edd5f74b3a" /><Relationship Type="http://schemas.openxmlformats.org/officeDocument/2006/relationships/notesSlide" Target="/ppt/notesSlides/notesSlide3.xml" Id="R062733e10fe64a92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92fb1fda1ce4029" /><Relationship Type="http://schemas.openxmlformats.org/officeDocument/2006/relationships/notesSlide" Target="/ppt/notesSlides/notesSlide4.xml" Id="R9658c9e41f914ad1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7dcf7efa2004e07" /><Relationship Type="http://schemas.openxmlformats.org/officeDocument/2006/relationships/notesSlide" Target="/ppt/notesSlides/notesSlide5.xml" Id="R408353ce6178427a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939e0904efc499a" /><Relationship Type="http://schemas.openxmlformats.org/officeDocument/2006/relationships/notesSlide" Target="/ppt/notesSlides/notesSlide6.xml" Id="R4c337ad0d43d4225" /></Relationships>
</file>

<file path=ppt/slides/slide1.xml><?xml version="1.0" encoding="utf-8"?>
<p:sld xmlns:p="http://schemas.openxmlformats.org/presentationml/2006/main">
  <p:cSld name="Procurement proposal">
    <p:bg>
      <p:bgPr>
        <a:solidFill xmlns:a="http://schemas.openxmlformats.org/drawingml/2006/main">
          <a:srgbClr val="1E2761"/>
        </a:solidFill>
      </p:bgPr>
    </p:bg>
    <p:spTree>
      <p:nvGrpSpPr>
        <p:cNvPr id="1" name=""/>
        <p:cNvGrpSpPr/>
        <p:nvPr/>
      </p:nvGrpSpPr>
      <p:grpSpPr/>
      <p:sp>
        <p:nvSpPr>
          <p:cNvPr id="100000" name="TextBox 1"/>
          <p:cNvSpPr txBox="1"/>
          <p:nvPr/>
        </p:nvSpPr>
        <p:spPr>
          <a:xfrm xmlns:a="http://schemas.openxmlformats.org/drawingml/2006/main">
            <a:off x="504000" y="1008000"/>
            <a:ext cx="11088000" cy="324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400" b="1">
                <a:solidFill>
                  <a:srgbClr val="CADCFC"/>
                </a:solidFill>
                <a:latin typeface="Calibri"/>
                <a:ea typeface="Calibri"/>
              </a:rPr>
              <a:t>SCENARIO 05  ·  PROCUREMENT / VENDOR / LICENSE</a:t>
            </a:r>
          </a:p>
        </p:txBody>
      </p:sp>
      <p:sp>
        <p:nvSpPr>
          <p:cNvPr id="100001" name="TextBox 2"/>
          <p:cNvSpPr txBox="1"/>
          <p:nvPr/>
        </p:nvSpPr>
        <p:spPr>
          <a:xfrm xmlns:a="http://schemas.openxmlformats.org/drawingml/2006/main">
            <a:off x="504000" y="1440000"/>
            <a:ext cx="11088000" cy="93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400" b="1">
                <a:solidFill>
                  <a:srgbClr val="FFFFFF"/>
                </a:solidFill>
                <a:latin typeface="Calibri"/>
                <a:ea typeface="Calibri"/>
              </a:rPr>
              <a:t>Procurement proposal</a:t>
            </a:r>
          </a:p>
        </p:txBody>
      </p:sp>
      <p:sp>
        <p:nvSpPr>
          <p:cNvPr id="100002" name="TextBox 3"/>
          <p:cNvSpPr txBox="1"/>
          <p:nvPr/>
        </p:nvSpPr>
        <p:spPr>
          <a:xfrm xmlns:a="http://schemas.openxmlformats.org/drawingml/2006/main">
            <a:off x="504000" y="2520000"/>
            <a:ext cx="11088000" cy="72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700" b="0">
                <a:solidFill>
                  <a:srgbClr val="CADCFC"/>
                </a:solidFill>
                <a:latin typeface="Calibri"/>
                <a:ea typeface="Calibri"/>
              </a:rPr>
              <a:t>Buy / renew / switch — TCO, lead time, if-no impact</a:t>
            </a:r>
          </a:p>
        </p:txBody>
      </p:sp>
      <p:sp>
        <p:nvSpPr>
          <p:cNvPr id="100003" name="TextBox 4"/>
          <p:cNvSpPr txBox="1"/>
          <p:nvPr/>
        </p:nvSpPr>
        <p:spPr>
          <a:xfrm xmlns:a="http://schemas.openxmlformats.org/drawingml/2006/main">
            <a:off x="504000" y="5976000"/>
            <a:ext cx="11088000" cy="39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200" b="0">
                <a:solidFill>
                  <a:srgbClr val="A0AEC0"/>
                </a:solidFill>
                <a:latin typeface="Calibri"/>
                <a:ea typeface="Calibri"/>
              </a:rPr>
              <a:t>TEMPLATE  ·  Team X  ·  Program Alpha  ·  Qn YYYY  ·  TEMPLATE — replace placeholders</a:t>
            </a:r>
          </a:p>
        </p:txBody>
      </p:sp>
    </p:spTree>
  </p:cSld>
</p:sld>
</file>

<file path=ppt/slides/slide2.xml><?xml version="1.0" encoding="utf-8"?>
<p:sld xmlns:p="http://schemas.openxmlformats.org/presentationml/2006/main">
  <p:cSld name="BLUF — purchase decision">
    <p:bg>
      <p:bgPr>
        <a:solidFill xmlns:a="http://schemas.openxmlformats.org/drawingml/2006/main">
          <a:srgbClr val="F4F7FC"/>
        </a:solidFill>
      </p:bgPr>
    </p:bg>
    <p:spTree>
      <p:nvGrpSpPr>
        <p:cNvPr id="1" name=""/>
        <p:cNvGrpSpPr/>
        <p:nvPr/>
      </p:nvGrpSpPr>
      <p:grpSpPr/>
      <p:sp>
        <p:nvSpPr>
          <p:cNvPr id="100004" name="TextBox 1"/>
          <p:cNvSpPr txBox="1"/>
          <p:nvPr/>
        </p:nvSpPr>
        <p:spPr>
          <a:xfrm xmlns:a="http://schemas.openxmlformats.org/drawingml/2006/main">
            <a:off x="504000" y="270000"/>
            <a:ext cx="11088000" cy="27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1">
                <a:solidFill>
                  <a:srgbClr val="2B6CB0"/>
                </a:solidFill>
                <a:latin typeface="Calibri"/>
                <a:ea typeface="Calibri"/>
              </a:rPr>
              <a:t>BOTTOM LINE UP FRONT</a:t>
            </a:r>
          </a:p>
        </p:txBody>
      </p:sp>
      <p:sp>
        <p:nvSpPr>
          <p:cNvPr id="100005" name="TextBox 2"/>
          <p:cNvSpPr txBox="1"/>
          <p:nvPr/>
        </p:nvSpPr>
        <p:spPr>
          <a:xfrm xmlns:a="http://schemas.openxmlformats.org/drawingml/2006/main">
            <a:off x="504000" y="558000"/>
            <a:ext cx="11088000" cy="61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2800" b="1">
                <a:solidFill>
                  <a:srgbClr val="1A202C"/>
                </a:solidFill>
                <a:latin typeface="Calibri"/>
                <a:ea typeface="Calibri"/>
              </a:rPr>
              <a:t>BLUF — purchase decision</a:t>
            </a:r>
          </a:p>
        </p:txBody>
      </p:sp>
      <p:sp>
        <p:nvSpPr>
          <p:cNvPr id="100006" name="TextBox 3"/>
          <p:cNvSpPr txBox="1"/>
          <p:nvPr/>
        </p:nvSpPr>
        <p:spPr>
          <a:xfrm xmlns:a="http://schemas.openxmlformats.org/drawingml/2006/main">
            <a:off x="504000" y="1260000"/>
            <a:ext cx="11088000" cy="63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761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400" b="1">
                <a:solidFill>
                  <a:srgbClr val="FFFFFF"/>
                </a:solidFill>
                <a:latin typeface="Calibri"/>
                <a:ea typeface="Calibri"/>
              </a:rPr>
              <a:t>Recommend: Vendor A  ·  Term: 3yr  ·  Decide by: [date] (lead time!)</a:t>
            </a:r>
          </a:p>
        </p:txBody>
      </p:sp>
      <p:sp>
        <p:nvSpPr>
          <p:cNvPr id="100007" name="TextBox 4"/>
          <p:cNvSpPr txBox="1"/>
          <p:nvPr/>
        </p:nvSpPr>
        <p:spPr>
          <a:xfrm xmlns:a="http://schemas.openxmlformats.org/drawingml/2006/main">
            <a:off x="504000" y="1980000"/>
            <a:ext cx="11088000" cy="421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Buy: [tool/IP/cloud/service] for [use case].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Why now: license expiry / project gate / capacity.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If no: [schedule or compliance impact].</a:t>
            </a:r>
          </a:p>
        </p:txBody>
      </p:sp>
      <p:sp>
        <p:nvSpPr>
          <p:cNvPr id="100008" name="TextBox 5"/>
          <p:cNvSpPr txBox="1"/>
          <p:nvPr/>
        </p:nvSpPr>
        <p:spPr>
          <a:xfrm xmlns:a="http://schemas.openxmlformats.org/drawingml/2006/main">
            <a:off x="504000" y="6426000"/>
            <a:ext cx="11088000" cy="30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0">
                <a:solidFill>
                  <a:srgbClr val="718096"/>
                </a:solidFill>
                <a:latin typeface="Calibri"/>
                <a:ea typeface="Calibri"/>
              </a:rPr>
              <a:t>Team X  ·  Program Alpha  ·  Qn YYYY  ·  TEMPLATE — replace placeholders</a:t>
            </a:r>
          </a:p>
        </p:txBody>
      </p:sp>
    </p:spTree>
  </p:cSld>
</p:sld>
</file>

<file path=ppt/slides/slide3.xml><?xml version="1.0" encoding="utf-8"?>
<p:sld xmlns:p="http://schemas.openxmlformats.org/presentationml/2006/main">
  <p:cSld name="Requirements (must / should)">
    <p:bg>
      <p:bgPr>
        <a:solidFill xmlns:a="http://schemas.openxmlformats.org/drawingml/2006/main">
          <a:srgbClr val="F4F7FC"/>
        </a:solidFill>
      </p:bgPr>
    </p:bg>
    <p:spTree>
      <p:nvGrpSpPr>
        <p:cNvPr id="1" name=""/>
        <p:cNvGrpSpPr/>
        <p:nvPr/>
      </p:nvGrpSpPr>
      <p:grpSpPr/>
      <p:sp>
        <p:nvSpPr>
          <p:cNvPr id="100009" name="TextBox 1"/>
          <p:cNvSpPr txBox="1"/>
          <p:nvPr/>
        </p:nvSpPr>
        <p:spPr>
          <a:xfrm xmlns:a="http://schemas.openxmlformats.org/drawingml/2006/main">
            <a:off x="504000" y="396000"/>
            <a:ext cx="11088000" cy="684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000" b="1">
                <a:solidFill>
                  <a:srgbClr val="1A202C"/>
                </a:solidFill>
                <a:latin typeface="Calibri"/>
                <a:ea typeface="Calibri"/>
              </a:rPr>
              <a:t>Requirements (must / should)</a:t>
            </a:r>
          </a:p>
        </p:txBody>
      </p:sp>
      <p:sp>
        <p:nvSpPr>
          <p:cNvPr id="100010" name="TextBox 2"/>
          <p:cNvSpPr txBox="1"/>
          <p:nvPr/>
        </p:nvSpPr>
        <p:spPr>
          <a:xfrm xmlns:a="http://schemas.openxmlformats.org/drawingml/2006/main">
            <a:off x="504000" y="1260000"/>
            <a:ext cx="11088000" cy="486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Must: …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Should: …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Security / compliance / local support / export control if relevant.</a:t>
            </a:r>
          </a:p>
        </p:txBody>
      </p:sp>
      <p:sp>
        <p:nvSpPr>
          <p:cNvPr id="100011" name="TextBox 3"/>
          <p:cNvSpPr txBox="1"/>
          <p:nvPr/>
        </p:nvSpPr>
        <p:spPr>
          <a:xfrm xmlns:a="http://schemas.openxmlformats.org/drawingml/2006/main">
            <a:off x="504000" y="6426000"/>
            <a:ext cx="11088000" cy="30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0">
                <a:solidFill>
                  <a:srgbClr val="718096"/>
                </a:solidFill>
                <a:latin typeface="Calibri"/>
                <a:ea typeface="Calibri"/>
              </a:rPr>
              <a:t>Team X  ·  Program Alpha  ·  Qn YYYY  ·  TEMPLATE — replace placeholders</a:t>
            </a:r>
          </a:p>
        </p:txBody>
      </p:sp>
    </p:spTree>
  </p:cSld>
</p:sld>
</file>

<file path=ppt/slides/slide4.xml><?xml version="1.0" encoding="utf-8"?>
<p:sld xmlns:p="http://schemas.openxmlformats.org/presentationml/2006/main">
  <p:cSld name="Implementation plan">
    <p:bg>
      <p:bgPr>
        <a:solidFill xmlns:a="http://schemas.openxmlformats.org/drawingml/2006/main">
          <a:srgbClr val="F4F7FC"/>
        </a:solidFill>
      </p:bgPr>
    </p:bg>
    <p:spTree>
      <p:nvGrpSpPr>
        <p:cNvPr id="1" name=""/>
        <p:cNvGrpSpPr/>
        <p:nvPr/>
      </p:nvGrpSpPr>
      <p:grpSpPr/>
      <p:sp>
        <p:nvSpPr>
          <p:cNvPr id="100012" name="TextBox 1"/>
          <p:cNvSpPr txBox="1"/>
          <p:nvPr/>
        </p:nvSpPr>
        <p:spPr>
          <a:xfrm xmlns:a="http://schemas.openxmlformats.org/drawingml/2006/main">
            <a:off x="504000" y="396000"/>
            <a:ext cx="11088000" cy="684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000" b="1">
                <a:solidFill>
                  <a:srgbClr val="1A202C"/>
                </a:solidFill>
                <a:latin typeface="Calibri"/>
                <a:ea typeface="Calibri"/>
              </a:rPr>
              <a:t>Implementation plan</a:t>
            </a:r>
          </a:p>
        </p:txBody>
      </p:sp>
      <p:sp>
        <p:nvSpPr>
          <p:cNvPr id="100013" name="TextBox 2"/>
          <p:cNvSpPr txBox="1"/>
          <p:nvPr/>
        </p:nvSpPr>
        <p:spPr>
          <a:xfrm xmlns:a="http://schemas.openxmlformats.org/drawingml/2006/main">
            <a:off x="504000" y="1260000"/>
            <a:ext cx="11088000" cy="486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POC → pilot → full seats.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Owner, training, success criteria, rollback.</a:t>
            </a:r>
          </a:p>
        </p:txBody>
      </p:sp>
      <p:sp>
        <p:nvSpPr>
          <p:cNvPr id="100014" name="TextBox 3"/>
          <p:cNvSpPr txBox="1"/>
          <p:nvPr/>
        </p:nvSpPr>
        <p:spPr>
          <a:xfrm xmlns:a="http://schemas.openxmlformats.org/drawingml/2006/main">
            <a:off x="504000" y="6426000"/>
            <a:ext cx="11088000" cy="30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0">
                <a:solidFill>
                  <a:srgbClr val="718096"/>
                </a:solidFill>
                <a:latin typeface="Calibri"/>
                <a:ea typeface="Calibri"/>
              </a:rPr>
              <a:t>Team X  ·  Program Alpha  ·  Qn YYYY  ·  TEMPLATE — replace placeholders</a:t>
            </a:r>
          </a:p>
        </p:txBody>
      </p:sp>
    </p:spTree>
  </p:cSld>
</p:sld>
</file>

<file path=ppt/slides/slide5.xml><?xml version="1.0" encoding="utf-8"?>
<p:sld xmlns:p="http://schemas.openxmlformats.org/presentationml/2006/main">
  <p:cSld name="Options &amp; recommendation">
    <p:bg>
      <p:bgPr>
        <a:solidFill xmlns:a="http://schemas.openxmlformats.org/drawingml/2006/main">
          <a:srgbClr val="F4F7FC"/>
        </a:solidFill>
      </p:bgPr>
    </p:bg>
    <p:spTree>
      <p:nvGrpSpPr>
        <p:cNvPr id="1" name=""/>
        <p:cNvGrpSpPr/>
        <p:nvPr/>
      </p:nvGrpSpPr>
      <p:grpSpPr/>
      <p:sp>
        <p:nvSpPr>
          <p:cNvPr id="100015" name="TextBox 1"/>
          <p:cNvSpPr txBox="1"/>
          <p:nvPr/>
        </p:nvSpPr>
        <p:spPr>
          <a:xfrm xmlns:a="http://schemas.openxmlformats.org/drawingml/2006/main">
            <a:off x="504000" y="396000"/>
            <a:ext cx="11088000" cy="684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000" b="1">
                <a:solidFill>
                  <a:srgbClr val="1A202C"/>
                </a:solidFill>
                <a:latin typeface="Calibri"/>
                <a:ea typeface="Calibri"/>
              </a:rPr>
              <a:t>Options &amp; recommendation</a:t>
            </a:r>
          </a:p>
        </p:txBody>
      </p:sp>
      <p:sp>
        <p:nvSpPr>
          <p:cNvPr id="100016" name="TextBox 2"/>
          <p:cNvSpPr txBox="1"/>
          <p:nvPr/>
        </p:nvSpPr>
        <p:spPr>
          <a:xfrm xmlns:a="http://schemas.openxmlformats.org/drawingml/2006/main">
            <a:off x="504000" y="1224000"/>
            <a:ext cx="11088000" cy="39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300" b="0">
                <a:solidFill>
                  <a:srgbClr val="718096"/>
                </a:solidFill>
                <a:latin typeface="Calibri"/>
                <a:ea typeface="Calibri"/>
              </a:rPr>
              <a:t>Compare paths; recommendation is marked REC. Decision owner picks by the date on the Ask slide.</a:t>
            </a:r>
          </a:p>
        </p:txBody>
      </p:sp>
      <p:graphicFrame>
        <p:nvGraphicFramePr>
          <p:cNvPr id="100017" name="Table 1"/>
          <p:cNvGraphicFramePr/>
          <p:nvPr/>
        </p:nvGraphicFramePr>
        <p:xfrm>
          <a:off xmlns:a="http://schemas.openxmlformats.org/drawingml/2006/main" x="504000" y="1692000"/>
          <a:ext xmlns:a="http://schemas.openxmlformats.org/drawingml/2006/main" cx="11088000" cy="4140000"/>
        </p:xfrm>
        <a:graphic xmlns:a="http://schemas.openxmlformats.org/drawingml/2006/main">
          <a:graphicData uri="http://schemas.openxmlformats.org/drawingml/2006/table">
            <a:tbl>
              <a:tblPr firstRow="1" bandRow="1"/>
              <a:tblGrid>
                <a:gridCol w="2217600"/>
                <a:gridCol w="2217600"/>
                <a:gridCol w="2217600"/>
                <a:gridCol w="2217600"/>
                <a:gridCol w="2217600"/>
              </a:tblGrid>
              <a:tr h="1035000">
                <a:tc>
                  <a:txBody>
                    <a:bodyPr/>
                    <a:lstStyle/>
                    <a:p>
                      <a:r>
                        <a:rPr lang="en-US" sz="1300" b="1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Option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b="1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TCO sketch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b="1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Time-to-value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b="1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Risk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b="1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Fit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</a:tr>
              <a:tr h="1035000"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Vendor A (REC)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$…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Fast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Med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High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35000"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Vendor 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$…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Med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Low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Med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35000"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Status quo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0 cash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High schedule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Low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0018" name="TextBox 3"/>
          <p:cNvSpPr txBox="1"/>
          <p:nvPr/>
        </p:nvSpPr>
        <p:spPr>
          <a:xfrm xmlns:a="http://schemas.openxmlformats.org/drawingml/2006/main">
            <a:off x="504000" y="6426000"/>
            <a:ext cx="11088000" cy="30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0">
                <a:solidFill>
                  <a:srgbClr val="718096"/>
                </a:solidFill>
                <a:latin typeface="Calibri"/>
                <a:ea typeface="Calibri"/>
              </a:rPr>
              <a:t>Team X  ·  Program Alpha  ·  Qn YYYY  ·  TEMPLATE — replace placeholders</a:t>
            </a:r>
          </a:p>
        </p:txBody>
      </p:sp>
    </p:spTree>
  </p:cSld>
</p:sld>
</file>

<file path=ppt/slides/slide6.xml><?xml version="1.0" encoding="utf-8"?>
<p:sld xmlns:p="http://schemas.openxmlformats.org/presentationml/2006/main">
  <p:cSld name="Decision &amp; ask">
    <p:bg>
      <p:bgPr>
        <a:solidFill xmlns:a="http://schemas.openxmlformats.org/drawingml/2006/main">
          <a:srgbClr val="F4F7FC"/>
        </a:solidFill>
      </p:bgPr>
    </p:bg>
    <p:spTree>
      <p:nvGrpSpPr>
        <p:cNvPr id="1" name=""/>
        <p:cNvGrpSpPr/>
        <p:nvPr/>
      </p:nvGrpSpPr>
      <p:grpSpPr/>
      <p:sp>
        <p:nvSpPr>
          <p:cNvPr id="100019" name="TextBox 1"/>
          <p:cNvSpPr txBox="1"/>
          <p:nvPr/>
        </p:nvSpPr>
        <p:spPr>
          <a:xfrm xmlns:a="http://schemas.openxmlformats.org/drawingml/2006/main">
            <a:off x="504000" y="270000"/>
            <a:ext cx="11088000" cy="27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1">
                <a:solidFill>
                  <a:srgbClr val="2B6CB0"/>
                </a:solidFill>
                <a:latin typeface="Calibri"/>
                <a:ea typeface="Calibri"/>
              </a:rPr>
              <a:t>WHAT WE NEED FROM THIS ROOM</a:t>
            </a:r>
          </a:p>
        </p:txBody>
      </p:sp>
      <p:sp>
        <p:nvSpPr>
          <p:cNvPr id="100020" name="TextBox 2"/>
          <p:cNvSpPr txBox="1"/>
          <p:nvPr/>
        </p:nvSpPr>
        <p:spPr>
          <a:xfrm xmlns:a="http://schemas.openxmlformats.org/drawingml/2006/main">
            <a:off x="504000" y="558000"/>
            <a:ext cx="11088000" cy="61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2800" b="1">
                <a:solidFill>
                  <a:srgbClr val="1A202C"/>
                </a:solidFill>
                <a:latin typeface="Calibri"/>
                <a:ea typeface="Calibri"/>
              </a:rPr>
              <a:t>Decision &amp; ask</a:t>
            </a:r>
          </a:p>
        </p:txBody>
      </p:sp>
      <p:sp>
        <p:nvSpPr>
          <p:cNvPr id="100021" name="TextBox 3"/>
          <p:cNvSpPr txBox="1"/>
          <p:nvPr/>
        </p:nvSpPr>
        <p:spPr>
          <a:xfrm xmlns:a="http://schemas.openxmlformats.org/drawingml/2006/main">
            <a:off x="504000" y="1260000"/>
            <a:ext cx="11088000" cy="486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700" b="0">
                <a:solidFill>
                  <a:srgbClr val="1A202C"/>
                </a:solidFill>
                <a:latin typeface="Calibri"/>
                <a:ea typeface="Calibri"/>
              </a:rPr>
              <a:t>Approve Option A and start procurement path.</a:t>
            </a:r>
          </a:p>
          <a:p xmlns:a="http://schemas.openxmlformats.org/drawingml/2006/main">
            <a:r>
              <a:rPr lang="en-US" sz="1700" b="0">
                <a:solidFill>
                  <a:srgbClr val="1A202C"/>
                </a:solidFill>
                <a:latin typeface="Calibri"/>
                <a:ea typeface="Calibri"/>
              </a:rPr>
              <a:t>Sign-off chain: eng manager → finance → procurement.</a:t>
            </a:r>
          </a:p>
          <a:p xmlns:a="http://schemas.openxmlformats.org/drawingml/2006/main">
            <a:r>
              <a:rPr lang="en-US" sz="1700" b="0">
                <a:solidFill>
                  <a:srgbClr val="1A202C"/>
                </a:solidFill>
                <a:latin typeface="Calibri"/>
                <a:ea typeface="Calibri"/>
              </a:rPr>
              <a:t>Decision date must include vendor lead time.</a:t>
            </a:r>
          </a:p>
        </p:txBody>
      </p:sp>
      <p:sp>
        <p:nvSpPr>
          <p:cNvPr id="100022" name="TextBox 4"/>
          <p:cNvSpPr txBox="1"/>
          <p:nvPr/>
        </p:nvSpPr>
        <p:spPr>
          <a:xfrm xmlns:a="http://schemas.openxmlformats.org/drawingml/2006/main">
            <a:off x="504000" y="6426000"/>
            <a:ext cx="11088000" cy="30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0">
                <a:solidFill>
                  <a:srgbClr val="718096"/>
                </a:solidFill>
                <a:latin typeface="Calibri"/>
                <a:ea typeface="Calibri"/>
              </a:rPr>
              <a:t>Team X  ·  Program Alpha  ·  Qn YYYY  ·  TEMPLATE — replace placeholders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>
          <a:solidFill>
            <a:schemeClr val="phClr"/>
          </a:solidFill>
        </a:ln>
        <a:ln w="12700" cap="flat">
          <a:solidFill>
            <a:schemeClr val="phClr"/>
          </a:solidFill>
        </a:ln>
        <a:ln w="19050" cap="flat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ap:Properties xmlns:ap="http://schemas.openxmlformats.org/officeDocument/2006/extended-properties">
  <ap:Application>OfficeCLI/1.0.143</ap:Application>
</ap: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creator>OfficeCLI</dc:creator>
  <dcterms:created xsi:type="dcterms:W3CDTF">2026-08-05T23:16:59Z</dcterms:created>
  <cp:lastModifiedBy>OfficeCLI</cp:lastModifiedBy>
  <dcterms:modified xsi:type="dcterms:W3CDTF">2026-08-05T23:16:59Z</dcterms:modified>
</cp:coreProperties>
</file>

<file path=docProps/custom.xml><?xml version="1.0" encoding="utf-8"?>
<op:Properties xmlns:op="http://schemas.openxmlformats.org/officeDocument/2006/custom-properties">
  <op:property fmtid="{D5CDD505-2E9C-101B-9397-08002B2CF9AE}" pid="2" name="OfficeCLI.Version">
    <vt:lpwstr xmlns:vt="http://schemas.openxmlformats.org/officeDocument/2006/docPropsVTypes">1.0.143</vt:lpwstr>
  </op:property>
  <op:property fmtid="{D5CDD505-2E9C-101B-9397-08002B2CF9AE}" pid="3" name="OfficeCLI.LastModified">
    <vt:lpwstr xmlns:vt="http://schemas.openxmlformats.org/officeDocument/2006/docPropsVTypes">2026-08-05T23:17:00Z</vt:lpwstr>
  </op:property>
</op:Properties>
</file>