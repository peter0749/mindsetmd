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76df2437ef274107" /><Relationship Type="http://schemas.openxmlformats.org/package/2006/relationships/metadata/core-properties" Target="/docProps/core.xml" Id="Rb8e6d76e36a64208" /><Relationship Type="http://schemas.openxmlformats.org/officeDocument/2006/relationships/extended-properties" Target="/docProps/app.xml" Id="R9fb27933b9bd4ec3" /><Relationship Type="http://schemas.openxmlformats.org/officeDocument/2006/relationships/custom-properties" Target="/docProps/custom.xml" Id="R42c7a9ac007f4200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01ce6cbc5c384df2"/>
  </p:notesMasterIdLst>
  <p:sldIdLst>
    <p:sldId id="256" r:id="R24bdff5cd3d24af9"/>
    <p:sldId id="257" r:id="Ref721088bfaa423a"/>
    <p:sldId id="258" r:id="Rcd0cc0f103ec4fef"/>
    <p:sldId id="259" r:id="Rc24cd4e228c945da"/>
    <p:sldId id="260" r:id="Rd7ab62c974c74663"/>
    <p:sldId id="261" r:id="R00c6cf6de7514917"/>
    <p:sldId id="262" r:id="R954d1ad311fd4c59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24bdff5cd3d24af9" /><Relationship Type="http://schemas.openxmlformats.org/officeDocument/2006/relationships/notesMaster" Target="/ppt/notesMasters/notesMaster1.xml" Id="R01ce6cbc5c384df2" /><Relationship Type="http://schemas.openxmlformats.org/officeDocument/2006/relationships/slide" Target="/ppt/slides/slide2.xml" Id="Ref721088bfaa423a" /><Relationship Type="http://schemas.openxmlformats.org/officeDocument/2006/relationships/slide" Target="/ppt/slides/slide3.xml" Id="Rcd0cc0f103ec4fef" /><Relationship Type="http://schemas.openxmlformats.org/officeDocument/2006/relationships/slide" Target="/ppt/slides/slide4.xml" Id="Rc24cd4e228c945da" /><Relationship Type="http://schemas.openxmlformats.org/officeDocument/2006/relationships/slide" Target="/ppt/slides/slide5.xml" Id="Rd7ab62c974c74663" /><Relationship Type="http://schemas.openxmlformats.org/officeDocument/2006/relationships/slide" Target="/ppt/slides/slide6.xml" Id="R00c6cf6de7514917" /><Relationship Type="http://schemas.openxmlformats.org/officeDocument/2006/relationships/slide" Target="/ppt/slides/slide7.xml" Id="R954d1ad311fd4c5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1166b271d1734afc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1892b7ad0ff24a7c" /><Relationship Type="http://schemas.openxmlformats.org/officeDocument/2006/relationships/slide" Target="/ppt/slides/slide1.xml" Id="R3be01c2be7814d7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2961ee1401ca4801" /><Relationship Type="http://schemas.openxmlformats.org/officeDocument/2006/relationships/slide" Target="/ppt/slides/slide2.xml" Id="R4d6e455b88454bd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844a4d031f374c68" /><Relationship Type="http://schemas.openxmlformats.org/officeDocument/2006/relationships/slide" Target="/ppt/slides/slide3.xml" Id="R1d8c5240d3dd4e0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f18c6d11908248a2" /><Relationship Type="http://schemas.openxmlformats.org/officeDocument/2006/relationships/slide" Target="/ppt/slides/slide4.xml" Id="Rb58d0b0dcb20454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0fe3b30dfcf04d86" /><Relationship Type="http://schemas.openxmlformats.org/officeDocument/2006/relationships/slide" Target="/ppt/slides/slide5.xml" Id="R0fe4ddeb4e714c0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d7da6d71fed74408" /><Relationship Type="http://schemas.openxmlformats.org/officeDocument/2006/relationships/slide" Target="/ppt/slides/slide6.xml" Id="R1bf0a154a4a44c9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7e41178ea70041e8" /><Relationship Type="http://schemas.openxmlformats.org/officeDocument/2006/relationships/slide" Target="/ppt/slides/slide7.xml" Id="Red3912ef1735425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(template). Procurement proposal</a:t>
            </a:r>
          </a:p>
          <a:p xmlns:a="http://schemas.openxmlformats.org/drawingml/2006/main">
            <a:r>
              <a:rPr lang="en-US"/>
              <a:t/>
            </a:r>
          </a:p>
          <a:p xmlns:a="http://schemas.openxmlformats.org/drawingml/2006/main">
            <a:r>
              <a:rPr lang="en-US"/>
              <a:t>Vendor TCO options + procurement lead time</a:t>
            </a:r>
          </a:p>
          <a:p xmlns:a="http://schemas.openxmlformats.org/drawingml/2006/main">
            <a:r>
              <a:rPr lang="en-US"/>
              <a:t>Industry EDA/tool buy case shape (must/should + lead time): https://www.em-tools.io/engineering-manager-responsibilities/headcount-planning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Vendor TCO options + procurement lead time</a:t>
            </a:r>
          </a:p>
          <a:p xmlns:a="http://schemas.openxmlformats.org/drawingml/2006/main">
            <a:r>
              <a:rPr lang="en-US"/>
              <a:t>Industry EDA/tool buy case shape (must/should + lead time): https://www.em-tools.io/engineering-manager-responsibilities/headcount-planning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Never set decide-by equal to need-by.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Must list drives fair comparison.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Adoption is part of the ask.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recommendation.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Never set decide-by equal to need-by.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eab8cc86e7457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be6e8a9e1b46d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8095aa38ca2481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be58713c20471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3e54963e6f40c1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0f6404fb59eb479b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aad56996a044ab" /><Relationship Type="http://schemas.openxmlformats.org/officeDocument/2006/relationships/notesSlide" Target="/ppt/notesSlides/notesSlide1.xml" Id="R75e5101b144148e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f4e99562c9462d" /><Relationship Type="http://schemas.openxmlformats.org/officeDocument/2006/relationships/notesSlide" Target="/ppt/notesSlides/notesSlide2.xml" Id="R16b3448ae0e3446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81e36a2f1d43d7" /><Relationship Type="http://schemas.openxmlformats.org/officeDocument/2006/relationships/notesSlide" Target="/ppt/notesSlides/notesSlide3.xml" Id="R0587a1a7d2ba469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2c75bfe2474719" /><Relationship Type="http://schemas.openxmlformats.org/officeDocument/2006/relationships/notesSlide" Target="/ppt/notesSlides/notesSlide4.xml" Id="R23f1ebf090c845a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5354bf42324d95" /><Relationship Type="http://schemas.openxmlformats.org/officeDocument/2006/relationships/notesSlide" Target="/ppt/notesSlides/notesSlide5.xml" Id="R2cfb5882ba024f6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8cbcd46a66405c" /><Relationship Type="http://schemas.openxmlformats.org/officeDocument/2006/relationships/notesSlide" Target="/ppt/notesSlides/notesSlide6.xml" Id="Ra31c3ba5569d40b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c0c1bef64a4e59" /><Relationship Type="http://schemas.openxmlformats.org/officeDocument/2006/relationships/notesSlide" Target="/ppt/notesSlides/notesSlide7.xml" Id="R91a751a906144361" /></Relationships>
</file>

<file path=ppt/slides/slide1.xml><?xml version="1.0" encoding="utf-8"?>
<p:sld xmlns:p="http://schemas.openxmlformats.org/presentationml/2006/main">
  <p:cSld name="Procurement proposal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93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05  ·  PROCUREMENT / VENDOR / LICENSE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332000"/>
            <a:ext cx="11088000" cy="9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200" b="1">
                <a:solidFill>
                  <a:srgbClr val="FFFFFF"/>
                </a:solidFill>
                <a:latin typeface="Calibri"/>
                <a:ea typeface="Calibri"/>
              </a:rPr>
              <a:t>Procurement proposal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340000"/>
            <a:ext cx="11088000" cy="64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CADCFC"/>
                </a:solidFill>
                <a:latin typeface="Calibri"/>
                <a:ea typeface="Calibri"/>
              </a:rPr>
              <a:t>Buy / renew / switch — TCO, lead time, if-no impact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3240000"/>
            <a:ext cx="11088000" cy="57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0">
                <a:solidFill>
                  <a:srgbClr val="A0C4E8"/>
                </a:solidFill>
                <a:latin typeface="Calibri"/>
                <a:ea typeface="Calibri"/>
              </a:rPr>
              <a:t>Pattern: Vendor TCO options + procurement lead time</a:t>
            </a:r>
          </a:p>
        </p:txBody>
      </p:sp>
      <p:sp>
        <p:nvSpPr>
          <p:cNvPr id="100004" name="TextBox 5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TEMPLATE  ·  Team X  ·  Program Alpha  ·  Qn YYYY  ·  TEMPLATE — replace placeholders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Pattern provenance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5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WHERE THIS DECK SHAPE COMES FROM</a:t>
            </a:r>
          </a:p>
        </p:txBody>
      </p:sp>
      <p:sp>
        <p:nvSpPr>
          <p:cNvPr id="100006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Pattern provenance</a:t>
            </a:r>
          </a:p>
        </p:txBody>
      </p:sp>
      <p:sp>
        <p:nvSpPr>
          <p:cNvPr id="100007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Public pattern (structure only — not a confidential company deck):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Vendor TCO options + procurement lead time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Industry EDA/tool buy case shape (must/should + lead time)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https://www.em-tools.io/engineering-manager-responsibilities/headcount-planning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How to use: copy section order and decision verbs; replace with your metrics.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In-repo: skills/presentations/classic-public-cases.md</a:t>
            </a:r>
          </a:p>
        </p:txBody>
      </p:sp>
      <p:sp>
        <p:nvSpPr>
          <p:cNvPr id="100008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BLUF — purchase decis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purchase decision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Recommend: Vendor A  ·  Term: 3yr  ·  Decide by: [date] (lead time!)</a:t>
            </a:r>
          </a:p>
        </p:txBody>
      </p:sp>
      <p:sp>
        <p:nvSpPr>
          <p:cNvPr id="100012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Buy: [tool/IP/cloud/service] for [use case].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Why now: license expiry / project gate / capacity.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If no: [schedule or compliance impact].</a:t>
            </a:r>
          </a:p>
        </p:txBody>
      </p:sp>
      <p:sp>
        <p:nvSpPr>
          <p:cNvPr id="100013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Requirements (must / should)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4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Requirements (must / should)</a:t>
            </a:r>
          </a:p>
        </p:txBody>
      </p:sp>
      <p:sp>
        <p:nvSpPr>
          <p:cNvPr id="100015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Must: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Should: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Security / compliance / local support / export control if relevant.</a:t>
            </a:r>
          </a:p>
        </p:txBody>
      </p:sp>
      <p:sp>
        <p:nvSpPr>
          <p:cNvPr id="100016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Implementation pla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7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Implementation plan</a:t>
            </a:r>
          </a:p>
        </p:txBody>
      </p:sp>
      <p:sp>
        <p:nvSpPr>
          <p:cNvPr id="100018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POC → pilot → full seats.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Owner, training, success criteria, rollback.</a:t>
            </a:r>
          </a:p>
        </p:txBody>
      </p:sp>
      <p:sp>
        <p:nvSpPr>
          <p:cNvPr id="100019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Options &amp; recommendat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0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Options &amp; recommendation</a:t>
            </a:r>
          </a:p>
        </p:txBody>
      </p:sp>
      <p:sp>
        <p:nvSpPr>
          <p:cNvPr id="100021" name="TextBox 2"/>
          <p:cNvSpPr txBox="1"/>
          <p:nvPr/>
        </p:nvSpPr>
        <p:spPr>
          <a:xfrm xmlns:a="http://schemas.openxmlformats.org/drawingml/2006/main">
            <a:off x="504000" y="1224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marked REC. Decision owner picks by the date on the Ask slide.</a:t>
            </a:r>
          </a:p>
        </p:txBody>
      </p:sp>
      <p:graphicFrame>
        <p:nvGraphicFramePr>
          <p:cNvPr id="100022" name="Table 1"/>
          <p:cNvGraphicFramePr/>
          <p:nvPr/>
        </p:nvGraphicFramePr>
        <p:xfrm>
          <a:off xmlns:a="http://schemas.openxmlformats.org/drawingml/2006/main" x="504000" y="1692000"/>
          <a:ext xmlns:a="http://schemas.openxmlformats.org/drawingml/2006/main" cx="11088000" cy="414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217600"/>
                <a:gridCol w="2217600"/>
                <a:gridCol w="2217600"/>
                <a:gridCol w="2217600"/>
                <a:gridCol w="2217600"/>
              </a:tblGrid>
              <a:tr h="10350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Option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TCO sketch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Time-to-value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Risk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Fit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Vendor A (REC)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$…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Fast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Vendor 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$…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Status quo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0 cash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High schedule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023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4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25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26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Approve Option A and start procurement path.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Sign-off chain: eng manager → finance → procurement.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Decision date must include vendor lead time.</a:t>
            </a:r>
          </a:p>
        </p:txBody>
      </p:sp>
      <p:sp>
        <p:nvSpPr>
          <p:cNvPr id="100027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2026-08-05T23:41:31Z</dcterms:created>
  <cp:lastModifiedBy>OfficeCLI</cp:lastModifiedBy>
  <dcterms:modified xsi:type="dcterms:W3CDTF">2026-08-05T23:41:31Z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2026-08-05T23:41:33Z</vt:lpwstr>
  </op:property>
</op:Properties>
</file>