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e35285893c204b2f" /><Relationship Type="http://schemas.openxmlformats.org/package/2006/relationships/metadata/core-properties" Target="/docProps/core.xml" Id="R1847a33832794955" /><Relationship Type="http://schemas.openxmlformats.org/officeDocument/2006/relationships/extended-properties" Target="/docProps/app.xml" Id="R5a219ebf99464d8d" /><Relationship Type="http://schemas.openxmlformats.org/officeDocument/2006/relationships/custom-properties" Target="/docProps/custom.xml" Id="R234bf3858bc3439a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Id1"/>
  </p:sldMasterIdLst>
  <p:notesMasterIdLst>
    <p:notesMasterId r:id="R68f5fce147414935"/>
  </p:notesMasterIdLst>
  <p:sldIdLst>
    <p:sldId id="256" r:id="R86888ffaae5843cc"/>
    <p:sldId id="257" r:id="R844cca510b0a4df7"/>
    <p:sldId id="258" r:id="R5e588d657dec45ba"/>
    <p:sldId id="259" r:id="R88701f219a594d5a"/>
    <p:sldId id="260" r:id="R7e32200a82804ce8"/>
    <p:sldId id="261" r:id="R6ba9ecba35df4407"/>
    <p:sldId id="262" r:id="Rf007fe8ba12749d5"/>
    <p:sldId id="263" r:id="R3241f4d05ad64d20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1" /><Relationship Type="http://schemas.openxmlformats.org/officeDocument/2006/relationships/theme" Target="/ppt/theme/theme1.xml" Id="rId2" /><Relationship Type="http://schemas.openxmlformats.org/officeDocument/2006/relationships/slide" Target="/ppt/slides/slide1.xml" Id="R86888ffaae5843cc" /><Relationship Type="http://schemas.openxmlformats.org/officeDocument/2006/relationships/notesMaster" Target="/ppt/notesMasters/notesMaster1.xml" Id="R68f5fce147414935" /><Relationship Type="http://schemas.openxmlformats.org/officeDocument/2006/relationships/slide" Target="/ppt/slides/slide2.xml" Id="R844cca510b0a4df7" /><Relationship Type="http://schemas.openxmlformats.org/officeDocument/2006/relationships/slide" Target="/ppt/slides/slide3.xml" Id="R5e588d657dec45ba" /><Relationship Type="http://schemas.openxmlformats.org/officeDocument/2006/relationships/slide" Target="/ppt/slides/slide4.xml" Id="R88701f219a594d5a" /><Relationship Type="http://schemas.openxmlformats.org/officeDocument/2006/relationships/slide" Target="/ppt/slides/slide5.xml" Id="R7e32200a82804ce8" /><Relationship Type="http://schemas.openxmlformats.org/officeDocument/2006/relationships/slide" Target="/ppt/slides/slide6.xml" Id="R6ba9ecba35df4407" /><Relationship Type="http://schemas.openxmlformats.org/officeDocument/2006/relationships/slide" Target="/ppt/slides/slide7.xml" Id="Rf007fe8ba12749d5" /><Relationship Type="http://schemas.openxmlformats.org/officeDocument/2006/relationships/slide" Target="/ppt/slides/slide8.xml" Id="R3241f4d05ad64d2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3e146892b9d340c2" 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1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25717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3429000"/>
            <a:ext cx="5486400" cy="4114800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2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c4a34ec999c14267" /><Relationship Type="http://schemas.openxmlformats.org/officeDocument/2006/relationships/slide" Target="/ppt/slides/slide1.xml" Id="R8f9dd9b20fa2416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112fa4818a444d67" /><Relationship Type="http://schemas.openxmlformats.org/officeDocument/2006/relationships/slide" Target="/ppt/slides/slide2.xml" Id="Ra538d44cda2d46a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99688596a251494d" /><Relationship Type="http://schemas.openxmlformats.org/officeDocument/2006/relationships/slide" Target="/ppt/slides/slide3.xml" Id="R768363a31a0d496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f44483dd3f11411a" /><Relationship Type="http://schemas.openxmlformats.org/officeDocument/2006/relationships/slide" Target="/ppt/slides/slide4.xml" Id="Rc346f9d516b3430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9a82bc9e1f97446e" /><Relationship Type="http://schemas.openxmlformats.org/officeDocument/2006/relationships/slide" Target="/ppt/slides/slide5.xml" Id="Rea1481575b6b46b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8165490c7c40492f" /><Relationship Type="http://schemas.openxmlformats.org/officeDocument/2006/relationships/slide" Target="/ppt/slides/slide6.xml" Id="R64ee3ad42de440a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f6c94a44308f42ef" /><Relationship Type="http://schemas.openxmlformats.org/officeDocument/2006/relationships/slide" Target="/ppt/slides/slide7.xml" Id="R62d123cd526446d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b5e9a1ea08ec4e98" /><Relationship Type="http://schemas.openxmlformats.org/officeDocument/2006/relationships/slide" Target="/ppt/slides/slide8.xml" Id="R9ee0fd2efc434e4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Cover (template). Technical review: decision package</a:t>
            </a:r>
          </a:p>
          <a:p xmlns:a="http://schemas.openxmlformats.org/drawingml/2006/main">
            <a:r>
              <a:rPr lang="en-US"/>
              <a:t/>
            </a:r>
          </a:p>
          <a:p xmlns:a="http://schemas.openxmlformats.org/drawingml/2006/main">
            <a:r>
              <a:rPr lang="en-US"/>
              <a:t>Design-doc / RFC options table + residual risk</a:t>
            </a:r>
          </a:p>
          <a:p xmlns:a="http://schemas.openxmlformats.org/drawingml/2006/main">
            <a:r>
              <a:rPr lang="en-US"/>
              <a:t>StaffEng — Writing engineering strategy: https://staffeng.com/guides/engineering-strategy/</a:t>
            </a:r>
          </a:p>
          <a:p xmlns:a="http://schemas.openxmlformats.org/drawingml/2006/main">
            <a:r>
              <a:rPr lang="en-US"/>
              <a:t>Utterskills — options instead of single conclusion: https://utterskills.com/blog/communication-skills-for-software-engineers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Design-doc / RFC options table + residual risk</a:t>
            </a:r>
          </a:p>
          <a:p xmlns:a="http://schemas.openxmlformats.org/drawingml/2006/main">
            <a:r>
              <a:rPr lang="en-US"/>
              <a:t>StaffEng — Writing engineering strategy: https://staffeng.com/guides/engineering-strategy/</a:t>
            </a:r>
          </a:p>
          <a:p xmlns:a="http://schemas.openxmlformats.org/drawingml/2006/main">
            <a:r>
              <a:rPr lang="en-US"/>
              <a:t>Utterskills — options instead of single conclusion: https://utterskills.com/blog/communication-skills-for-software-engineers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Close with decision sentence. Capture owner and date live.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State constraints before solution.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One visual idea; deep-dive only on request.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Every risk needs an owner.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Walk trade-offs; land recommendation.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Close with decision sentence. Capture owner and date live.</a:t>
            </a:r>
          </a:p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b1c55b086ff4a8d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aadf4665bbd4736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82979f44fb948b4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9b185ad804d42b5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51b91d92e77490d" /></Relationships>
</file>

<file path=ppt/slideLayouts/slideLayout1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</p:sldLayout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Subtitle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3.xml><?xml version="1.0" encoding="utf-8"?>
<p:sldLayout xmlns:p="http://schemas.openxmlformats.org/presentationml/2006/main" type="objTx">
  <p:cSld name="Title and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ColTx">
  <p:cSld name="Two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 Lef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4" name="Content Right"/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5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theme" Target="/ppt/theme/theme1.xml" Id="R9b7c5482276e4af4" /><Relationship Type="http://schemas.openxmlformats.org/officeDocument/2006/relationships/slideLayout" Target="/ppt/slideLayouts/slideLayout2.xml" Id="rId2" /><Relationship Type="http://schemas.openxmlformats.org/officeDocument/2006/relationships/slideLayout" Target="/ppt/slideLayouts/slideLayout3.xml" Id="rId3" /><Relationship Type="http://schemas.openxmlformats.org/officeDocument/2006/relationships/slideLayout" Target="/ppt/slideLayouts/slideLayout4.xml" Id="rId4" /><Relationship Type="http://schemas.openxmlformats.org/officeDocument/2006/relationships/slideLayout" Target="/ppt/slideLayouts/slideLayout5.xml" Id="rId5" /></Relationships>
</file>

<file path=ppt/slideMasters/slideMaster1.xml><?xml version="1.0" encoding="utf-8"?>
<p:sldMaster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1"/>
    <p:sldLayoutId xmlns:r="http://schemas.openxmlformats.org/officeDocument/2006/relationships" id="2147483650" r:id="rId2"/>
    <p:sldLayoutId xmlns:r="http://schemas.openxmlformats.org/officeDocument/2006/relationships" id="2147483651" r:id="rId3"/>
    <p:sldLayoutId xmlns:r="http://schemas.openxmlformats.org/officeDocument/2006/relationships" id="2147483652" r:id="rId4"/>
    <p:sldLayoutId xmlns:r="http://schemas.openxmlformats.org/officeDocument/2006/relationships" id="2147483653" r:id="rId5"/>
  </p:sldLayoutIdLst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3d40d2ef6a94c2e" /><Relationship Type="http://schemas.openxmlformats.org/officeDocument/2006/relationships/notesSlide" Target="/ppt/notesSlides/notesSlide1.xml" Id="Rc346128b4a3948d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b2fd73adb174992" /><Relationship Type="http://schemas.openxmlformats.org/officeDocument/2006/relationships/notesSlide" Target="/ppt/notesSlides/notesSlide2.xml" Id="Rc475d190c968472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eb2c406940345d3" /><Relationship Type="http://schemas.openxmlformats.org/officeDocument/2006/relationships/notesSlide" Target="/ppt/notesSlides/notesSlide3.xml" Id="R1428f087fd2f4f3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b1c755550f14529" /><Relationship Type="http://schemas.openxmlformats.org/officeDocument/2006/relationships/notesSlide" Target="/ppt/notesSlides/notesSlide4.xml" Id="R5a387d2e44aa4dc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3900fdcf71f455c" /><Relationship Type="http://schemas.openxmlformats.org/officeDocument/2006/relationships/notesSlide" Target="/ppt/notesSlides/notesSlide5.xml" Id="R0118cfc8d0334a4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fc80d09707e4df6" /><Relationship Type="http://schemas.openxmlformats.org/officeDocument/2006/relationships/notesSlide" Target="/ppt/notesSlides/notesSlide6.xml" Id="Rbca7f9449b8e477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100ed5949854b81" /><Relationship Type="http://schemas.openxmlformats.org/officeDocument/2006/relationships/notesSlide" Target="/ppt/notesSlides/notesSlide7.xml" Id="R7966234cd756486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e1f128e6d7542dd" /><Relationship Type="http://schemas.openxmlformats.org/officeDocument/2006/relationships/notesSlide" Target="/ppt/notesSlides/notesSlide8.xml" Id="R6109e96538f040d4" /></Relationships>
</file>

<file path=ppt/slides/slide1.xml><?xml version="1.0" encoding="utf-8"?>
<p:sld xmlns:p="http://schemas.openxmlformats.org/presentationml/2006/main">
  <p:cSld name="Technical review: decision package">
    <p:bg>
      <p:bgPr>
        <a:solidFill xmlns:a="http://schemas.openxmlformats.org/drawingml/2006/main">
          <a:srgbClr val="1E2761"/>
        </a:solidFill>
      </p:bgPr>
    </p:bg>
    <p:spTree>
      <p:nvGrpSpPr>
        <p:cNvPr id="1" name=""/>
        <p:cNvGrpSpPr/>
        <p:nvPr/>
      </p:nvGrpSpPr>
      <p:grpSpPr/>
      <p:sp>
        <p:nvSpPr>
          <p:cNvPr id="100000" name="TextBox 1"/>
          <p:cNvSpPr txBox="1"/>
          <p:nvPr/>
        </p:nvSpPr>
        <p:spPr>
          <a:xfrm xmlns:a="http://schemas.openxmlformats.org/drawingml/2006/main">
            <a:off x="504000" y="93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CADCFC"/>
                </a:solidFill>
                <a:latin typeface="Calibri"/>
                <a:ea typeface="Calibri"/>
              </a:rPr>
              <a:t>SCENARIO 01  ·  DESIGN / TECH REVIEW</a:t>
            </a:r>
          </a:p>
        </p:txBody>
      </p:sp>
      <p:sp>
        <p:nvSpPr>
          <p:cNvPr id="100001" name="TextBox 2"/>
          <p:cNvSpPr txBox="1"/>
          <p:nvPr/>
        </p:nvSpPr>
        <p:spPr>
          <a:xfrm xmlns:a="http://schemas.openxmlformats.org/drawingml/2006/main">
            <a:off x="504000" y="1332000"/>
            <a:ext cx="11088000" cy="9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200" b="1">
                <a:solidFill>
                  <a:srgbClr val="FFFFFF"/>
                </a:solidFill>
                <a:latin typeface="Calibri"/>
                <a:ea typeface="Calibri"/>
              </a:rPr>
              <a:t>Technical review: decision package</a:t>
            </a:r>
          </a:p>
        </p:txBody>
      </p:sp>
      <p:sp>
        <p:nvSpPr>
          <p:cNvPr id="100002" name="TextBox 3"/>
          <p:cNvSpPr txBox="1"/>
          <p:nvPr/>
        </p:nvSpPr>
        <p:spPr>
          <a:xfrm xmlns:a="http://schemas.openxmlformats.org/drawingml/2006/main">
            <a:off x="504000" y="2340000"/>
            <a:ext cx="11088000" cy="64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CADCFC"/>
                </a:solidFill>
                <a:latin typeface="Calibri"/>
                <a:ea typeface="Calibri"/>
              </a:rPr>
              <a:t>Architecture / design freeze / major change — options before deep walkthrough</a:t>
            </a:r>
          </a:p>
        </p:txBody>
      </p:sp>
      <p:sp>
        <p:nvSpPr>
          <p:cNvPr id="100003" name="TextBox 4"/>
          <p:cNvSpPr txBox="1"/>
          <p:nvPr/>
        </p:nvSpPr>
        <p:spPr>
          <a:xfrm xmlns:a="http://schemas.openxmlformats.org/drawingml/2006/main">
            <a:off x="504000" y="3240000"/>
            <a:ext cx="11088000" cy="57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0">
                <a:solidFill>
                  <a:srgbClr val="A0C4E8"/>
                </a:solidFill>
                <a:latin typeface="Calibri"/>
                <a:ea typeface="Calibri"/>
              </a:rPr>
              <a:t>Pattern: Design-doc / RFC options table + residual risk</a:t>
            </a:r>
          </a:p>
        </p:txBody>
      </p:sp>
      <p:sp>
        <p:nvSpPr>
          <p:cNvPr id="100004" name="TextBox 5"/>
          <p:cNvSpPr txBox="1"/>
          <p:nvPr/>
        </p:nvSpPr>
        <p:spPr>
          <a:xfrm xmlns:a="http://schemas.openxmlformats.org/drawingml/2006/main">
            <a:off x="504000" y="5976000"/>
            <a:ext cx="11088000" cy="39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200" b="0">
                <a:solidFill>
                  <a:srgbClr val="A0AEC0"/>
                </a:solidFill>
                <a:latin typeface="Calibri"/>
                <a:ea typeface="Calibri"/>
              </a:rPr>
              <a:t>TEMPLATE  ·  Team X  ·  Program Alpha  ·  Qn YYYY  ·  TEMPLATE — replace placeholders</a:t>
            </a:r>
          </a:p>
        </p:txBody>
      </p:sp>
    </p:spTree>
  </p:cSld>
</p:sld>
</file>

<file path=ppt/slides/slide2.xml><?xml version="1.0" encoding="utf-8"?>
<p:sld xmlns:p="http://schemas.openxmlformats.org/presentationml/2006/main">
  <p:cSld name="Pattern provenance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05" name="TextBox 1"/>
          <p:cNvSpPr txBox="1"/>
          <p:nvPr/>
        </p:nvSpPr>
        <p:spPr>
          <a:xfrm xmlns:a="http://schemas.openxmlformats.org/drawingml/2006/main">
            <a:off x="504000" y="270000"/>
            <a:ext cx="11088000" cy="2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B6CB0"/>
                </a:solidFill>
                <a:latin typeface="Calibri"/>
                <a:ea typeface="Calibri"/>
              </a:rPr>
              <a:t>WHERE THIS DECK SHAPE COMES FROM</a:t>
            </a:r>
          </a:p>
        </p:txBody>
      </p:sp>
      <p:sp>
        <p:nvSpPr>
          <p:cNvPr id="100006" name="TextBox 2"/>
          <p:cNvSpPr txBox="1"/>
          <p:nvPr/>
        </p:nvSpPr>
        <p:spPr>
          <a:xfrm xmlns:a="http://schemas.openxmlformats.org/drawingml/2006/main">
            <a:off x="504000" y="558000"/>
            <a:ext cx="11088000" cy="6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A202C"/>
                </a:solidFill>
                <a:latin typeface="Calibri"/>
                <a:ea typeface="Calibri"/>
              </a:rPr>
              <a:t>Pattern provenance</a:t>
            </a:r>
          </a:p>
        </p:txBody>
      </p:sp>
      <p:sp>
        <p:nvSpPr>
          <p:cNvPr id="100007" name="TextBox 3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Public pattern (structure only — not a confidential company deck):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Design-doc / RFC options table + residual risk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• StaffEng — Writing engineering strategy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  https://staffeng.com/guides/engineering-strategy/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• Utterskills — options instead of single conclusion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  https://utterskills.com/blog/communication-skills-for-software-engineers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How to use: copy section order and decision verbs; replace with your metrics.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CONTENT TEMPLATE ONLY — do not copy visual design (colors, margins, fonts) as a brand system.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In-repo: skills/presentations/classic-public-cases.md · assets/README.md (agent notice)</a:t>
            </a:r>
          </a:p>
        </p:txBody>
      </p:sp>
      <p:sp>
        <p:nvSpPr>
          <p:cNvPr id="100008" name="TextBox 4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Team X  ·  Program Alpha  ·  Qn YYYY  ·  TEMPLATE — replace placeholders</a:t>
            </a:r>
          </a:p>
        </p:txBody>
      </p:sp>
    </p:spTree>
  </p:cSld>
</p:sld>
</file>

<file path=ppt/slides/slide3.xml><?xml version="1.0" encoding="utf-8"?>
<p:sld xmlns:p="http://schemas.openxmlformats.org/presentationml/2006/main">
  <p:cSld name="BLUF — decision needed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09" name="TextBox 1"/>
          <p:cNvSpPr txBox="1"/>
          <p:nvPr/>
        </p:nvSpPr>
        <p:spPr>
          <a:xfrm xmlns:a="http://schemas.openxmlformats.org/drawingml/2006/main">
            <a:off x="504000" y="270000"/>
            <a:ext cx="11088000" cy="2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B6CB0"/>
                </a:solidFill>
                <a:latin typeface="Calibri"/>
                <a:ea typeface="Calibri"/>
              </a:rPr>
              <a:t>BOTTOM LINE UP FRONT</a:t>
            </a:r>
          </a:p>
        </p:txBody>
      </p:sp>
      <p:sp>
        <p:nvSpPr>
          <p:cNvPr id="100010" name="TextBox 2"/>
          <p:cNvSpPr txBox="1"/>
          <p:nvPr/>
        </p:nvSpPr>
        <p:spPr>
          <a:xfrm xmlns:a="http://schemas.openxmlformats.org/drawingml/2006/main">
            <a:off x="504000" y="558000"/>
            <a:ext cx="11088000" cy="6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A202C"/>
                </a:solidFill>
                <a:latin typeface="Calibri"/>
                <a:ea typeface="Calibri"/>
              </a:rPr>
              <a:t>BLUF — decision needed</a:t>
            </a:r>
          </a:p>
        </p:txBody>
      </p:sp>
      <p:sp>
        <p:nvSpPr>
          <p:cNvPr id="100011" name="TextBox 3"/>
          <p:cNvSpPr txBox="1"/>
          <p:nvPr/>
        </p:nvSpPr>
        <p:spPr>
          <a:xfrm xmlns:a="http://schemas.openxmlformats.org/drawingml/2006/main">
            <a:off x="504000" y="1260000"/>
            <a:ext cx="11088000" cy="63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761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FFFFFF"/>
                </a:solidFill>
                <a:latin typeface="Calibri"/>
                <a:ea typeface="Calibri"/>
              </a:rPr>
              <a:t>Status: YELLOW  ·  Decision: Approve Option B (phased) by Friday</a:t>
            </a:r>
          </a:p>
        </p:txBody>
      </p:sp>
      <p:sp>
        <p:nvSpPr>
          <p:cNvPr id="100012" name="TextBox 4"/>
          <p:cNvSpPr txBox="1"/>
          <p:nvPr/>
        </p:nvSpPr>
        <p:spPr>
          <a:xfrm xmlns:a="http://schemas.openxmlformats.org/drawingml/2006/main">
            <a:off x="504000" y="1980000"/>
            <a:ext cx="11088000" cy="421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Goal: ship Program Alpha milestone without silent risk acceptance.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Difficulty: [constraint — e.g. interface freeze / PPA / schedule].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Recommendation: Option B — phased rollout with feature flags / limited cohort.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If no decision: default equals Option C (do nothing) with accepted risk documented.</a:t>
            </a:r>
          </a:p>
        </p:txBody>
      </p:sp>
      <p:sp>
        <p:nvSpPr>
          <p:cNvPr id="100013" name="TextBox 5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Team X  ·  Program Alpha  ·  Qn YYYY  ·  TEMPLATE — replace placeholders</a:t>
            </a:r>
          </a:p>
        </p:txBody>
      </p:sp>
    </p:spTree>
  </p:cSld>
</p:sld>
</file>

<file path=ppt/slides/slide4.xml><?xml version="1.0" encoding="utf-8"?>
<p:sld xmlns:p="http://schemas.openxmlformats.org/presentationml/2006/main">
  <p:cSld name="Problem, goal, constraints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14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Problem, goal, constraints</a:t>
            </a:r>
          </a:p>
        </p:txBody>
      </p:sp>
      <p:sp>
        <p:nvSpPr>
          <p:cNvPr id="100015" name="TextBox 2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Problem: [who is hurt / what fails].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Success looks like: [measurable exit criteria].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Constraints: schedule gate  |  PPA or SLO  |  capacity  |  dependency (IP / platform / team).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IC note: map to Arch → RTL freeze → DV exit → Tape-out as applicable.</a:t>
            </a:r>
          </a:p>
        </p:txBody>
      </p:sp>
      <p:sp>
        <p:nvSpPr>
          <p:cNvPr id="100016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Team X  ·  Program Alpha  ·  Qn YYYY  ·  TEMPLATE — replace placeholders</a:t>
            </a:r>
          </a:p>
        </p:txBody>
      </p:sp>
    </p:spTree>
  </p:cSld>
</p:sld>
</file>

<file path=ppt/slides/slide5.xml><?xml version="1.0" encoding="utf-8"?>
<p:sld xmlns:p="http://schemas.openxmlformats.org/presentationml/2006/main">
  <p:cSld name="Design sketch (one page)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17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Design sketch (one page)</a:t>
            </a:r>
          </a:p>
        </p:txBody>
      </p:sp>
      <p:sp>
        <p:nvSpPr>
          <p:cNvPr id="100018" name="TextBox 2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Keep one block diagram or interface table here.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• Boundary / responsibility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• Data or signal path at a glance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• What is explicitly out of scope this review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Details → backup annex if asked.</a:t>
            </a:r>
          </a:p>
        </p:txBody>
      </p:sp>
      <p:sp>
        <p:nvSpPr>
          <p:cNvPr id="100019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Team X  ·  Program Alpha  ·  Qn YYYY  ·  TEMPLATE — replace placeholders</a:t>
            </a:r>
          </a:p>
        </p:txBody>
      </p:sp>
    </p:spTree>
  </p:cSld>
</p:sld>
</file>

<file path=ppt/slides/slide6.xml><?xml version="1.0" encoding="utf-8"?>
<p:sld xmlns:p="http://schemas.openxmlformats.org/presentationml/2006/main">
  <p:cSld name="Risks &amp; mitigations (top 3)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20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Risks &amp; mitigations (top 3)</a:t>
            </a:r>
          </a:p>
        </p:txBody>
      </p:sp>
      <p:sp>
        <p:nvSpPr>
          <p:cNvPr id="100021" name="TextBox 2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1. [Risk] — mitigation: … — owner: …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2. [Risk] — mitigation: … — owner: …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3. [Risk] — mitigation: … — owner: …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Residual risk after recommendation: [one sentence].</a:t>
            </a:r>
          </a:p>
        </p:txBody>
      </p:sp>
      <p:sp>
        <p:nvSpPr>
          <p:cNvPr id="100022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Team X  ·  Program Alpha  ·  Qn YYYY  ·  TEMPLATE — replace placeholders</a:t>
            </a:r>
          </a:p>
        </p:txBody>
      </p:sp>
    </p:spTree>
  </p:cSld>
</p:sld>
</file>

<file path=ppt/slides/slide7.xml><?xml version="1.0" encoding="utf-8"?>
<p:sld xmlns:p="http://schemas.openxmlformats.org/presentationml/2006/main">
  <p:cSld name="Options &amp; recommendation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23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Options &amp; recommendation</a:t>
            </a:r>
          </a:p>
        </p:txBody>
      </p:sp>
      <p:sp>
        <p:nvSpPr>
          <p:cNvPr id="100024" name="TextBox 2"/>
          <p:cNvSpPr txBox="1"/>
          <p:nvPr/>
        </p:nvSpPr>
        <p:spPr>
          <a:xfrm xmlns:a="http://schemas.openxmlformats.org/drawingml/2006/main">
            <a:off x="504000" y="1224000"/>
            <a:ext cx="11088000" cy="39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300" b="0">
                <a:solidFill>
                  <a:srgbClr val="718096"/>
                </a:solidFill>
                <a:latin typeface="Calibri"/>
                <a:ea typeface="Calibri"/>
              </a:rPr>
              <a:t>Compare paths; recommendation is marked REC. Decision owner picks by the date on the Ask slide.</a:t>
            </a:r>
          </a:p>
        </p:txBody>
      </p:sp>
      <p:graphicFrame>
        <p:nvGraphicFramePr>
          <p:cNvPr id="100025" name="Table 1"/>
          <p:cNvGraphicFramePr/>
          <p:nvPr/>
        </p:nvGraphicFramePr>
        <p:xfrm>
          <a:off xmlns:a="http://schemas.openxmlformats.org/drawingml/2006/main" x="504000" y="1692000"/>
          <a:ext xmlns:a="http://schemas.openxmlformats.org/drawingml/2006/main" cx="11088000" cy="414000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2217600"/>
                <a:gridCol w="2217600"/>
                <a:gridCol w="2217600"/>
                <a:gridCol w="2217600"/>
                <a:gridCol w="2217600"/>
              </a:tblGrid>
              <a:tr h="1035000"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Option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Outcome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Schedule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Risk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Capacity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1035000"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A Fast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Full scope now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On date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High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Low extra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35000"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B Phased (REC)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Core first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+1 gate buffer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Med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Med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35000"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C Do nothing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Status quo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Accepted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0026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Team X  ·  Program Alpha  ·  Qn YYYY  ·  TEMPLATE — replace placeholders</a:t>
            </a:r>
          </a:p>
        </p:txBody>
      </p:sp>
    </p:spTree>
  </p:cSld>
</p:sld>
</file>

<file path=ppt/slides/slide8.xml><?xml version="1.0" encoding="utf-8"?>
<p:sld xmlns:p="http://schemas.openxmlformats.org/presentationml/2006/main">
  <p:cSld name="Decision &amp; ask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27" name="TextBox 1"/>
          <p:cNvSpPr txBox="1"/>
          <p:nvPr/>
        </p:nvSpPr>
        <p:spPr>
          <a:xfrm xmlns:a="http://schemas.openxmlformats.org/drawingml/2006/main">
            <a:off x="504000" y="270000"/>
            <a:ext cx="11088000" cy="2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B6CB0"/>
                </a:solidFill>
                <a:latin typeface="Calibri"/>
                <a:ea typeface="Calibri"/>
              </a:rPr>
              <a:t>WHAT WE NEED FROM THIS ROOM</a:t>
            </a:r>
          </a:p>
        </p:txBody>
      </p:sp>
      <p:sp>
        <p:nvSpPr>
          <p:cNvPr id="100028" name="TextBox 2"/>
          <p:cNvSpPr txBox="1"/>
          <p:nvPr/>
        </p:nvSpPr>
        <p:spPr>
          <a:xfrm xmlns:a="http://schemas.openxmlformats.org/drawingml/2006/main">
            <a:off x="504000" y="558000"/>
            <a:ext cx="11088000" cy="6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A202C"/>
                </a:solidFill>
                <a:latin typeface="Calibri"/>
                <a:ea typeface="Calibri"/>
              </a:rPr>
              <a:t>Decision &amp; ask</a:t>
            </a:r>
          </a:p>
        </p:txBody>
      </p:sp>
      <p:sp>
        <p:nvSpPr>
          <p:cNvPr id="100029" name="TextBox 3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Decision: Approve B / A / C</a:t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Owner: [Name / role]</a:t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By: [date]</a:t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Follow-ups: update design doc; notify dependent teams; schedule next gate.</a:t>
            </a:r>
          </a:p>
        </p:txBody>
      </p:sp>
      <p:sp>
        <p:nvSpPr>
          <p:cNvPr id="100030" name="TextBox 4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Team X  ·  Program Alpha  ·  Qn YYYY  ·  TEMPLATE — replace placeholders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ap:Properties xmlns:ap="http://schemas.openxmlformats.org/officeDocument/2006/extended-properties">
  <ap:Application>OfficeCLI/1.0.143</ap:Application>
</a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creator>OfficeCLI</dc:creator>
  <dcterms:created xsi:type="dcterms:W3CDTF">2026-08-06T00:05:32Z</dcterms:created>
  <cp:lastModifiedBy>OfficeCLI</cp:lastModifiedBy>
  <dcterms:modified xsi:type="dcterms:W3CDTF">2026-08-06T00:05:32Z</dcterms:modified>
</cp:coreProperties>
</file>

<file path=docProps/custom.xml><?xml version="1.0" encoding="utf-8"?>
<op:Properties xmlns:op="http://schemas.openxmlformats.org/officeDocument/2006/custom-properties">
  <op:property fmtid="{D5CDD505-2E9C-101B-9397-08002B2CF9AE}" pid="2" name="OfficeCLI.Version">
    <vt:lpwstr xmlns:vt="http://schemas.openxmlformats.org/officeDocument/2006/docPropsVTypes">1.0.143</vt:lpwstr>
  </op:property>
  <op:property fmtid="{D5CDD505-2E9C-101B-9397-08002B2CF9AE}" pid="3" name="OfficeCLI.LastModified">
    <vt:lpwstr xmlns:vt="http://schemas.openxmlformats.org/officeDocument/2006/docPropsVTypes">2026-08-06T00:05:33Z</vt:lpwstr>
  </op:property>
</op:Properties>
</file>