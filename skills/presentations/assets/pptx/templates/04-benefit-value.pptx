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2b857ad53c84567" /><Relationship Type="http://schemas.openxmlformats.org/package/2006/relationships/metadata/core-properties" Target="/docProps/core.xml" Id="R9025447b19e94f34" /><Relationship Type="http://schemas.openxmlformats.org/officeDocument/2006/relationships/extended-properties" Target="/docProps/app.xml" Id="Rb724efd913f443f3" /><Relationship Type="http://schemas.openxmlformats.org/officeDocument/2006/relationships/custom-properties" Target="/docProps/custom.xml" Id="R3474678ea704477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6b537c14ea904c13"/>
  </p:notesMasterIdLst>
  <p:sldIdLst>
    <p:sldId id="256" r:id="R74112d670aea4ea6"/>
    <p:sldId id="257" r:id="R8414467187574f56"/>
    <p:sldId id="258" r:id="R6719f1d0736444c0"/>
    <p:sldId id="259" r:id="R2710b87302d04e81"/>
    <p:sldId id="260" r:id="R5859539dcc0140c3"/>
    <p:sldId id="261" r:id="R67bc003c78bd4fca"/>
    <p:sldId id="262" r:id="R97dd58c76c5d49e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4112d670aea4ea6" /><Relationship Type="http://schemas.openxmlformats.org/officeDocument/2006/relationships/notesMaster" Target="/ppt/notesMasters/notesMaster1.xml" Id="R6b537c14ea904c13" /><Relationship Type="http://schemas.openxmlformats.org/officeDocument/2006/relationships/slide" Target="/ppt/slides/slide2.xml" Id="R8414467187574f56" /><Relationship Type="http://schemas.openxmlformats.org/officeDocument/2006/relationships/slide" Target="/ppt/slides/slide3.xml" Id="R6719f1d0736444c0" /><Relationship Type="http://schemas.openxmlformats.org/officeDocument/2006/relationships/slide" Target="/ppt/slides/slide4.xml" Id="R2710b87302d04e81" /><Relationship Type="http://schemas.openxmlformats.org/officeDocument/2006/relationships/slide" Target="/ppt/slides/slide5.xml" Id="R5859539dcc0140c3" /><Relationship Type="http://schemas.openxmlformats.org/officeDocument/2006/relationships/slide" Target="/ppt/slides/slide6.xml" Id="R67bc003c78bd4fca" /><Relationship Type="http://schemas.openxmlformats.org/officeDocument/2006/relationships/slide" Target="/ppt/slides/slide7.xml" Id="R97dd58c76c5d49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32978bce9a24dbd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1d675b7d89b4d9c" /><Relationship Type="http://schemas.openxmlformats.org/officeDocument/2006/relationships/slide" Target="/ppt/slides/slide1.xml" Id="Rff12acc5475646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670884a59a049d6" /><Relationship Type="http://schemas.openxmlformats.org/officeDocument/2006/relationships/slide" Target="/ppt/slides/slide2.xml" Id="Rf9019bc387c243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97bbca5d26746bc" /><Relationship Type="http://schemas.openxmlformats.org/officeDocument/2006/relationships/slide" Target="/ppt/slides/slide3.xml" Id="Rd09ed11bfabe4f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9dc651e19e049b6" /><Relationship Type="http://schemas.openxmlformats.org/officeDocument/2006/relationships/slide" Target="/ppt/slides/slide4.xml" Id="R96c3c9848ef24a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ac436a37e9d4685" /><Relationship Type="http://schemas.openxmlformats.org/officeDocument/2006/relationships/slide" Target="/ppt/slides/slide5.xml" Id="Re1044f12553b44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6f9f849ef554b0f" /><Relationship Type="http://schemas.openxmlformats.org/officeDocument/2006/relationships/slide" Target="/ppt/slides/slide6.xml" Id="Rd46b519d9c9b45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c67d6413a2946e5" /><Relationship Type="http://schemas.openxmlformats.org/officeDocument/2006/relationships/slide" Target="/ppt/slides/slide7.xml" Id="R48a548e0e8ce41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(template). Benefit &amp; value case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Land a clear portfolio decision.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No jargon without translation.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Mark correlation vs causation.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Credibility &gt; inflated ROI.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recommendation.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Land a clear portfolio decision.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1f380ef22d44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0960bd22e44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1b865e4d9143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99c950ce849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f8ff2aa3043a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b9560ec8fea405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372fa504b4791" /><Relationship Type="http://schemas.openxmlformats.org/officeDocument/2006/relationships/notesSlide" Target="/ppt/notesSlides/notesSlide1.xml" Id="Rb27062648f1a49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dbd0c60894ac4" /><Relationship Type="http://schemas.openxmlformats.org/officeDocument/2006/relationships/notesSlide" Target="/ppt/notesSlides/notesSlide2.xml" Id="Rf5b1b89f8ea142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97c5a52624965" /><Relationship Type="http://schemas.openxmlformats.org/officeDocument/2006/relationships/notesSlide" Target="/ppt/notesSlides/notesSlide3.xml" Id="R795a914fbdbd43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1d07b7d664dfc" /><Relationship Type="http://schemas.openxmlformats.org/officeDocument/2006/relationships/notesSlide" Target="/ppt/notesSlides/notesSlide4.xml" Id="R66bad7d14b6744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71da43a5a480a" /><Relationship Type="http://schemas.openxmlformats.org/officeDocument/2006/relationships/notesSlide" Target="/ppt/notesSlides/notesSlide5.xml" Id="R6b4d7f0e8f0d44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7edbf46e14d3d" /><Relationship Type="http://schemas.openxmlformats.org/officeDocument/2006/relationships/notesSlide" Target="/ppt/notesSlides/notesSlide6.xml" Id="Rf6b9deace28d42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873b57365430f" /><Relationship Type="http://schemas.openxmlformats.org/officeDocument/2006/relationships/notesSlide" Target="/ppt/notesSlides/notesSlide7.xml" Id="R682d48f7d438450d" /></Relationships>
</file>

<file path=ppt/slides/slide1.xml><?xml version="1.0" encoding="utf-8"?>
<p:sld xmlns:p="http://schemas.openxmlformats.org/presentationml/2006/main">
  <p:cSld name="Benefit &amp; value case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04000" y="1008000"/>
            <a:ext cx="11088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CADCFC"/>
                </a:solidFill>
                <a:latin typeface="Calibri"/>
                <a:ea typeface="Calibri"/>
              </a:rPr>
              <a:t>SCENARIO 04  ·  BENEFIT / ROI / VALUE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04000" y="1440000"/>
            <a:ext cx="11088000" cy="93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  <a:latin typeface="Calibri"/>
                <a:ea typeface="Calibri"/>
              </a:rPr>
              <a:t>Benefit &amp; value case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04000" y="2520000"/>
            <a:ext cx="11088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CADCFC"/>
                </a:solidFill>
                <a:latin typeface="Calibri"/>
                <a:ea typeface="Calibri"/>
              </a:rPr>
              <a:t>Investment → impact chain → continue / expand / stop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04000" y="5976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A0AEC0"/>
                </a:solidFill>
                <a:latin typeface="Calibri"/>
                <a:ea typeface="Calibri"/>
              </a:rPr>
              <a:t>TEMPLATE  ·  Team X  ·  Program Alpha  ·  Qn YYYY  ·  TEMPLATE — replace placeholders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BLUF — investment vs benefit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4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05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BLUF — investment vs benefit</a:t>
            </a:r>
          </a:p>
        </p:txBody>
      </p:sp>
      <p:sp>
        <p:nvSpPr>
          <p:cNvPr id="100006" name="TextBox 3"/>
          <p:cNvSpPr txBox="1"/>
          <p:nvPr/>
        </p:nvSpPr>
        <p:spPr>
          <a:xfrm xmlns:a="http://schemas.openxmlformats.org/drawingml/2006/main">
            <a:off x="504000" y="1260000"/>
            <a:ext cx="110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Recommend: CONTINUE  ·  Payback sketch: ~N months (assumptions labeled)</a:t>
            </a:r>
          </a:p>
        </p:txBody>
      </p:sp>
      <p:sp>
        <p:nvSpPr>
          <p:cNvPr id="100007" name="TextBox 4"/>
          <p:cNvSpPr txBox="1"/>
          <p:nvPr/>
        </p:nvSpPr>
        <p:spPr>
          <a:xfrm xmlns:a="http://schemas.openxmlformats.org/drawingml/2006/main">
            <a:off x="504000" y="1980000"/>
            <a:ext cx="11088000" cy="42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Investment: [project] cost [eng-quarters / $ example].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Benefit realized: [metric] → [business/risk language].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Ask: continue / expand / stop.</a:t>
            </a:r>
          </a:p>
        </p:txBody>
      </p:sp>
      <p:sp>
        <p:nvSpPr>
          <p:cNvPr id="100008" name="TextBox 5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Business problem attacked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Business problem attacked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Customer / revenue / cost / risk framing.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Why engineering capacity was the right lever.</a:t>
            </a:r>
          </a:p>
        </p:txBody>
      </p:sp>
      <p:sp>
        <p:nvSpPr>
          <p:cNvPr id="100011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 name="Impact chai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2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Impact chain</a:t>
            </a:r>
          </a:p>
        </p:txBody>
      </p:sp>
      <p:sp>
        <p:nvSpPr>
          <p:cNvPr id="100013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Technical result → process/behavior change → business metric.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Example: shared DV farm → regression 18h→6h → more test loops → fewer escapes.</a:t>
            </a:r>
          </a:p>
        </p:txBody>
      </p:sp>
      <p:sp>
        <p:nvSpPr>
          <p:cNvPr id="100014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 name="Counterfactual &amp; what we will not claim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5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Counterfactual &amp; what we will not claim</a:t>
            </a:r>
          </a:p>
        </p:txBody>
      </p:sp>
      <p:sp>
        <p:nvSpPr>
          <p:cNvPr id="100016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If we had not done this: [extra cost / delay / risk].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Out of bounds claims: …</a:t>
            </a:r>
          </a:p>
        </p:txBody>
      </p:sp>
      <p:sp>
        <p:nvSpPr>
          <p:cNvPr id="100017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name="Options &amp; recommendatio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8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Options &amp; recommendation</a:t>
            </a:r>
          </a:p>
        </p:txBody>
      </p:sp>
      <p:sp>
        <p:nvSpPr>
          <p:cNvPr id="100019" name="TextBox 2"/>
          <p:cNvSpPr txBox="1"/>
          <p:nvPr/>
        </p:nvSpPr>
        <p:spPr>
          <a:xfrm xmlns:a="http://schemas.openxmlformats.org/drawingml/2006/main">
            <a:off x="504000" y="1224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marked REC. Decision owner picks by the date on the Ask slide.</a:t>
            </a:r>
          </a:p>
        </p:txBody>
      </p:sp>
      <p:graphicFrame>
        <p:nvGraphicFramePr>
          <p:cNvPr id="100020" name="Table 1"/>
          <p:cNvGraphicFramePr/>
          <p:nvPr/>
        </p:nvGraphicFramePr>
        <p:xfrm>
          <a:off xmlns:a="http://schemas.openxmlformats.org/drawingml/2006/main" x="504000" y="1692000"/>
          <a:ext xmlns:a="http://schemas.openxmlformats.org/drawingml/2006/main" cx="11088000" cy="414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72000"/>
                <a:gridCol w="2772000"/>
                <a:gridCol w="2772000"/>
                <a:gridCol w="2772000"/>
              </a:tblGrid>
              <a:tr h="10350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Option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Scope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Expected lift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Continue (REC)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Steady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$ /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Sustain 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Expand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Next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Higher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Faster lift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Wind 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0 new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Accept regression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21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 name="Decision &amp; ask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2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23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Decision &amp; ask</a:t>
            </a:r>
          </a:p>
        </p:txBody>
      </p:sp>
      <p:sp>
        <p:nvSpPr>
          <p:cNvPr id="100024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Decision: Continue / Expand / Stop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Owner: …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By: …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Assumptions doc link: …</a:t>
            </a:r>
          </a:p>
        </p:txBody>
      </p:sp>
      <p:sp>
        <p:nvSpPr>
          <p:cNvPr id="100025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2026-08-05T23:30:48Z</dcterms:created>
  <cp:lastModifiedBy>OfficeCLI</cp:lastModifiedBy>
  <dcterms:modified xsi:type="dcterms:W3CDTF">2026-08-05T23:30:48Z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2026-08-05T23:30:50Z</vt:lpwstr>
  </op:property>
</op:Properties>
</file>