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74511d4dc874143" /><Relationship Type="http://schemas.openxmlformats.org/package/2006/relationships/metadata/core-properties" Target="/docProps/core.xml" Id="R25dbc705003f4fbd" /><Relationship Type="http://schemas.openxmlformats.org/officeDocument/2006/relationships/extended-properties" Target="/docProps/app.xml" Id="R231eed2753d9447e" /><Relationship Type="http://schemas.openxmlformats.org/officeDocument/2006/relationships/custom-properties" Target="/docProps/custom.xml" Id="Reba916fbb607476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c36316caecb4f22"/>
  </p:notesMasterIdLst>
  <p:sldIdLst>
    <p:sldId id="256" r:id="Rd6322bbf41e7443d"/>
    <p:sldId id="257" r:id="Rcc24869dac27439f"/>
    <p:sldId id="258" r:id="Re24ab5fc8cb84b1e"/>
    <p:sldId id="259" r:id="R8f2a89ceb56e4b78"/>
    <p:sldId id="260" r:id="Rcb6bd75cfd394936"/>
    <p:sldId id="261" r:id="Ra2931761b253431a"/>
    <p:sldId id="262" r:id="R7a0c95f2e9e34552"/>
    <p:sldId id="263" r:id="R149bcaefcdc2463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6322bbf41e7443d" /><Relationship Type="http://schemas.openxmlformats.org/officeDocument/2006/relationships/notesMaster" Target="/ppt/notesMasters/notesMaster1.xml" Id="R5c36316caecb4f22" /><Relationship Type="http://schemas.openxmlformats.org/officeDocument/2006/relationships/slide" Target="/ppt/slides/slide2.xml" Id="Rcc24869dac27439f" /><Relationship Type="http://schemas.openxmlformats.org/officeDocument/2006/relationships/slide" Target="/ppt/slides/slide3.xml" Id="Re24ab5fc8cb84b1e" /><Relationship Type="http://schemas.openxmlformats.org/officeDocument/2006/relationships/slide" Target="/ppt/slides/slide4.xml" Id="R8f2a89ceb56e4b78" /><Relationship Type="http://schemas.openxmlformats.org/officeDocument/2006/relationships/slide" Target="/ppt/slides/slide5.xml" Id="Rcb6bd75cfd394936" /><Relationship Type="http://schemas.openxmlformats.org/officeDocument/2006/relationships/slide" Target="/ppt/slides/slide6.xml" Id="Ra2931761b253431a" /><Relationship Type="http://schemas.openxmlformats.org/officeDocument/2006/relationships/slide" Target="/ppt/slides/slide7.xml" Id="R7a0c95f2e9e34552" /><Relationship Type="http://schemas.openxmlformats.org/officeDocument/2006/relationships/slide" Target="/ppt/slides/slide8.xml" Id="R149bcaefcdc2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56dca4bfbe4f3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5fe86580e7e45a6" /><Relationship Type="http://schemas.openxmlformats.org/officeDocument/2006/relationships/slide" Target="/ppt/slides/slide1.xml" Id="R474cb3b5c562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51a9ce3678b4d7f" /><Relationship Type="http://schemas.openxmlformats.org/officeDocument/2006/relationships/slide" Target="/ppt/slides/slide2.xml" Id="R0f21ed86c65044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16b6a86dc594b5c" /><Relationship Type="http://schemas.openxmlformats.org/officeDocument/2006/relationships/slide" Target="/ppt/slides/slide3.xml" Id="Rb69b1d14b67f4e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d0268c87524c25" /><Relationship Type="http://schemas.openxmlformats.org/officeDocument/2006/relationships/slide" Target="/ppt/slides/slide4.xml" Id="R5cdc28173a8b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e18d4fe552d4b83" /><Relationship Type="http://schemas.openxmlformats.org/officeDocument/2006/relationships/slide" Target="/ppt/slides/slide5.xml" Id="Rcc43f3065cd146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00cfbd500947ea" /><Relationship Type="http://schemas.openxmlformats.org/officeDocument/2006/relationships/slide" Target="/ppt/slides/slide6.xml" Id="Rbedf78de079e48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868d3cdffee4ce1" /><Relationship Type="http://schemas.openxmlformats.org/officeDocument/2006/relationships/slide" Target="/ppt/slides/slide7.xml" Id="R995421795f8641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2c40622876043c7" /><Relationship Type="http://schemas.openxmlformats.org/officeDocument/2006/relationships/slide" Target="/ppt/slides/slide8.xml" Id="Rafd5d4a007a14c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Renew HelixSim with expand to match farm and freeze queues.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Vendor TCO options + procurement lead time</a:t>
            </a:r>
          </a:p>
          <a:p xmlns:a="http://schemas.openxmlformats.org/drawingml/2006/main">
            <a:r>
              <a:rPr lang="en-US"/>
              <a:t>Industry EDA/tool buy case shape (must/should + lead time): https://www.em-tools.io/engineering-manager-responsibilities/headcount-planning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Vendor TCO options + procurement lead time</a:t>
            </a:r>
          </a:p>
          <a:p xmlns:a="http://schemas.openxmlformats.org/drawingml/2006/main">
            <a:r>
              <a:rPr lang="en-US"/>
              <a:t>Industry EDA/tool buy case shape (must/should + lead time): https://www.em-tools.io/engineering-manager-responsibilities/headcount-planning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Agent/human: answer who/stakes/decision from this slide alone. Recommend=HelixSim 3-year +20 seats; start PO immediately. by 2026-06-05 (includes vendor lead time).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Date includes lead time.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Musts first.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Adoption metrics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Date includes lead time.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1debfe18d47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9f874900f4e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58b78e72545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4173c785f43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4d89dba654a3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24e64b951b24ff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27b2b22ff4b84" /><Relationship Type="http://schemas.openxmlformats.org/officeDocument/2006/relationships/notesSlide" Target="/ppt/notesSlides/notesSlide1.xml" Id="R8b091a688dcf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d9d6a3c334c9a" /><Relationship Type="http://schemas.openxmlformats.org/officeDocument/2006/relationships/notesSlide" Target="/ppt/notesSlides/notesSlide2.xml" Id="Rb29080986c704d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c9695ad3a4b52" /><Relationship Type="http://schemas.openxmlformats.org/officeDocument/2006/relationships/notesSlide" Target="/ppt/notesSlides/notesSlide3.xml" Id="R554553798cda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d0db1ae6f4b59" /><Relationship Type="http://schemas.openxmlformats.org/officeDocument/2006/relationships/notesSlide" Target="/ppt/notesSlides/notesSlide4.xml" Id="R06792eda0e0d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c55f6364f4f87" /><Relationship Type="http://schemas.openxmlformats.org/officeDocument/2006/relationships/notesSlide" Target="/ppt/notesSlides/notesSlide5.xml" Id="R76fbb4bb573f4f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7d66930754f8b" /><Relationship Type="http://schemas.openxmlformats.org/officeDocument/2006/relationships/notesSlide" Target="/ppt/notesSlides/notesSlide6.xml" Id="Rb72d7509549149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9a964563e4133" /><Relationship Type="http://schemas.openxmlformats.org/officeDocument/2006/relationships/notesSlide" Target="/ppt/notesSlides/notesSlide7.xml" Id="Ra299a2231e58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bf97832d440e" /><Relationship Type="http://schemas.openxmlformats.org/officeDocument/2006/relationships/notesSlide" Target="/ppt/notesSlides/notesSlide8.xml" Id="R32ccd1926adb4b32" /></Relationships>
</file>

<file path=ppt/slides/slide1.xml><?xml version="1.0" encoding="utf-8"?>
<p:sld xmlns:p="http://schemas.openxmlformats.org/presentationml/2006/main">
  <p:cSld name="Logic sim license renewal + expand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05  ·  EXAMPLE  ·  SIM LICENSE RENEWAL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Logic sim license renewal + expand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Vendor HelixSim 3-year renewal aligned to Aurora H2 + next node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Vendor TCO options + procurement lead time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Vendor TCO options + procurement lead time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Industry EDA/tool buy case shape (must/should + lead time)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https://www.em-tools.io/engineering-manager-responsibilities/headcount-planning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Situation &amp; decision card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READ THIS BEFORE THE DETAILS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Situation &amp; decision card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24000"/>
            <a:ext cx="11088000" cy="49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Presenter: Alex Chen — EM (with procurement/finance)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Decision-maker: Morgan → Finance → Procurement chain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Audience: Eng + finance + procurement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What just happened / context: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HelixSim contract ends 2026-07-31. Farm expand (deck 04 ask by 5/30) needs concurrent seats. Vendor lead time ~45 days → decide by 2026-06-05 or miss deploy before H2 peak.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Stakes if we get this wrong: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Late PO = sim queue explosion during revB/sample support; switching to NovaSim costs 4–6 months port.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Decision needed: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HelixSim 3yr +20 (REC) vs switch NovaSim vs short 6-mo extend.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Recommendation: HelixSim 3-year +20 seats; start PO immediately.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YES: Seats land ~3 weeks after PO; p95 queue target &lt;30 min in freeze windows.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If NO / delay: Short extend is expensive band-aid; switch burns schedule.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Decide by: 2026-06-05 (includes vendor lead time)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prior: 04 farm expand decision; 02/09 load growth</a:t>
            </a:r>
          </a:p>
          <a:p xmlns:a="http://schemas.openxmlformats.org/drawingml/2006/main">
            <a:r>
              <a:rPr lang="en-US" sz="1300" b="0">
                <a:solidFill>
                  <a:srgbClr val="1A202C"/>
                </a:solidFill>
                <a:latin typeface="Calibri"/>
                <a:ea typeface="Calibri"/>
              </a:rPr>
              <a:t>Arc next: 07 H2 roadmap assumes seats available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BLUF — renew HelixSim 3yr +20 seat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4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renew HelixSim 3yr +20 seats</a:t>
            </a:r>
          </a:p>
        </p:txBody>
      </p:sp>
      <p:sp>
        <p:nvSpPr>
          <p:cNvPr id="100015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Recommend: HelixSim  ·  Term: 3yr  ·  Decide by 2026-06-05 (45-day vendor lead)</a:t>
            </a:r>
          </a:p>
        </p:txBody>
      </p:sp>
      <p:sp>
        <p:nvSpPr>
          <p:cNvPr id="100016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Buy: HelixSim concurrent licenses for RTL/gate sim (Aurora + WiFi IP).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Why now: contract ends 2026-07-31; farm expand approved path (deck 04, ask by 5/30) needs seats.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If no / late: sim queue &gt;&gt; overnight; H2 multi-program slips (post-sample).</a:t>
            </a:r>
          </a:p>
        </p:txBody>
      </p:sp>
      <p:sp>
        <p:nvSpPr>
          <p:cNvPr id="100017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Requirements (must / should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Requirements (must / should)</a:t>
            </a:r>
          </a:p>
        </p:txBody>
      </p:sp>
      <p:sp>
        <p:nvSpPr>
          <p:cNvPr id="100019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Must: SystemVerilog UVM; regress CLI; Asia support hours; quote ≤ budget envelope.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Should: cloud burst option; usage telemetry.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Export: standard commercial ECCN path already cleared for HelixSim.</a:t>
            </a:r>
          </a:p>
        </p:txBody>
      </p:sp>
      <p:sp>
        <p:nvSpPr>
          <p:cNvPr id="100020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Implementation pla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1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Implementation plan</a:t>
            </a:r>
          </a:p>
        </p:txBody>
      </p:sp>
      <p:sp>
        <p:nvSpPr>
          <p:cNvPr id="100022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Week 0: PO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Week 2–3: seat deploy on farm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Week 4: utilization dashboard to Alex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Success: p95 queue wait &lt; 30 min during freeze windows.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Rollback: keep 10 emergency seats on prior contract short extension (costly).</a:t>
            </a:r>
          </a:p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6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17600"/>
                <a:gridCol w="2217600"/>
                <a:gridCol w="2217600"/>
                <a:gridCol w="2217600"/>
                <a:gridCol w="22176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TCO 3yr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Time-to-value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HelixSim +20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$720K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3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 lock-in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 — current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Switch to NovaSim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$640K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4–6 mo 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Short extend 6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$160K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1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Revisit mid-H2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 strategic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7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8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9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30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Approve HelixSim 3-year +20 seats; start PO by 2026-06-05.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Chain: Alex → Morgan → Finance → Procurement.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Lead time: 45 days vendor — do not wait until July.</a:t>
            </a:r>
          </a:p>
        </p:txBody>
      </p:sp>
      <p:sp>
        <p:nvSpPr>
          <p:cNvPr id="100031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2026-08-05T23:46:57Z</dcterms:created>
  <cp:lastModifiedBy>OfficeCLI</cp:lastModifiedBy>
  <dcterms:modified xsi:type="dcterms:W3CDTF">2026-08-05T23:46:57Z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2026-08-05T23:46:58Z</vt:lpwstr>
  </op:property>
</op:Properties>
</file>