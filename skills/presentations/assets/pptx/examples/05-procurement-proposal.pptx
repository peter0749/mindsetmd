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6a655ec85e14e0c" /><Relationship Type="http://schemas.openxmlformats.org/package/2006/relationships/metadata/core-properties" Target="/docProps/core.xml" Id="Rd95c190f53d346e3" /><Relationship Type="http://schemas.openxmlformats.org/officeDocument/2006/relationships/extended-properties" Target="/docProps/app.xml" Id="Rf185bc2a61cf4e60" /><Relationship Type="http://schemas.openxmlformats.org/officeDocument/2006/relationships/custom-properties" Target="/docProps/custom.xml" Id="R278a64d9f91945f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5cb5a18820604bb5"/>
  </p:notesMasterIdLst>
  <p:sldIdLst>
    <p:sldId id="256" r:id="R922a042cab9e4a56"/>
    <p:sldId id="257" r:id="Rc8a63c13af604363"/>
    <p:sldId id="258" r:id="R6a15db2cc20a4221"/>
    <p:sldId id="259" r:id="Rbc9ba80d1ad04ee9"/>
    <p:sldId id="260" r:id="Rdd58f172d2644fd3"/>
    <p:sldId id="261" r:id="R11f79a7efbf34133"/>
    <p:sldId id="262" r:id="Re8ab6183fcc94b19"/>
    <p:sldId id="263" r:id="R441b5b362f8d44a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22a042cab9e4a56" /><Relationship Type="http://schemas.openxmlformats.org/officeDocument/2006/relationships/notesMaster" Target="/ppt/notesMasters/notesMaster1.xml" Id="R5cb5a18820604bb5" /><Relationship Type="http://schemas.openxmlformats.org/officeDocument/2006/relationships/slide" Target="/ppt/slides/slide2.xml" Id="Rc8a63c13af604363" /><Relationship Type="http://schemas.openxmlformats.org/officeDocument/2006/relationships/slide" Target="/ppt/slides/slide3.xml" Id="R6a15db2cc20a4221" /><Relationship Type="http://schemas.openxmlformats.org/officeDocument/2006/relationships/slide" Target="/ppt/slides/slide4.xml" Id="Rbc9ba80d1ad04ee9" /><Relationship Type="http://schemas.openxmlformats.org/officeDocument/2006/relationships/slide" Target="/ppt/slides/slide5.xml" Id="Rdd58f172d2644fd3" /><Relationship Type="http://schemas.openxmlformats.org/officeDocument/2006/relationships/slide" Target="/ppt/slides/slide6.xml" Id="R11f79a7efbf34133" /><Relationship Type="http://schemas.openxmlformats.org/officeDocument/2006/relationships/slide" Target="/ppt/slides/slide7.xml" Id="Re8ab6183fcc94b19" /><Relationship Type="http://schemas.openxmlformats.org/officeDocument/2006/relationships/slide" Target="/ppt/slides/slide8.xml" Id="R441b5b362f8d44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b16f4586d66454d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2b477084d334646" /><Relationship Type="http://schemas.openxmlformats.org/officeDocument/2006/relationships/slide" Target="/ppt/slides/slide1.xml" Id="Re5e39f9828b34d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66d9415a4104a59" /><Relationship Type="http://schemas.openxmlformats.org/officeDocument/2006/relationships/slide" Target="/ppt/slides/slide2.xml" Id="R227344c25f374d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b5bb635c28a4c32" /><Relationship Type="http://schemas.openxmlformats.org/officeDocument/2006/relationships/slide" Target="/ppt/slides/slide3.xml" Id="R3f2cbc77763d41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793438e3e484303" /><Relationship Type="http://schemas.openxmlformats.org/officeDocument/2006/relationships/slide" Target="/ppt/slides/slide4.xml" Id="R321b2c53d4a34c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2e3c5b287764281" /><Relationship Type="http://schemas.openxmlformats.org/officeDocument/2006/relationships/slide" Target="/ppt/slides/slide5.xml" Id="Rf124d1abd07147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dc03a84cd344107" /><Relationship Type="http://schemas.openxmlformats.org/officeDocument/2006/relationships/slide" Target="/ppt/slides/slide6.xml" Id="R0eef1e926d8c43f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91dc5c229424257" /><Relationship Type="http://schemas.openxmlformats.org/officeDocument/2006/relationships/slide" Target="/ppt/slides/slide7.xml" Id="Rcfc3183afa1745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245d4bc62c04079" /><Relationship Type="http://schemas.openxmlformats.org/officeDocument/2006/relationships/slide" Target="/ppt/slides/slide8.xml" Id="R4342228343f141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Renew HelixSim with expand to match farm and freeze queues.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Vendor TCO options + procurement lead time</a:t>
            </a:r>
          </a:p>
          <a:p xmlns:a="http://schemas.openxmlformats.org/drawingml/2006/main">
            <a:r>
              <a:rPr lang="en-US"/>
              <a:t>Industry EDA/tool buy case shape (must/should + lead time): https://www.em-tools.io/engineering-manager-responsibilities/headcount-planning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Vendor TCO options + procurement lead time</a:t>
            </a:r>
          </a:p>
          <a:p xmlns:a="http://schemas.openxmlformats.org/drawingml/2006/main">
            <a:r>
              <a:rPr lang="en-US"/>
              <a:t>Industry EDA/tool buy case shape (must/should + lead time): https://www.em-tools.io/engineering-manager-responsibilities/headcount-planning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Recommend=HelixSim 3-year +20 seats; start PO immediately. by 2026-06-05 (includes vendor lead time).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Date includes lead time.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Musts first.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Adoption metrics explicit.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Date includes lead time.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bed670fae941e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f856e82f2d49c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a25254c25e423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424173ddfb4ff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78da5771424ebe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f7d1d4b258bd46e6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e3ff99cab4b69" /><Relationship Type="http://schemas.openxmlformats.org/officeDocument/2006/relationships/notesSlide" Target="/ppt/notesSlides/notesSlide1.xml" Id="R164e57bd790646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b174267aa48f7" /><Relationship Type="http://schemas.openxmlformats.org/officeDocument/2006/relationships/notesSlide" Target="/ppt/notesSlides/notesSlide2.xml" Id="R9a25904d164e499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7b5446b1549de" /><Relationship Type="http://schemas.openxmlformats.org/officeDocument/2006/relationships/notesSlide" Target="/ppt/notesSlides/notesSlide3.xml" Id="Rbc902f2d0b694a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60ab0c397e4c38" /><Relationship Type="http://schemas.openxmlformats.org/officeDocument/2006/relationships/notesSlide" Target="/ppt/notesSlides/notesSlide4.xml" Id="Rb800d820e57741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99c037cd24a24" /><Relationship Type="http://schemas.openxmlformats.org/officeDocument/2006/relationships/notesSlide" Target="/ppt/notesSlides/notesSlide5.xml" Id="R4cbc87ae57ee4a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377f5431704364" /><Relationship Type="http://schemas.openxmlformats.org/officeDocument/2006/relationships/notesSlide" Target="/ppt/notesSlides/notesSlide6.xml" Id="Re66e12a990bc4f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f21b522f264282" /><Relationship Type="http://schemas.openxmlformats.org/officeDocument/2006/relationships/notesSlide" Target="/ppt/notesSlides/notesSlide7.xml" Id="R31eecbd53d2441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e70178c3a42d0" /><Relationship Type="http://schemas.openxmlformats.org/officeDocument/2006/relationships/notesSlide" Target="/ppt/notesSlides/notesSlide8.xml" Id="R9756bf1aa27e4a66" /></Relationships>
</file>

<file path=ppt/slides/slide1.xml><?xml version="1.0" encoding="utf-8"?>
<p:sld xmlns:p="http://schemas.openxmlformats.org/presentationml/2006/main">
  <p:cSld name="Logic sim license renewal + expand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05  ·  EXAMPLE  ·  SIM LICENSE RENEWAL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Logic sim license renewal + expand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Vendor HelixSim 3-year renewal aligned to Aurora H2 + next node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Vendor TCO options + procurement lead time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Vendor TCO options + procurement lead time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Industry EDA/tool buy case shape (must/should + lead time)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https://www.em-tools.io/engineering-manager-responsibilities/headcount-planning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 (with procurement/finance)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→ Finance → Procurement chain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Eng + finance + procurement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HelixSim contract ends 2026-07-31. Farm expand (deck 04 ask by 5/30) needs concurrent seats. Vendor lead time ~45 days → decide by 2026-06-05 or miss deploy before H2 peak.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Late PO = sim queue explosion during revB/sample support; switching to NovaSim costs 4–6 months port.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HelixSim 3yr +20 (REC) vs switch NovaSim vs short 6-mo extend.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HelixSim 3-year +20 seats; start PO immediately.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Seats land ~3 weeks after PO; p95 queue target &lt;30 min in freeze windows.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Short extend is expensive band-aid; switch burns schedule.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2026-06-05 (includes vendor lead time)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04 farm expand decision (5/25–5/30); 02 silicon/sample load growth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07 H2 roadmap assumes seats available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renew HelixSim 3yr +20 sea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renew HelixSim 3yr +20 seats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HelixSim  ·  Term: 3yr  ·  Decide by 2026-06-05 (45-day vendor lead)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Buy: HelixSim concurrent licenses for RTL/gate sim (Aurora + WiFi IP).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Why now: contract ends 2026-07-31; farm expand approved path (deck 04, ask by 5/30) needs seats.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/ late: sim queue &gt;&gt; overnight; H2 multi-program slips (post-sample).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Requirements (must / should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Requirements (must / should)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Must: SystemVerilog UVM; regress CLI; Asia support hours; quote ≤ budget envelope.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Should: cloud burst option; usage telemetry.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Export: standard commercial ECCN path already cleared for HelixSim.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Implementation pla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Implementation plan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0: PO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2–3: seat deploy on farm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Week 4: utilization dashboard to Alex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Success: p95 queue wait &lt; 30 min during freeze windows.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Rollback: keep 10 emergency seats on prior contract short extension (costly).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6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TCO 3yr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Time-to-value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HelixSim +20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$720K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3 weeks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 lock-in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— current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Switch to NovaSim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$640K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4–6 mo 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Short extend 6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$160K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1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Revisit mid-H2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 strategic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8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9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Approve HelixSim 3-year +20 seats; start PO by 2026-06-05.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Chain: Alex → Morgan → Finance → Procurement.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Lead time: 45 days vendor — do not wait until July.</a:t>
            </a:r>
          </a:p>
        </p:txBody>
      </p:sp>
      <p:sp>
        <p:nvSpPr>
          <p:cNvPr id="100031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2026-08-06T00:05:56Z</dcterms:created>
  <cp:lastModifiedBy>OfficeCLI</cp:lastModifiedBy>
  <dcterms:modified xsi:type="dcterms:W3CDTF">2026-08-06T00:05:56Z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2026-08-06T00:05:57Z</vt:lpwstr>
  </op:property>
</op:Properties>
</file>