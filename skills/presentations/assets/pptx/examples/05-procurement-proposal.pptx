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0399527ba434db0" /><Relationship Type="http://schemas.openxmlformats.org/package/2006/relationships/metadata/core-properties" Target="/docProps/core.xml" Id="R3b58fb84ec634efd" /><Relationship Type="http://schemas.openxmlformats.org/officeDocument/2006/relationships/extended-properties" Target="/docProps/app.xml" Id="Rdc02ba6e34084141" /><Relationship Type="http://schemas.openxmlformats.org/officeDocument/2006/relationships/custom-properties" Target="/docProps/custom.xml" Id="R0614d2771915407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1b3a3096a6fb4329"/>
  </p:notesMasterIdLst>
  <p:sldIdLst>
    <p:sldId id="256" r:id="R9d310352f2d74779"/>
    <p:sldId id="257" r:id="Rd30dad547da14f4d"/>
    <p:sldId id="258" r:id="R3c18af5b51a14116"/>
    <p:sldId id="259" r:id="Ree956f73b20343ec"/>
    <p:sldId id="260" r:id="Re9acbee6ceb04837"/>
    <p:sldId id="261" r:id="Rf577324d0b894af7"/>
    <p:sldId id="262" r:id="Re24c7e1e91324581"/>
    <p:sldId id="263" r:id="R06aac92ba053452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9d310352f2d74779" /><Relationship Type="http://schemas.openxmlformats.org/officeDocument/2006/relationships/notesMaster" Target="/ppt/notesMasters/notesMaster1.xml" Id="R1b3a3096a6fb4329" /><Relationship Type="http://schemas.openxmlformats.org/officeDocument/2006/relationships/slide" Target="/ppt/slides/slide2.xml" Id="Rd30dad547da14f4d" /><Relationship Type="http://schemas.openxmlformats.org/officeDocument/2006/relationships/slide" Target="/ppt/slides/slide3.xml" Id="R3c18af5b51a14116" /><Relationship Type="http://schemas.openxmlformats.org/officeDocument/2006/relationships/slide" Target="/ppt/slides/slide4.xml" Id="Ree956f73b20343ec" /><Relationship Type="http://schemas.openxmlformats.org/officeDocument/2006/relationships/slide" Target="/ppt/slides/slide5.xml" Id="Re9acbee6ceb04837" /><Relationship Type="http://schemas.openxmlformats.org/officeDocument/2006/relationships/slide" Target="/ppt/slides/slide6.xml" Id="Rf577324d0b894af7" /><Relationship Type="http://schemas.openxmlformats.org/officeDocument/2006/relationships/slide" Target="/ppt/slides/slide7.xml" Id="Re24c7e1e91324581" /><Relationship Type="http://schemas.openxmlformats.org/officeDocument/2006/relationships/slide" Target="/ppt/slides/slide8.xml" Id="R06aac92ba05345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e2b38f9bd7f4df7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d0b29fb305848e2" /><Relationship Type="http://schemas.openxmlformats.org/officeDocument/2006/relationships/slide" Target="/ppt/slides/slide1.xml" Id="R3f436e5bb89c42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db3b1d266ed498b" /><Relationship Type="http://schemas.openxmlformats.org/officeDocument/2006/relationships/slide" Target="/ppt/slides/slide2.xml" Id="R6233d3b309ae40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460f009a3c44658" /><Relationship Type="http://schemas.openxmlformats.org/officeDocument/2006/relationships/slide" Target="/ppt/slides/slide3.xml" Id="R0b55daff5ccc45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ef2156768e2403c" /><Relationship Type="http://schemas.openxmlformats.org/officeDocument/2006/relationships/slide" Target="/ppt/slides/slide4.xml" Id="Rc18ab9d80623446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434653132b74eed" /><Relationship Type="http://schemas.openxmlformats.org/officeDocument/2006/relationships/slide" Target="/ppt/slides/slide5.xml" Id="R1d52f5e82de348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3347b1603a14604" /><Relationship Type="http://schemas.openxmlformats.org/officeDocument/2006/relationships/slide" Target="/ppt/slides/slide6.xml" Id="R78d21aa2de684d5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b56bbe5cb494440" /><Relationship Type="http://schemas.openxmlformats.org/officeDocument/2006/relationships/slide" Target="/ppt/slides/slide7.xml" Id="R8d64a0a374994d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3b1d364d7704740" /><Relationship Type="http://schemas.openxmlformats.org/officeDocument/2006/relationships/slide" Target="/ppt/slides/slide8.xml" Id="R962c318773834e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Renew HelixSim with expand to match farm and freeze queues.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Vendor TCO options + procurement lead time</a:t>
            </a:r>
          </a:p>
          <a:p xmlns:a="http://schemas.openxmlformats.org/drawingml/2006/main">
            <a:r>
              <a:rPr lang="en-US"/>
              <a:t>Industry EDA/tool buy case shape (must/should + lead time): https://www.em-tools.io/engineering-manager-responsibilities/headcount-planning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Vendor TCO options + procurement lead time</a:t>
            </a:r>
          </a:p>
          <a:p xmlns:a="http://schemas.openxmlformats.org/drawingml/2006/main">
            <a:r>
              <a:rPr lang="en-US"/>
              <a:t>Industry EDA/tool buy case shape (must/should + lead time): https://www.em-tools.io/engineering-manager-responsibilities/headcount-planning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Recommend=HelixSim 3-year +20 seats; start PO immediately. by 2026-06-05 (includes vendor lead time).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Date includes lead time.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Musts first.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Adoption metrics explicit.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Date includes lead time.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364168bb43477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46fe44b697441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dd793fc1624cc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7e1e0715b24bb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2ac05bf5ac4700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5582b7f94ba2410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70175d6b6048b5" /><Relationship Type="http://schemas.openxmlformats.org/officeDocument/2006/relationships/notesSlide" Target="/ppt/notesSlides/notesSlide1.xml" Id="R82cd267af9cd4ae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6efbd4cfec48dd" /><Relationship Type="http://schemas.openxmlformats.org/officeDocument/2006/relationships/notesSlide" Target="/ppt/notesSlides/notesSlide2.xml" Id="Rc85ce64a83de4b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0107a46bae4d01" /><Relationship Type="http://schemas.openxmlformats.org/officeDocument/2006/relationships/notesSlide" Target="/ppt/notesSlides/notesSlide3.xml" Id="Rab6ae1b2e6b142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4b9c5d8b2458a" /><Relationship Type="http://schemas.openxmlformats.org/officeDocument/2006/relationships/notesSlide" Target="/ppt/notesSlides/notesSlide4.xml" Id="R8fcfc6cc9f484c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77d194ba4444a9" /><Relationship Type="http://schemas.openxmlformats.org/officeDocument/2006/relationships/notesSlide" Target="/ppt/notesSlides/notesSlide5.xml" Id="Rec14ca8bbb4d43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0ba16145964b23" /><Relationship Type="http://schemas.openxmlformats.org/officeDocument/2006/relationships/notesSlide" Target="/ppt/notesSlides/notesSlide6.xml" Id="R9e3e55ed350f457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94a80fb51a4bf9" /><Relationship Type="http://schemas.openxmlformats.org/officeDocument/2006/relationships/notesSlide" Target="/ppt/notesSlides/notesSlide7.xml" Id="Rc2a26e522f6e401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deef6414904fb9" /><Relationship Type="http://schemas.openxmlformats.org/officeDocument/2006/relationships/notesSlide" Target="/ppt/notesSlides/notesSlide8.xml" Id="R9a46535d0c534f63" /></Relationships>
</file>

<file path=ppt/slides/slide1.xml><?xml version="1.0" encoding="utf-8"?>
<p:sld xmlns:p="http://schemas.openxmlformats.org/presentationml/2006/main">
  <p:cSld name="Logic sim license renewal + expand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05  ·  EXAMPLE  ·  SIM LICENSE RENEWAL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Logic sim license renewal + expand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Vendor HelixSim 3-year renewal aligned to Aurora H2 + next node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Vendor TCO options + procurement lead time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Vendor TCO options + procurement lead time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Industry EDA/tool buy case shape (must/should + lead time)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https://www.em-tools.io/engineering-manager-responsibilities/headcount-planning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 (with procurement/finance)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→ Finance → Procurement chain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Eng + finance + procurement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HelixSim contract ends 2026-07-31. Farm expand (deck 04 ask by 5/30) needs concurrent seats. Vendor lead time ~45 days → decide by 2026-06-05 or miss deploy before H2 peak.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Late PO = sim queue explosion during revB/sample support; switching to NovaSim costs 4–6 months port.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HelixSim 3yr +20 (REC) vs switch NovaSim vs short 6-mo extend.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HelixSim 3-year +20 seats; start PO immediately.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Seats land ~3 weeks after PO; p95 queue target &lt;30 min in freeze windows.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Short extend is expensive band-aid; switch burns schedule.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2026-06-05 (includes vendor lead time)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04 farm expand decision (5/25–5/30); 02 silicon/sample load growth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07 H2 roadmap assumes seats available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renew HelixSim 3yr +20 sea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renew HelixSim 3yr +20 seats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Recommend: HelixSim  ·  Term: 3yr  ·  Decide by 2026-06-05 (45-day vendor lead)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Buy: HelixSim concurrent licenses for RTL/gate sim (Aurora + WiFi IP).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Why now: contract ends 2026-07-31; farm expand approved path (deck 04, ask by 5/30) needs seats.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no / late: sim queue &gt;&gt; overnight; H2 multi-program slips (post-sample).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Requirements (must / should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Requirements (must / should)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Must: SystemVerilog UVM; regress CLI; Asia support hours; quote ≤ budget envelope.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Should: cloud burst option; usage telemetry.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Export: standard commercial ECCN path already cleared for HelixSim.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Implementation pla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Implementation plan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 0: PO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 2–3: seat deploy on farm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 4: utilization dashboard to Alex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Success: p95 queue wait &lt; 30 min during freeze windows.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Rollback: keep 10 emergency seats on prior contract short extension (costly).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6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17600"/>
                <a:gridCol w="2217600"/>
                <a:gridCol w="2217600"/>
                <a:gridCol w="2217600"/>
                <a:gridCol w="22176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TCO 3yr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Time-to-value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Fit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HelixSim +20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$720K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3 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 lock-in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— current 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Switch to NovaSim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$640K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4–6 mo 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schedule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Short extend 6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$160K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1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Revisit mid-H2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 strategic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8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9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Approve HelixSim 3-year +20 seats; start PO by 2026-06-05.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Chain: Alex → Morgan → Finance → Procurement.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Lead time: 45 days vendor — do not wait until July.</a:t>
            </a:r>
          </a:p>
        </p:txBody>
      </p:sp>
      <p:sp>
        <p:nvSpPr>
          <p:cNvPr id="100031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2026-08-05T23:59:33Z</dcterms:created>
  <cp:lastModifiedBy>OfficeCLI</cp:lastModifiedBy>
  <dcterms:modified xsi:type="dcterms:W3CDTF">2026-08-05T23:59:33Z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2026-08-05T23:59:34Z</vt:lpwstr>
  </op:property>
</op:Properties>
</file>