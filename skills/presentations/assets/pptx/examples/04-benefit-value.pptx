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941a922d3964257" /><Relationship Type="http://schemas.openxmlformats.org/package/2006/relationships/metadata/core-properties" Target="/docProps/core.xml" Id="R7af8e70d4b2e4125" /><Relationship Type="http://schemas.openxmlformats.org/officeDocument/2006/relationships/extended-properties" Target="/docProps/app.xml" Id="Rfb5a9df79c604f54" /><Relationship Type="http://schemas.openxmlformats.org/officeDocument/2006/relationships/custom-properties" Target="/docProps/custom.xml" Id="R71a7529656a649c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7ef6cbc30dc40c8"/>
  </p:notesMasterIdLst>
  <p:sldIdLst>
    <p:sldId id="256" r:id="R7b5024cd8de6455a"/>
    <p:sldId id="257" r:id="R468862e77c7942b8"/>
    <p:sldId id="258" r:id="R1edb7e7de0034966"/>
    <p:sldId id="259" r:id="R911f998943af4f1a"/>
    <p:sldId id="260" r:id="Rd72ab90fc1cf4cc1"/>
    <p:sldId id="261" r:id="R1cb08d12ff464747"/>
    <p:sldId id="262" r:id="R780674fd7a5742b7"/>
    <p:sldId id="263" r:id="R1ff23d3c73484bce"/>
    <p:sldId id="264" r:id="R05cffe0bec83447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b5024cd8de6455a" /><Relationship Type="http://schemas.openxmlformats.org/officeDocument/2006/relationships/notesMaster" Target="/ppt/notesMasters/notesMaster1.xml" Id="R47ef6cbc30dc40c8" /><Relationship Type="http://schemas.openxmlformats.org/officeDocument/2006/relationships/slide" Target="/ppt/slides/slide2.xml" Id="R468862e77c7942b8" /><Relationship Type="http://schemas.openxmlformats.org/officeDocument/2006/relationships/slide" Target="/ppt/slides/slide3.xml" Id="R1edb7e7de0034966" /><Relationship Type="http://schemas.openxmlformats.org/officeDocument/2006/relationships/slide" Target="/ppt/slides/slide4.xml" Id="R911f998943af4f1a" /><Relationship Type="http://schemas.openxmlformats.org/officeDocument/2006/relationships/slide" Target="/ppt/slides/slide5.xml" Id="Rd72ab90fc1cf4cc1" /><Relationship Type="http://schemas.openxmlformats.org/officeDocument/2006/relationships/slide" Target="/ppt/slides/slide6.xml" Id="R1cb08d12ff464747" /><Relationship Type="http://schemas.openxmlformats.org/officeDocument/2006/relationships/slide" Target="/ppt/slides/slide7.xml" Id="R780674fd7a5742b7" /><Relationship Type="http://schemas.openxmlformats.org/officeDocument/2006/relationships/slide" Target="/ppt/slides/slide8.xml" Id="R1ff23d3c73484bce" /><Relationship Type="http://schemas.openxmlformats.org/officeDocument/2006/relationships/slide" Target="/ppt/slides/slide9.xml" Id="R05cffe0bec8344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f53ad049bc843a0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81bdbae7b104eee" /><Relationship Type="http://schemas.openxmlformats.org/officeDocument/2006/relationships/slide" Target="/ppt/slides/slide1.xml" Id="R4270f8bf572e4c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71a93791fe4e28" /><Relationship Type="http://schemas.openxmlformats.org/officeDocument/2006/relationships/slide" Target="/ppt/slides/slide2.xml" Id="Rdffb8e265c5c40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2b37f33f90145b7" /><Relationship Type="http://schemas.openxmlformats.org/officeDocument/2006/relationships/slide" Target="/ppt/slides/slide3.xml" Id="Rcb991e16f7cd4e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7b47def14f34a30" /><Relationship Type="http://schemas.openxmlformats.org/officeDocument/2006/relationships/slide" Target="/ppt/slides/slide4.xml" Id="R72e3b295c1f543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3d23f31ca34e48" /><Relationship Type="http://schemas.openxmlformats.org/officeDocument/2006/relationships/slide" Target="/ppt/slides/slide5.xml" Id="R17605209bb9641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7e24653d9141be" /><Relationship Type="http://schemas.openxmlformats.org/officeDocument/2006/relationships/slide" Target="/ppt/slides/slide6.xml" Id="R3bf29ed1af5d4b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c7b0784c31648ce" /><Relationship Type="http://schemas.openxmlformats.org/officeDocument/2006/relationships/slide" Target="/ppt/slides/slide7.xml" Id="R42583d28b6e046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0afa25109b94948" /><Relationship Type="http://schemas.openxmlformats.org/officeDocument/2006/relationships/slide" Target="/ppt/slides/slide8.xml" Id="R17a93edce4fd43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04270df6f8449af" /><Relationship Type="http://schemas.openxmlformats.org/officeDocument/2006/relationships/slide" Target="/ppt/slides/slide9.xml" Id="R7017db65555b43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DV farm ROI → expand seats for H2 multi-program.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Recommend=EXPAND +20 seats; ~5-month payback envelope on avoided spin risk (assumptions labeled). by 2026-05-30 finance window.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Schedule = money on spin.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Causal language carefully: farm contributed; not sole cause.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envelope.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a0639e73a6444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6cdf8154e54a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16b0398c94c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3435d576844e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46ed6c430457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e1b418bc7af4f3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0b19745444151" /><Relationship Type="http://schemas.openxmlformats.org/officeDocument/2006/relationships/notesSlide" Target="/ppt/notesSlides/notesSlide1.xml" Id="R04414fdd4a9047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d714c41d14357" /><Relationship Type="http://schemas.openxmlformats.org/officeDocument/2006/relationships/notesSlide" Target="/ppt/notesSlides/notesSlide2.xml" Id="Rdb6407f997f642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5647f6c7644e7" /><Relationship Type="http://schemas.openxmlformats.org/officeDocument/2006/relationships/notesSlide" Target="/ppt/notesSlides/notesSlide3.xml" Id="R7df2c247a77e48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59520b4444938" /><Relationship Type="http://schemas.openxmlformats.org/officeDocument/2006/relationships/notesSlide" Target="/ppt/notesSlides/notesSlide4.xml" Id="R0b29a24ff59040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da1fe59f44cdc" /><Relationship Type="http://schemas.openxmlformats.org/officeDocument/2006/relationships/notesSlide" Target="/ppt/notesSlides/notesSlide5.xml" Id="R16e762b1abb94a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7afd9028149d7" /><Relationship Type="http://schemas.openxmlformats.org/officeDocument/2006/relationships/notesSlide" Target="/ppt/notesSlides/notesSlide6.xml" Id="R481faf381d7a41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b7d25801540e2" /><Relationship Type="http://schemas.openxmlformats.org/officeDocument/2006/relationships/notesSlide" Target="/ppt/notesSlides/notesSlide7.xml" Id="R38eb87118e0d41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bd0f46b6f47ba" /><Relationship Type="http://schemas.openxmlformats.org/officeDocument/2006/relationships/notesSlide" Target="/ppt/notesSlides/notesSlide8.xml" Id="R3b5c7026941d49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dc63044a54568" /><Relationship Type="http://schemas.openxmlformats.org/officeDocument/2006/relationships/notesSlide" Target="/ppt/notesSlides/notesSlide9.xml" Id="Rc2fb56bbaacc4a3d" /></Relationships>
</file>

<file path=ppt/slides/slide1.xml><?xml version="1.0" encoding="utf-8"?>
<p:sld xmlns:p="http://schemas.openxmlformats.org/presentationml/2006/main">
  <p:cSld name="Shared DV farm — value after 2 quarter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EXAMPLE  ·  SHARED DV FARM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Shared DV farm — value after 2 quarters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Continue vs expand license seats for Aurora + next program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Platform / shared infra investment impact chain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Platform / shared infra investment impact chain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/ impact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strategy as leverage (not ticket dumps)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(with farm utilization data)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+ Finance (seat budget)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finance partner, program leads sharing the farm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Shared DV farm has run ~2 quarters. Median regression 18h→6h. Pre-silicon farm loops helped catch DDR training bug before A0. Deck presented ~2026-05-25 AFTER freeze 4/10 and day-3 boot 5/15 (lagging KPIs already real).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H2 multi-program load (Aurora revB + WiFi IP) will re-queue the farm without +20 seats; freeze-class slips return.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Continue only vs Expand +20 seats (REC) vs shrink.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EXPAND +20 seats; ~5-month payback envelope on avoided spin risk (assumptions labeled).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PO path with deck 05 HelixSim seats; H2 capacity honest.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Queue wait spikes in H2; sample/revB compete for sim slots.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2026-05-30 finance window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silicon success used farm; 01 freeze held partly due to faster regressions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05 procurement renews/expands sim licenses to match seats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continue farm; expand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continue farm; expand +20 seats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EXPAND  ·  Payback ~5 months on avoided spin risk (assumptions labeled)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Presentation window: ~2026-05-25 (after freeze 4/10 and day-3 boot 5/15).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1.5 eng-q build + $180K/yr licenses (example dollars).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Benefit: regression wall-clock 18h → 6h; enabled extra sleep-exit coverage that caught AON bug pre-silicon.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expand seat pool +20 for H2 multi-program use (decide by 2026-05-30).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Pre-farm: overnight regressions serialized Aurora + WiFi IP tests; freezes slipped when queues stacked.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Business lever: schedule integrity for tape-out and sample commits — not vanity CI.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Farm online → 3× parallel regressions → more loops per week → DDR training bug found on FPGA+farm combo → avoided likely day-1 hang on A0.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Leading metric: median regression 6h (n=12 weeks through 2026-05-20).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Lagging (already realized before this deck): RTL freeze held 2026-04-10; day-3 boot 2026-05-15.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Without farm: estimate +2–3 weeks freeze pressure (range, not point).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Will not claim: full spin cost saved as certainty; only risk reduction with labeled assumption ($2–4M spin class, 15–25% probability avoided — planning range).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seats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$180K/yr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6h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Aurora + next 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+$60K/yr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Queue wait 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 / shrink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night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−$40K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risk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Expand +20 seats for H2.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(budget) / Alex (utilization report quarterly).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2026-05-30 finance window (after this 5/25 readout; before H2 planning).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 sheet: DOC-FARM-ROI-04.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Note: lagging KPIs (4/10 freeze, 5/15 boot) pre-date the ask deadline.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2026-08-05T23:59:30Z</dcterms:created>
  <cp:lastModifiedBy>OfficeCLI</cp:lastModifiedBy>
  <dcterms:modified xsi:type="dcterms:W3CDTF">2026-08-05T23:59:30Z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2026-08-05T23:59:31Z</vt:lpwstr>
  </op:property>
</op:Properties>
</file>