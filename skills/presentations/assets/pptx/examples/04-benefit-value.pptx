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138266f73d2453e" /><Relationship Type="http://schemas.openxmlformats.org/package/2006/relationships/metadata/core-properties" Target="/docProps/core.xml" Id="R79239f4996fc4985" /><Relationship Type="http://schemas.openxmlformats.org/officeDocument/2006/relationships/extended-properties" Target="/docProps/app.xml" Id="R2c9209818e1c4127" /><Relationship Type="http://schemas.openxmlformats.org/officeDocument/2006/relationships/custom-properties" Target="/docProps/custom.xml" Id="R34553395867048e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f5f381d27c43438a"/>
  </p:notesMasterIdLst>
  <p:sldIdLst>
    <p:sldId id="256" r:id="Rdfbf30943bc04779"/>
    <p:sldId id="257" r:id="Rd28cbeca0b674d49"/>
    <p:sldId id="258" r:id="R51b944d86b404645"/>
    <p:sldId id="259" r:id="R3ae50cea2c9b4248"/>
    <p:sldId id="260" r:id="Rc69f3dfdac6448c4"/>
    <p:sldId id="261" r:id="R2b964038a3074da1"/>
    <p:sldId id="262" r:id="R7dcf2a710bcd4453"/>
    <p:sldId id="263" r:id="R161fab1e3ade496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dfbf30943bc04779" /><Relationship Type="http://schemas.openxmlformats.org/officeDocument/2006/relationships/notesMaster" Target="/ppt/notesMasters/notesMaster1.xml" Id="Rf5f381d27c43438a" /><Relationship Type="http://schemas.openxmlformats.org/officeDocument/2006/relationships/slide" Target="/ppt/slides/slide2.xml" Id="Rd28cbeca0b674d49" /><Relationship Type="http://schemas.openxmlformats.org/officeDocument/2006/relationships/slide" Target="/ppt/slides/slide3.xml" Id="R51b944d86b404645" /><Relationship Type="http://schemas.openxmlformats.org/officeDocument/2006/relationships/slide" Target="/ppt/slides/slide4.xml" Id="R3ae50cea2c9b4248" /><Relationship Type="http://schemas.openxmlformats.org/officeDocument/2006/relationships/slide" Target="/ppt/slides/slide5.xml" Id="Rc69f3dfdac6448c4" /><Relationship Type="http://schemas.openxmlformats.org/officeDocument/2006/relationships/slide" Target="/ppt/slides/slide6.xml" Id="R2b964038a3074da1" /><Relationship Type="http://schemas.openxmlformats.org/officeDocument/2006/relationships/slide" Target="/ppt/slides/slide7.xml" Id="R7dcf2a710bcd4453" /><Relationship Type="http://schemas.openxmlformats.org/officeDocument/2006/relationships/slide" Target="/ppt/slides/slide8.xml" Id="R161fab1e3ade49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ed9679bd7c24de0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52b22a73aeb4609" /><Relationship Type="http://schemas.openxmlformats.org/officeDocument/2006/relationships/slide" Target="/ppt/slides/slide1.xml" Id="Rcce0764ec6cc41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5720cfcf68d428e" /><Relationship Type="http://schemas.openxmlformats.org/officeDocument/2006/relationships/slide" Target="/ppt/slides/slide2.xml" Id="R671e9447561c40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8ab1367896d4b70" /><Relationship Type="http://schemas.openxmlformats.org/officeDocument/2006/relationships/slide" Target="/ppt/slides/slide3.xml" Id="R3c80ab2e2604445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60a55d6cc3c443e" /><Relationship Type="http://schemas.openxmlformats.org/officeDocument/2006/relationships/slide" Target="/ppt/slides/slide4.xml" Id="R7419228a85e547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84f31bfd52a4dd6" /><Relationship Type="http://schemas.openxmlformats.org/officeDocument/2006/relationships/slide" Target="/ppt/slides/slide5.xml" Id="R48f7dc7222294be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12e0ccad8184f6c" /><Relationship Type="http://schemas.openxmlformats.org/officeDocument/2006/relationships/slide" Target="/ppt/slides/slide6.xml" Id="R281baf4bf9af49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3632cf4f83f43b0" /><Relationship Type="http://schemas.openxmlformats.org/officeDocument/2006/relationships/slide" Target="/ppt/slides/slide7.xml" Id="R46eeaf801039444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25f239468e44a3d" /><Relationship Type="http://schemas.openxmlformats.org/officeDocument/2006/relationships/slide" Target="/ppt/slides/slide8.xml" Id="Rc331b3cb798641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DV farm ROI → expand seats for H2 multi-program.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Platform / shared infra investment impact chain</a:t>
            </a:r>
          </a:p>
          <a:p xmlns:a="http://schemas.openxmlformats.org/drawingml/2006/main">
            <a:r>
              <a:rPr lang="en-US"/>
              <a:t>EM Tools — executive communication / impact framing: https://www.em-tools.io/engineering-manager-responsibilities/executive-communication</a:t>
            </a:r>
          </a:p>
          <a:p xmlns:a="http://schemas.openxmlformats.org/drawingml/2006/main">
            <a:r>
              <a:rPr lang="en-US"/>
              <a:t>StaffEng — strategy as leverage (not ticket dumps):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Platform / shared infra investment impact chain</a:t>
            </a:r>
          </a:p>
          <a:p xmlns:a="http://schemas.openxmlformats.org/drawingml/2006/main">
            <a:r>
              <a:rPr lang="en-US"/>
              <a:t>EM Tools — executive communication / impact framing: https://www.em-tools.io/engineering-manager-responsibilities/executive-communication</a:t>
            </a:r>
          </a:p>
          <a:p xmlns:a="http://schemas.openxmlformats.org/drawingml/2006/main">
            <a:r>
              <a:rPr lang="en-US"/>
              <a:t>StaffEng — strategy as leverage (not ticket dumps):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Portfolio decision with labeled assumptions.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Schedule = money on spin.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Causal language carefully: farm contributed; not sole cause.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Honest envelope.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Portfolio decision with labeled assumptions.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6f4830b97e410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2ee3129f964dd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4b75f27d474c8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efcd6b2f95448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234abb61ed4367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eddc465059de4192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26fa3d8a32491d" /><Relationship Type="http://schemas.openxmlformats.org/officeDocument/2006/relationships/notesSlide" Target="/ppt/notesSlides/notesSlide1.xml" Id="R2e4a9fa2a6b340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3601f8134e4dfb" /><Relationship Type="http://schemas.openxmlformats.org/officeDocument/2006/relationships/notesSlide" Target="/ppt/notesSlides/notesSlide2.xml" Id="R2e712f7bf78f43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d4baf27f1d441a" /><Relationship Type="http://schemas.openxmlformats.org/officeDocument/2006/relationships/notesSlide" Target="/ppt/notesSlides/notesSlide3.xml" Id="R38421adff48f48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14a7d4c9464df4" /><Relationship Type="http://schemas.openxmlformats.org/officeDocument/2006/relationships/notesSlide" Target="/ppt/notesSlides/notesSlide4.xml" Id="Ra995d516cd7148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0309cdc4c3477e" /><Relationship Type="http://schemas.openxmlformats.org/officeDocument/2006/relationships/notesSlide" Target="/ppt/notesSlides/notesSlide5.xml" Id="R3dba48c376234a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0d73aa1fb14a2f" /><Relationship Type="http://schemas.openxmlformats.org/officeDocument/2006/relationships/notesSlide" Target="/ppt/notesSlides/notesSlide6.xml" Id="R37a5a7f30f314a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63b414588244bf" /><Relationship Type="http://schemas.openxmlformats.org/officeDocument/2006/relationships/notesSlide" Target="/ppt/notesSlides/notesSlide7.xml" Id="R6dc2686c5b1e4c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9bac00dea14a5f" /><Relationship Type="http://schemas.openxmlformats.org/officeDocument/2006/relationships/notesSlide" Target="/ppt/notesSlides/notesSlide8.xml" Id="Rcd7c51e5fe3d4baa" /></Relationships>
</file>

<file path=ppt/slides/slide1.xml><?xml version="1.0" encoding="utf-8"?>
<p:sld xmlns:p="http://schemas.openxmlformats.org/presentationml/2006/main">
  <p:cSld name="Shared DV farm — value after 2 quarters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04  ·  EXAMPLE  ·  SHARED DV FARM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Shared DV farm — value after 2 quarters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Continue vs expand license seats for Aurora + next program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Platform / shared infra investment impact chain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Platform / shared infra investment impact chain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executive communication / impact framing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https://www.em-tools.io/engineering-manager-responsibilities/executive-communication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StaffEng — strategy as leverage (not ticket dumps)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https://staffeng.com/guides/engineering-strategy/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BLUF — continue farm; expand +20 sea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continue farm; expand +20 seats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EXPAND  ·  Payback ~5 months on avoided spin risk (assumptions labeled)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Presentation window: ~2026-05-25 (after freeze 4/10 and day-3 boot 5/15).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Investment: 1.5 eng-q build + $180K/yr licenses (example dollars).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Benefit: regression wall-clock 18h → 6h; enabled extra sleep-exit coverage that caught AON bug pre-silicon.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expand seat pool +20 for H2 multi-program use (decide by 2026-05-30).</a:t>
            </a:r>
          </a:p>
        </p:txBody>
      </p:sp>
      <p:sp>
        <p:nvSpPr>
          <p:cNvPr id="100013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usiness problem attacke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Business problem attacked</a:t>
            </a:r>
          </a:p>
        </p:txBody>
      </p:sp>
      <p:sp>
        <p:nvSpPr>
          <p:cNvPr id="10001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Pre-farm: overnight regressions serialized Aurora + WiFi IP tests; freezes slipped when queues stacked.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Business lever: schedule integrity for tape-out and sample commits — not vanity CI.</a:t>
            </a:r>
          </a:p>
        </p:txBody>
      </p:sp>
      <p:sp>
        <p:nvSpPr>
          <p:cNvPr id="10001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Impact chai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Impact chain</a:t>
            </a:r>
          </a:p>
        </p:txBody>
      </p:sp>
      <p:sp>
        <p:nvSpPr>
          <p:cNvPr id="100018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Farm online → 3× parallel regressions → more loops per week → DDR training bug found on FPGA+farm combo → avoided likely day-1 hang on A0.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Leading metric: median regression 6h (n=12 weeks through 2026-05-20).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Lagging (already realized before this deck): RTL freeze held 2026-04-10; day-3 boot 2026-05-15.</a:t>
            </a:r>
          </a:p>
        </p:txBody>
      </p:sp>
      <p:sp>
        <p:nvSpPr>
          <p:cNvPr id="100019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Counterfactual &amp; what we will not claim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0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Counterfactual &amp; what we will not claim</a:t>
            </a:r>
          </a:p>
        </p:txBody>
      </p:sp>
      <p:sp>
        <p:nvSpPr>
          <p:cNvPr id="100021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Without farm: estimate +2–3 weeks freeze pressure (range, not point).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Will not claim: full spin cost saved as certainty; only risk reduction with labeled assumption ($2–4M spin class, 15–25% probability avoided — planning range).</a:t>
            </a:r>
          </a:p>
        </p:txBody>
      </p:sp>
      <p:sp>
        <p:nvSpPr>
          <p:cNvPr id="100022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5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Expected lift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Current seats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$180K/yr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Sustain 6h 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Expand +20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Aurora + next SoC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+$60K/yr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Queue wait −40%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Stop / shrink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Cut night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−$40K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Freeze risk returns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9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Decision: Approve Expand +20 seats for H2.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Morgan (budget) / Alex (utilization report quarterly).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2026-05-30 finance window (after this 5/25 readout; before H2 planning).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Assumption sheet: DOC-FARM-ROI-04.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Note: lagging KPIs (4/10 freeze, 5/15 boot) pre-date the ask deadline.</a:t>
            </a:r>
          </a:p>
        </p:txBody>
      </p:sp>
      <p:sp>
        <p:nvSpPr>
          <p:cNvPr id="100030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2026-08-05T23:41:29Z</dcterms:created>
  <cp:lastModifiedBy>OfficeCLI</cp:lastModifiedBy>
  <dcterms:modified xsi:type="dcterms:W3CDTF">2026-08-05T23:41:29Z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2026-08-05T23:41:30Z</vt:lpwstr>
  </op:property>
</op:Properties>
</file>