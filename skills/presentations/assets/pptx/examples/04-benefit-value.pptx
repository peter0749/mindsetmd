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054cbc438044831" /><Relationship Type="http://schemas.openxmlformats.org/package/2006/relationships/metadata/core-properties" Target="/docProps/core.xml" Id="R53335848ba524949" /><Relationship Type="http://schemas.openxmlformats.org/officeDocument/2006/relationships/extended-properties" Target="/docProps/app.xml" Id="R339fca2fad4d48c9" /><Relationship Type="http://schemas.openxmlformats.org/officeDocument/2006/relationships/custom-properties" Target="/docProps/custom.xml" Id="Re233fc1e286e490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9a7f4840cae49da"/>
  </p:notesMasterIdLst>
  <p:sldIdLst>
    <p:sldId id="256" r:id="Re75b44c50a474ec6"/>
    <p:sldId id="257" r:id="R2bf8bf9ffe844a8a"/>
    <p:sldId id="258" r:id="R6f8d725309764afe"/>
    <p:sldId id="259" r:id="R5bd6f20e1a3d4b12"/>
    <p:sldId id="260" r:id="R64ecf4ad07954e49"/>
    <p:sldId id="261" r:id="Rd25431714ee34519"/>
    <p:sldId id="262" r:id="Rc5a2140b72cb4476"/>
    <p:sldId id="263" r:id="R1d46ea3500444fd0"/>
    <p:sldId id="264" r:id="R07d343f89f4947e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75b44c50a474ec6" /><Relationship Type="http://schemas.openxmlformats.org/officeDocument/2006/relationships/notesMaster" Target="/ppt/notesMasters/notesMaster1.xml" Id="Rb9a7f4840cae49da" /><Relationship Type="http://schemas.openxmlformats.org/officeDocument/2006/relationships/slide" Target="/ppt/slides/slide2.xml" Id="R2bf8bf9ffe844a8a" /><Relationship Type="http://schemas.openxmlformats.org/officeDocument/2006/relationships/slide" Target="/ppt/slides/slide3.xml" Id="R6f8d725309764afe" /><Relationship Type="http://schemas.openxmlformats.org/officeDocument/2006/relationships/slide" Target="/ppt/slides/slide4.xml" Id="R5bd6f20e1a3d4b12" /><Relationship Type="http://schemas.openxmlformats.org/officeDocument/2006/relationships/slide" Target="/ppt/slides/slide5.xml" Id="R64ecf4ad07954e49" /><Relationship Type="http://schemas.openxmlformats.org/officeDocument/2006/relationships/slide" Target="/ppt/slides/slide6.xml" Id="Rd25431714ee34519" /><Relationship Type="http://schemas.openxmlformats.org/officeDocument/2006/relationships/slide" Target="/ppt/slides/slide7.xml" Id="Rc5a2140b72cb4476" /><Relationship Type="http://schemas.openxmlformats.org/officeDocument/2006/relationships/slide" Target="/ppt/slides/slide8.xml" Id="R1d46ea3500444fd0" /><Relationship Type="http://schemas.openxmlformats.org/officeDocument/2006/relationships/slide" Target="/ppt/slides/slide9.xml" Id="R07d343f89f49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58f829ae8b414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d033d8a2184b0a" /><Relationship Type="http://schemas.openxmlformats.org/officeDocument/2006/relationships/slide" Target="/ppt/slides/slide1.xml" Id="R03cb1e33de3e4f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818912f689b4ebb" /><Relationship Type="http://schemas.openxmlformats.org/officeDocument/2006/relationships/slide" Target="/ppt/slides/slide2.xml" Id="R478811ff3e5f42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89064759a5149e2" /><Relationship Type="http://schemas.openxmlformats.org/officeDocument/2006/relationships/slide" Target="/ppt/slides/slide3.xml" Id="R2f38c5c681e849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ea384ea15204b34" /><Relationship Type="http://schemas.openxmlformats.org/officeDocument/2006/relationships/slide" Target="/ppt/slides/slide4.xml" Id="R901cb5ffb63343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f94c9b6548477c" /><Relationship Type="http://schemas.openxmlformats.org/officeDocument/2006/relationships/slide" Target="/ppt/slides/slide5.xml" Id="R9fa5bdff5ec946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51dd3f062c419b" /><Relationship Type="http://schemas.openxmlformats.org/officeDocument/2006/relationships/slide" Target="/ppt/slides/slide6.xml" Id="Rb05b50fa63674c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f37ce17a9054570" /><Relationship Type="http://schemas.openxmlformats.org/officeDocument/2006/relationships/slide" Target="/ppt/slides/slide7.xml" Id="Racc38cd63d0a4e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2ceff0ebc3485a" /><Relationship Type="http://schemas.openxmlformats.org/officeDocument/2006/relationships/slide" Target="/ppt/slides/slide8.xml" Id="Rd5feefa4c47447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5e3d8ef108640b4" /><Relationship Type="http://schemas.openxmlformats.org/officeDocument/2006/relationships/slide" Target="/ppt/slides/slide9.xml" Id="R6284b6e2b33b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DV farm ROI → expand seats for H2 multi-program.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Platform / shared infra investment impact chain</a:t>
            </a:r>
          </a:p>
          <a:p xmlns:a="http://schemas.openxmlformats.org/drawingml/2006/main">
            <a:r>
              <a:rPr lang="en-US"/>
              <a:t>EM Tools — executive communication / impact framing: https://www.em-tools.io/engineering-manager-responsibilities/executive-communication</a:t>
            </a:r>
          </a:p>
          <a:p xmlns:a="http://schemas.openxmlformats.org/drawingml/2006/main">
            <a:r>
              <a:rPr lang="en-US"/>
              <a:t>StaffEng — strategy as leverage (not ticket dumps): https://staffeng.com/guides/engineering-strategy/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Platform / shared infra investment impact chain</a:t>
            </a:r>
          </a:p>
          <a:p xmlns:a="http://schemas.openxmlformats.org/drawingml/2006/main">
            <a:r>
              <a:rPr lang="en-US"/>
              <a:t>EM Tools — executive communication / impact framing: https://www.em-tools.io/engineering-manager-responsibilities/executive-communication</a:t>
            </a:r>
          </a:p>
          <a:p xmlns:a="http://schemas.openxmlformats.org/drawingml/2006/main">
            <a:r>
              <a:rPr lang="en-US"/>
              <a:t>StaffEng — strategy as leverage (not ticket dumps): https://staffeng.com/guides/engineering-strategy/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Agent/human: answer who/stakes/decision from this slide alone. Recommend=EXPAND +20 seats; ~5-month payback envelope on avoided spin risk (assumptions labeled). by 2026-05-30 finance window.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Portfolio decision with labeled assumptions.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Schedule = money on spin.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Causal language carefully: farm contributed; not sole cause.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Honest envelope.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Portfolio decision with labeled assumptions.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65980a84047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42181848e49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be001fe4248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381c0adab44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e1b94aa8f4d2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644b9dec3444ee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40f408c06445d" /><Relationship Type="http://schemas.openxmlformats.org/officeDocument/2006/relationships/notesSlide" Target="/ppt/notesSlides/notesSlide1.xml" Id="Rc289e68ef3cd4f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9a6afad204029" /><Relationship Type="http://schemas.openxmlformats.org/officeDocument/2006/relationships/notesSlide" Target="/ppt/notesSlides/notesSlide2.xml" Id="Rcc5fbe8bc9d043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1d4d3bba34ced" /><Relationship Type="http://schemas.openxmlformats.org/officeDocument/2006/relationships/notesSlide" Target="/ppt/notesSlides/notesSlide3.xml" Id="R1b81d02f63d3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57b7c48254c70" /><Relationship Type="http://schemas.openxmlformats.org/officeDocument/2006/relationships/notesSlide" Target="/ppt/notesSlides/notesSlide4.xml" Id="Ra50f74aa3ed54a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141290f594a68" /><Relationship Type="http://schemas.openxmlformats.org/officeDocument/2006/relationships/notesSlide" Target="/ppt/notesSlides/notesSlide5.xml" Id="R2dbce230c0c540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8395f71b422a" /><Relationship Type="http://schemas.openxmlformats.org/officeDocument/2006/relationships/notesSlide" Target="/ppt/notesSlides/notesSlide6.xml" Id="R9f2e0f26d8ca41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1b2f5784546b7" /><Relationship Type="http://schemas.openxmlformats.org/officeDocument/2006/relationships/notesSlide" Target="/ppt/notesSlides/notesSlide7.xml" Id="Rcc05127ccc7f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52f2517374ccc" /><Relationship Type="http://schemas.openxmlformats.org/officeDocument/2006/relationships/notesSlide" Target="/ppt/notesSlides/notesSlide8.xml" Id="R3b7d80f75dab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bc6fbdd974ead" /><Relationship Type="http://schemas.openxmlformats.org/officeDocument/2006/relationships/notesSlide" Target="/ppt/notesSlides/notesSlide9.xml" Id="Rdf0e19c1f76f4c39" /></Relationships>
</file>

<file path=ppt/slides/slide1.xml><?xml version="1.0" encoding="utf-8"?>
<p:sld xmlns:p="http://schemas.openxmlformats.org/presentationml/2006/main">
  <p:cSld name="Shared DV farm — value after 2 quarters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04  ·  EXAMPLE  ·  SHARED DV FARM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Shared DV farm — value after 2 quarters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Continue vs expand license seats for Aurora + next program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Platform / shared infra investment impact chain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Platform / shared infra investment impact chain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EM Tools — executive communication / impact framing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https://www.em-tools.io/engineering-manager-responsibilities/executive-communication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StaffEng — strategy as leverage (not ticket dumps)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https://staffeng.com/guides/engineering-strategy/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CONTENT TEMPLATE ONLY — do not copy visual design (colors, margins, fonts) as a brand system.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 · assets/README.md (agent notice)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Situation &amp; decision car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READ THIS BEFORE THE DETAILS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Situation &amp; decision card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24000"/>
            <a:ext cx="110880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Presenter: Alex Chen — EM, Atlas (with farm utilization data)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Decision-maker: Morgan Lee + Finance (seat budget)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Audience: VP Eng, finance partner, program leads sharing the farm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What just happened / context: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Shared DV farm has run ~2 quarters. Median regression 18h→6h. Pre-silicon farm loops helped catch DDR training bug before A0. Deck presented ~2026-05-25 AFTER freeze 4/10 and day-3 boot 5/15 (lagging KPIs already real).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Stakes if we get this wrong: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H2 multi-program load (Aurora revB + WiFi IP) will re-queue the farm without +20 seats; freeze-class slips return.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 needed: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Continue only vs Expand +20 seats (REC) vs shrink.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Recommendation: EXPAND +20 seats; ~5-month payback envelope on avoided spin risk (assumptions labeled).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YES: PO path with deck 05 HelixSim seats; H2 capacity honest.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/ delay: Queue wait spikes in H2; sample/revB compete for sim slots.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Decide by: 2026-05-30 finance window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prior: 02 silicon success used farm; 01 freeze held partly due to faster regressions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next: 05 procurement renews/expands sim licenses to match seats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BLUF — continue farm; expand +20 sea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continue farm; expand +20 seats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Recommend: EXPAND  ·  Payback ~5 months on avoided spin risk (assumptions labeled)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Presentation window: ~2026-05-25 (after freeze 4/10 and day-3 boot 5/15).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Investment: 1.5 eng-q build + $180K/yr licenses (example dollars).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Benefit: regression wall-clock 18h → 6h; enabled extra sleep-exit coverage that caught AON bug pre-silicon.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Ask: expand seat pool +20 for H2 multi-program use (decide by 2026-05-30).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Business problem attacke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Business problem attacked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Pre-farm: overnight regressions serialized Aurora + WiFi IP tests; freezes slipped when queues stacked.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Business lever: schedule integrity for tape-out and sample commits — not vanity CI.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Impact chai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Impact chain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Farm online → 3× parallel regressions → more loops per week → DDR training bug found on FPGA+farm combo → avoided likely day-1 hang on A0.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Leading metric: median regression 6h (n=12 weeks through 2026-05-20).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Lagging (already realized before this deck): RTL freeze held 2026-04-10; day-3 boot 2026-05-15.</a:t>
            </a:r>
          </a:p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Counterfactual &amp; what we will not claim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Counterfactual &amp; what we will not claim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Without farm: estimate +2–3 weeks freeze pressure (range, not point).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Will not claim: full spin cost saved as certainty; only risk reduction with labeled assumption ($2–4M spin class, 15–25% probability avoided — planning range).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9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Expected lift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Continue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Current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$180K/yr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Sustain 6h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Expand +20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Aurora + next SoC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+$60K/yr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Queue wait −40%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Stop / shrink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Cut night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−$40K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Freeze risk returns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3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32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33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Decision: Approve Expand +20 seats for H2.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Owner: Morgan (budget) / Alex (utilization report quarterly).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By: 2026-05-30 finance window (after this 5/25 readout; before H2 planning).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Assumption sheet: DOC-FARM-ROI-04.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Note: lagging KPIs (4/10 freeze, 5/15 boot) pre-date the ask deadline.</a:t>
            </a:r>
          </a:p>
        </p:txBody>
      </p:sp>
      <p:sp>
        <p:nvSpPr>
          <p:cNvPr id="100034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2026-08-06T00:05:51Z</dcterms:created>
  <cp:lastModifiedBy>OfficeCLI</cp:lastModifiedBy>
  <dcterms:modified xsi:type="dcterms:W3CDTF">2026-08-06T00:05:51Z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2026-08-06T00:05:52Z</vt:lpwstr>
  </op:property>
</op:Properties>
</file>