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d77eabdf3368460c" /><Relationship Type="http://schemas.openxmlformats.org/package/2006/relationships/metadata/core-properties" Target="/docProps/core.xml" Id="R0dbd0bdb9dc94b61" /><Relationship Type="http://schemas.openxmlformats.org/officeDocument/2006/relationships/extended-properties" Target="/docProps/app.xml" Id="R29cab802fde148fd" /><Relationship Type="http://schemas.openxmlformats.org/officeDocument/2006/relationships/custom-properties" Target="/docProps/custom.xml" Id="R0747262109e846e7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Id1"/>
  </p:sldMasterIdLst>
  <p:notesMasterIdLst>
    <p:notesMasterId r:id="R79d253e83d2e4c89"/>
  </p:notesMasterIdLst>
  <p:sldIdLst>
    <p:sldId id="256" r:id="Rc20e8880d84046d9"/>
    <p:sldId id="257" r:id="R9db4303f31104caf"/>
    <p:sldId id="258" r:id="Rd91c870a7a4f4575"/>
    <p:sldId id="259" r:id="R6ff9ad4b802741f8"/>
    <p:sldId id="260" r:id="R1f5c475af404479d"/>
    <p:sldId id="261" r:id="Rff24c1538e534da6"/>
    <p:sldId id="262" r:id="R4bad5196bc0f4c19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1" /><Relationship Type="http://schemas.openxmlformats.org/officeDocument/2006/relationships/theme" Target="/ppt/theme/theme1.xml" Id="rId2" /><Relationship Type="http://schemas.openxmlformats.org/officeDocument/2006/relationships/slide" Target="/ppt/slides/slide1.xml" Id="Rc20e8880d84046d9" /><Relationship Type="http://schemas.openxmlformats.org/officeDocument/2006/relationships/notesMaster" Target="/ppt/notesMasters/notesMaster1.xml" Id="R79d253e83d2e4c89" /><Relationship Type="http://schemas.openxmlformats.org/officeDocument/2006/relationships/slide" Target="/ppt/slides/slide2.xml" Id="R9db4303f31104caf" /><Relationship Type="http://schemas.openxmlformats.org/officeDocument/2006/relationships/slide" Target="/ppt/slides/slide3.xml" Id="Rd91c870a7a4f4575" /><Relationship Type="http://schemas.openxmlformats.org/officeDocument/2006/relationships/slide" Target="/ppt/slides/slide4.xml" Id="R6ff9ad4b802741f8" /><Relationship Type="http://schemas.openxmlformats.org/officeDocument/2006/relationships/slide" Target="/ppt/slides/slide5.xml" Id="R1f5c475af404479d" /><Relationship Type="http://schemas.openxmlformats.org/officeDocument/2006/relationships/slide" Target="/ppt/slides/slide6.xml" Id="Rff24c1538e534da6" /><Relationship Type="http://schemas.openxmlformats.org/officeDocument/2006/relationships/slide" Target="/ppt/slides/slide7.xml" Id="R4bad5196bc0f4c1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851e4e019ecc47fb" 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1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25717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3429000"/>
            <a:ext cx="5486400" cy="411480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2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3002ea56c023487d" /><Relationship Type="http://schemas.openxmlformats.org/officeDocument/2006/relationships/slide" Target="/ppt/slides/slide1.xml" Id="R9b641b14002a49f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a043dd8ab2d6450b" /><Relationship Type="http://schemas.openxmlformats.org/officeDocument/2006/relationships/slide" Target="/ppt/slides/slide2.xml" Id="R11f490dba11f478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73ff582ae2b54a02" /><Relationship Type="http://schemas.openxmlformats.org/officeDocument/2006/relationships/slide" Target="/ppt/slides/slide3.xml" Id="R15c79df2d5584da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2f56d93c4cca41ef" /><Relationship Type="http://schemas.openxmlformats.org/officeDocument/2006/relationships/slide" Target="/ppt/slides/slide4.xml" Id="Rb8d97ee1d9a242e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e9339ccd89c54951" /><Relationship Type="http://schemas.openxmlformats.org/officeDocument/2006/relationships/slide" Target="/ppt/slides/slide5.xml" Id="Rc151b9eea2994fa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42ff22bc45804031" /><Relationship Type="http://schemas.openxmlformats.org/officeDocument/2006/relationships/slide" Target="/ppt/slides/slide6.xml" Id="R88671a2e82a04dd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9e2223f78b154913" /><Relationship Type="http://schemas.openxmlformats.org/officeDocument/2006/relationships/slide" Target="/ppt/slides/slide7.xml" Id="R91a459b02eb4447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Cover (example). DV farm ROI → expand seats for H2 multi-program.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Portfolio decision with labeled assumptions.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Schedule = money on spin.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Causal language carefully: farm contributed; not sole cause.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Honest envelope.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Walk trade-offs; land recommendation.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Portfolio decision with labeled assumptions.</a:t>
            </a:r>
          </a:p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d7874e725e94c42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1e530d9cb7c418e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8220145256540b1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08c35f04aea4934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614ee52e8c542f9" /></Relationships>
</file>

<file path=ppt/slideLayouts/slideLayout1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</p:sldLayout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Subtitle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3.xml><?xml version="1.0" encoding="utf-8"?>
<p:sldLayout xmlns:p="http://schemas.openxmlformats.org/presentationml/2006/main" type="objTx">
  <p:cSld name="Title and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ColTx">
  <p:cSld name="Two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 Lef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Content Right"/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5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theme" Target="/ppt/theme/theme1.xml" Id="R232e4a08b4a345fa" /><Relationship Type="http://schemas.openxmlformats.org/officeDocument/2006/relationships/slideLayout" Target="/ppt/slideLayouts/slideLayout2.xml" Id="rId2" /><Relationship Type="http://schemas.openxmlformats.org/officeDocument/2006/relationships/slideLayout" Target="/ppt/slideLayouts/slideLayout3.xml" Id="rId3" /><Relationship Type="http://schemas.openxmlformats.org/officeDocument/2006/relationships/slideLayout" Target="/ppt/slideLayouts/slideLayout4.xml" Id="rId4" /><Relationship Type="http://schemas.openxmlformats.org/officeDocument/2006/relationships/slideLayout" Target="/ppt/slideLayouts/slideLayout5.xml" Id="rId5" /></Relationships>
</file>

<file path=ppt/slideMasters/slideMaster1.xml><?xml version="1.0" encoding="utf-8"?>
<p:sldMaster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  <p:sldLayoutId xmlns:r="http://schemas.openxmlformats.org/officeDocument/2006/relationships" id="2147483650" r:id="rId2"/>
    <p:sldLayoutId xmlns:r="http://schemas.openxmlformats.org/officeDocument/2006/relationships" id="2147483651" r:id="rId3"/>
    <p:sldLayoutId xmlns:r="http://schemas.openxmlformats.org/officeDocument/2006/relationships" id="2147483652" r:id="rId4"/>
    <p:sldLayoutId xmlns:r="http://schemas.openxmlformats.org/officeDocument/2006/relationships" id="2147483653" r:id="rId5"/>
  </p:sldLayoutIdLst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dbe7ac67ba4698" /><Relationship Type="http://schemas.openxmlformats.org/officeDocument/2006/relationships/notesSlide" Target="/ppt/notesSlides/notesSlide1.xml" Id="R3c7d26394e934db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94ad5df4894e94" /><Relationship Type="http://schemas.openxmlformats.org/officeDocument/2006/relationships/notesSlide" Target="/ppt/notesSlides/notesSlide2.xml" Id="Rc85005b8ec10425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93d3d51442e4e1f" /><Relationship Type="http://schemas.openxmlformats.org/officeDocument/2006/relationships/notesSlide" Target="/ppt/notesSlides/notesSlide3.xml" Id="R4d83490b7035410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423c0017874503" /><Relationship Type="http://schemas.openxmlformats.org/officeDocument/2006/relationships/notesSlide" Target="/ppt/notesSlides/notesSlide4.xml" Id="R4883d5bebcad427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ee6372b85d48aa" /><Relationship Type="http://schemas.openxmlformats.org/officeDocument/2006/relationships/notesSlide" Target="/ppt/notesSlides/notesSlide5.xml" Id="Rbc0aa1f8f5e1449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ce26cdc0594d9c" /><Relationship Type="http://schemas.openxmlformats.org/officeDocument/2006/relationships/notesSlide" Target="/ppt/notesSlides/notesSlide6.xml" Id="Ra193d6756cdb46d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fef8081fc3d4d01" /><Relationship Type="http://schemas.openxmlformats.org/officeDocument/2006/relationships/notesSlide" Target="/ppt/notesSlides/notesSlide7.xml" Id="R590dd24a32e547cf" /></Relationships>
</file>

<file path=ppt/slides/slide1.xml><?xml version="1.0" encoding="utf-8"?>
<p:sld xmlns:p="http://schemas.openxmlformats.org/presentationml/2006/main">
  <p:cSld name="Shared DV farm — value after 2 quarters">
    <p:bg>
      <p:bgPr>
        <a:solidFill xmlns:a="http://schemas.openxmlformats.org/drawingml/2006/main">
          <a:srgbClr val="1E2761"/>
        </a:solidFill>
      </p:bgPr>
    </p:bg>
    <p:spTree>
      <p:nvGrpSpPr>
        <p:cNvPr id="1" name=""/>
        <p:cNvGrpSpPr/>
        <p:nvPr/>
      </p:nvGrpSpPr>
      <p:grpSpPr/>
      <p:sp>
        <p:nvSpPr>
          <p:cNvPr id="100000" name="TextBox 1"/>
          <p:cNvSpPr txBox="1"/>
          <p:nvPr/>
        </p:nvSpPr>
        <p:spPr>
          <a:xfrm xmlns:a="http://schemas.openxmlformats.org/drawingml/2006/main">
            <a:off x="504000" y="1008000"/>
            <a:ext cx="11088000" cy="32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CADCFC"/>
                </a:solidFill>
                <a:latin typeface="Calibri"/>
                <a:ea typeface="Calibri"/>
              </a:rPr>
              <a:t>SCENARIO 04  ·  EXAMPLE  ·  SHARED DV FARM</a:t>
            </a:r>
          </a:p>
        </p:txBody>
      </p:sp>
      <p:sp>
        <p:nvSpPr>
          <p:cNvPr id="100001" name="TextBox 2"/>
          <p:cNvSpPr txBox="1"/>
          <p:nvPr/>
        </p:nvSpPr>
        <p:spPr>
          <a:xfrm xmlns:a="http://schemas.openxmlformats.org/drawingml/2006/main">
            <a:off x="504000" y="1440000"/>
            <a:ext cx="11088000" cy="93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400" b="1">
                <a:solidFill>
                  <a:srgbClr val="FFFFFF"/>
                </a:solidFill>
                <a:latin typeface="Calibri"/>
                <a:ea typeface="Calibri"/>
              </a:rPr>
              <a:t>Shared DV farm — value after 2 quarters</a:t>
            </a:r>
          </a:p>
        </p:txBody>
      </p:sp>
      <p:sp>
        <p:nvSpPr>
          <p:cNvPr id="100002" name="TextBox 3"/>
          <p:cNvSpPr txBox="1"/>
          <p:nvPr/>
        </p:nvSpPr>
        <p:spPr>
          <a:xfrm xmlns:a="http://schemas.openxmlformats.org/drawingml/2006/main">
            <a:off x="504000" y="2520000"/>
            <a:ext cx="11088000" cy="72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700" b="0">
                <a:solidFill>
                  <a:srgbClr val="CADCFC"/>
                </a:solidFill>
                <a:latin typeface="Calibri"/>
                <a:ea typeface="Calibri"/>
              </a:rPr>
              <a:t>Continue vs expand license seats for Aurora + next program</a:t>
            </a:r>
          </a:p>
        </p:txBody>
      </p:sp>
      <p:sp>
        <p:nvSpPr>
          <p:cNvPr id="100003" name="TextBox 4"/>
          <p:cNvSpPr txBox="1"/>
          <p:nvPr/>
        </p:nvSpPr>
        <p:spPr>
          <a:xfrm xmlns:a="http://schemas.openxmlformats.org/drawingml/2006/main">
            <a:off x="504000" y="5976000"/>
            <a:ext cx="11088000" cy="39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200" b="0">
                <a:solidFill>
                  <a:srgbClr val="A0AEC0"/>
                </a:solidFill>
                <a:latin typeface="Calibri"/>
                <a:ea typeface="Calibri"/>
              </a:rPr>
              <a:t>EXAMPLE  ·  Atlas Platform  ·  Project Aurora  ·  NovaSemi  ·  2026</a:t>
            </a:r>
          </a:p>
        </p:txBody>
      </p:sp>
    </p:spTree>
  </p:cSld>
</p:sld>
</file>

<file path=ppt/slides/slide2.xml><?xml version="1.0" encoding="utf-8"?>
<p:sld xmlns:p="http://schemas.openxmlformats.org/presentationml/2006/main">
  <p:cSld name="BLUF — continue farm; expand +20 seats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04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BOTTOM LINE UP FRONT</a:t>
            </a:r>
          </a:p>
        </p:txBody>
      </p:sp>
      <p:sp>
        <p:nvSpPr>
          <p:cNvPr id="100005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BLUF — continue farm; expand +20 seats</a:t>
            </a:r>
          </a:p>
        </p:txBody>
      </p:sp>
      <p:sp>
        <p:nvSpPr>
          <p:cNvPr id="100006" name="TextBox 3"/>
          <p:cNvSpPr txBox="1"/>
          <p:nvPr/>
        </p:nvSpPr>
        <p:spPr>
          <a:xfrm xmlns:a="http://schemas.openxmlformats.org/drawingml/2006/main">
            <a:off x="504000" y="1260000"/>
            <a:ext cx="11088000" cy="63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761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FFFFFF"/>
                </a:solidFill>
                <a:latin typeface="Calibri"/>
                <a:ea typeface="Calibri"/>
              </a:rPr>
              <a:t>Recommend: EXPAND  ·  Payback ~5 months on avoided spin risk (assumptions labeled)</a:t>
            </a:r>
          </a:p>
        </p:txBody>
      </p:sp>
      <p:sp>
        <p:nvSpPr>
          <p:cNvPr id="100007" name="TextBox 4"/>
          <p:cNvSpPr txBox="1"/>
          <p:nvPr/>
        </p:nvSpPr>
        <p:spPr>
          <a:xfrm xmlns:a="http://schemas.openxmlformats.org/drawingml/2006/main">
            <a:off x="504000" y="1980000"/>
            <a:ext cx="11088000" cy="421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Presentation window: ~2026-05-25 (after freeze 4/10 and day-3 boot 5/15).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Investment: 1.5 eng-q build + $180K/yr licenses (example dollars).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Benefit: regression wall-clock 18h → 6h; enabled extra sleep-exit coverage that caught AON bug pre-silicon.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Ask: expand seat pool +20 for H2 multi-program use (decide by 2026-05-30).</a:t>
            </a:r>
          </a:p>
        </p:txBody>
      </p:sp>
      <p:sp>
        <p:nvSpPr>
          <p:cNvPr id="100008" name="TextBox 5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3.xml><?xml version="1.0" encoding="utf-8"?>
<p:sld xmlns:p="http://schemas.openxmlformats.org/presentationml/2006/main">
  <p:cSld name="Business problem attacked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09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Business problem attacked</a:t>
            </a:r>
          </a:p>
        </p:txBody>
      </p:sp>
      <p:sp>
        <p:nvSpPr>
          <p:cNvPr id="100010" name="TextBox 2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Pre-farm: overnight regressions serialized Aurora + WiFi IP tests; freezes slipped when queues stacked.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Business lever: schedule integrity for tape-out and sample commits — not vanity CI.</a:t>
            </a:r>
          </a:p>
        </p:txBody>
      </p:sp>
      <p:sp>
        <p:nvSpPr>
          <p:cNvPr id="100011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4.xml><?xml version="1.0" encoding="utf-8"?>
<p:sld xmlns:p="http://schemas.openxmlformats.org/presentationml/2006/main">
  <p:cSld name="Impact chain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12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Impact chain</a:t>
            </a:r>
          </a:p>
        </p:txBody>
      </p:sp>
      <p:sp>
        <p:nvSpPr>
          <p:cNvPr id="100013" name="TextBox 2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Farm online → 3× parallel regressions → more loops per week → DDR training bug found on FPGA+farm combo → avoided likely day-1 hang on A0.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Leading metric: median regression 6h (n=12 weeks through 2026-05-20).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Lagging (already realized before this deck): RTL freeze held 2026-04-10; day-3 boot 2026-05-15.</a:t>
            </a:r>
          </a:p>
        </p:txBody>
      </p:sp>
      <p:sp>
        <p:nvSpPr>
          <p:cNvPr id="100014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5.xml><?xml version="1.0" encoding="utf-8"?>
<p:sld xmlns:p="http://schemas.openxmlformats.org/presentationml/2006/main">
  <p:cSld name="Counterfactual &amp; what we will not claim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15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Counterfactual &amp; what we will not claim</a:t>
            </a:r>
          </a:p>
        </p:txBody>
      </p:sp>
      <p:sp>
        <p:nvSpPr>
          <p:cNvPr id="100016" name="TextBox 2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Without farm: estimate +2–3 weeks freeze pressure (range, not point).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Will not claim: full spin cost saved as certainty; only risk reduction with labeled assumption ($2–4M spin class, 15–25% probability avoided — planning range).</a:t>
            </a:r>
          </a:p>
        </p:txBody>
      </p:sp>
      <p:sp>
        <p:nvSpPr>
          <p:cNvPr id="100017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6.xml><?xml version="1.0" encoding="utf-8"?>
<p:sld xmlns:p="http://schemas.openxmlformats.org/presentationml/2006/main">
  <p:cSld name="Options &amp; recommendation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18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Options &amp; recommendation</a:t>
            </a:r>
          </a:p>
        </p:txBody>
      </p:sp>
      <p:sp>
        <p:nvSpPr>
          <p:cNvPr id="100019" name="TextBox 2"/>
          <p:cNvSpPr txBox="1"/>
          <p:nvPr/>
        </p:nvSpPr>
        <p:spPr>
          <a:xfrm xmlns:a="http://schemas.openxmlformats.org/drawingml/2006/main">
            <a:off x="504000" y="1224000"/>
            <a:ext cx="11088000" cy="39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300" b="0">
                <a:solidFill>
                  <a:srgbClr val="718096"/>
                </a:solidFill>
                <a:latin typeface="Calibri"/>
                <a:ea typeface="Calibri"/>
              </a:rPr>
              <a:t>Compare paths; recommendation is marked REC. Decision owner picks by the date on the Ask slide.</a:t>
            </a:r>
          </a:p>
        </p:txBody>
      </p:sp>
      <p:graphicFrame>
        <p:nvGraphicFramePr>
          <p:cNvPr id="100020" name="Table 1"/>
          <p:cNvGraphicFramePr/>
          <p:nvPr/>
        </p:nvGraphicFramePr>
        <p:xfrm>
          <a:off xmlns:a="http://schemas.openxmlformats.org/drawingml/2006/main" x="504000" y="1692000"/>
          <a:ext xmlns:a="http://schemas.openxmlformats.org/drawingml/2006/main" cx="11088000" cy="41400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2772000"/>
                <a:gridCol w="2772000"/>
                <a:gridCol w="2772000"/>
                <a:gridCol w="2772000"/>
              </a:tblGrid>
              <a:tr h="1035000"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Option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Scope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Cost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Expected lift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1035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Continue only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Current seats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$180K/yr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Sustain 6h median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35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Expand +20 (REC)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Aurora + next SoC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+$60K/yr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Queue wait −40%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35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Stop / shrink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Cut night pool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−$40K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Freeze risk returns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0021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7.xml><?xml version="1.0" encoding="utf-8"?>
<p:sld xmlns:p="http://schemas.openxmlformats.org/presentationml/2006/main">
  <p:cSld name="Decision &amp; ask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22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WHAT WE NEED FROM THIS ROOM</a:t>
            </a:r>
          </a:p>
        </p:txBody>
      </p:sp>
      <p:sp>
        <p:nvSpPr>
          <p:cNvPr id="100023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Decision &amp; ask</a:t>
            </a:r>
          </a:p>
        </p:txBody>
      </p:sp>
      <p:sp>
        <p:nvSpPr>
          <p:cNvPr id="100024" name="TextBox 3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Decision: Approve Expand +20 seats for H2.</a:t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Owner: Morgan (budget) / Alex (utilization report quarterly).</a:t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By: 2026-05-30 finance window (after this 5/25 readout; before H2 planning).</a:t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Assumption sheet: DOC-FARM-ROI-04.</a:t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Note: lagging KPIs (4/10 freeze, 5/15 boot) pre-date the ask deadline.</a:t>
            </a:r>
          </a:p>
        </p:txBody>
      </p:sp>
      <p:sp>
        <p:nvSpPr>
          <p:cNvPr id="100025" name="TextBox 4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ap:Properties xmlns:ap="http://schemas.openxmlformats.org/officeDocument/2006/extended-properties">
  <ap:Application>OfficeCLI/1.0.143</ap:Application>
</a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OfficeCLI</dc:creator>
  <dcterms:created xsi:type="dcterms:W3CDTF">2026-08-05T23:30:51Z</dcterms:created>
  <cp:lastModifiedBy>OfficeCLI</cp:lastModifiedBy>
  <dcterms:modified xsi:type="dcterms:W3CDTF">2026-08-05T23:30:51Z</dcterms:modified>
</cp:coreProperties>
</file>

<file path=docProps/custom.xml><?xml version="1.0" encoding="utf-8"?>
<op:Properties xmlns:op="http://schemas.openxmlformats.org/officeDocument/2006/custom-properties">
  <op:property fmtid="{D5CDD505-2E9C-101B-9397-08002B2CF9AE}" pid="2" name="OfficeCLI.Version">
    <vt:lpwstr xmlns:vt="http://schemas.openxmlformats.org/officeDocument/2006/docPropsVTypes">1.0.143</vt:lpwstr>
  </op:property>
  <op:property fmtid="{D5CDD505-2E9C-101B-9397-08002B2CF9AE}" pid="3" name="OfficeCLI.LastModified">
    <vt:lpwstr xmlns:vt="http://schemas.openxmlformats.org/officeDocument/2006/docPropsVTypes">2026-08-05T23:30:52Z</vt:lpwstr>
  </op:property>
</op:Properties>
</file>