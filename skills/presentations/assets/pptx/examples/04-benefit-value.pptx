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32b4ee02ff84d1f" /><Relationship Type="http://schemas.openxmlformats.org/package/2006/relationships/metadata/core-properties" Target="/docProps/core.xml" Id="Rd542844be9da4f4a" /><Relationship Type="http://schemas.openxmlformats.org/officeDocument/2006/relationships/extended-properties" Target="/docProps/app.xml" Id="R8d464034b6294cfa" /><Relationship Type="http://schemas.openxmlformats.org/officeDocument/2006/relationships/custom-properties" Target="/docProps/custom.xml" Id="R12c45395630245e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1832291ccf041fc"/>
  </p:notesMasterIdLst>
  <p:sldIdLst>
    <p:sldId id="256" r:id="R5f52c06d4fbd47bc"/>
    <p:sldId id="257" r:id="R5b37565555104dbc"/>
    <p:sldId id="258" r:id="Rab5ccdbcb09646c7"/>
    <p:sldId id="259" r:id="R92c8ba5d257f4004"/>
    <p:sldId id="260" r:id="Rb483abbe16714812"/>
    <p:sldId id="261" r:id="Rf2552359dbe24a3a"/>
    <p:sldId id="262" r:id="R3b88ca8e3a9f49e0"/>
    <p:sldId id="263" r:id="Rd69369e25b6445e1"/>
    <p:sldId id="264" r:id="R5ebb5adebfce465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f52c06d4fbd47bc" /><Relationship Type="http://schemas.openxmlformats.org/officeDocument/2006/relationships/notesMaster" Target="/ppt/notesMasters/notesMaster1.xml" Id="Rf1832291ccf041fc" /><Relationship Type="http://schemas.openxmlformats.org/officeDocument/2006/relationships/slide" Target="/ppt/slides/slide2.xml" Id="R5b37565555104dbc" /><Relationship Type="http://schemas.openxmlformats.org/officeDocument/2006/relationships/slide" Target="/ppt/slides/slide3.xml" Id="Rab5ccdbcb09646c7" /><Relationship Type="http://schemas.openxmlformats.org/officeDocument/2006/relationships/slide" Target="/ppt/slides/slide4.xml" Id="R92c8ba5d257f4004" /><Relationship Type="http://schemas.openxmlformats.org/officeDocument/2006/relationships/slide" Target="/ppt/slides/slide5.xml" Id="Rb483abbe16714812" /><Relationship Type="http://schemas.openxmlformats.org/officeDocument/2006/relationships/slide" Target="/ppt/slides/slide6.xml" Id="Rf2552359dbe24a3a" /><Relationship Type="http://schemas.openxmlformats.org/officeDocument/2006/relationships/slide" Target="/ppt/slides/slide7.xml" Id="R3b88ca8e3a9f49e0" /><Relationship Type="http://schemas.openxmlformats.org/officeDocument/2006/relationships/slide" Target="/ppt/slides/slide8.xml" Id="Rd69369e25b6445e1" /><Relationship Type="http://schemas.openxmlformats.org/officeDocument/2006/relationships/slide" Target="/ppt/slides/slide9.xml" Id="R5ebb5adebfce46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346b5e249f945b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e00e18a733f400b" /><Relationship Type="http://schemas.openxmlformats.org/officeDocument/2006/relationships/slide" Target="/ppt/slides/slide1.xml" Id="R8925f8a2809342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53e91487fa243f7" /><Relationship Type="http://schemas.openxmlformats.org/officeDocument/2006/relationships/slide" Target="/ppt/slides/slide2.xml" Id="Rcd3633bc782446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95087b536044968" /><Relationship Type="http://schemas.openxmlformats.org/officeDocument/2006/relationships/slide" Target="/ppt/slides/slide3.xml" Id="Rba4bf023d49b47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d6ea1c1d9f44977" /><Relationship Type="http://schemas.openxmlformats.org/officeDocument/2006/relationships/slide" Target="/ppt/slides/slide4.xml" Id="R6ab0f0bdf6044f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6ce54cab1ef41ad" /><Relationship Type="http://schemas.openxmlformats.org/officeDocument/2006/relationships/slide" Target="/ppt/slides/slide5.xml" Id="R1b2b118091354d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ef09d71d52b4deb" /><Relationship Type="http://schemas.openxmlformats.org/officeDocument/2006/relationships/slide" Target="/ppt/slides/slide6.xml" Id="Re4dac21cadce4d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7bccc437f434633" /><Relationship Type="http://schemas.openxmlformats.org/officeDocument/2006/relationships/slide" Target="/ppt/slides/slide7.xml" Id="R48559f4dfecc40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5e6cd4f45af4307" /><Relationship Type="http://schemas.openxmlformats.org/officeDocument/2006/relationships/slide" Target="/ppt/slides/slide8.xml" Id="R65e846ab610547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c2db57d8b3a4411" /><Relationship Type="http://schemas.openxmlformats.org/officeDocument/2006/relationships/slide" Target="/ppt/slides/slide9.xml" Id="Rc1c81877437340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DV farm ROI → expand seats for H2 multi-program.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Recommend=EXPAND +20 seats; ~5-month payback envelope on avoided spin risk (assumptions labeled). by 2026-05-30 finance window.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Schedule = money on spin.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Causal language carefully: farm contributed; not sole cause.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envelope.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a849be90c4c4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c0e097677244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c4e83518f4f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cba63920434fd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0bae1078aa482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6d0d94cf0c94d1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7b2919bc2465c" /><Relationship Type="http://schemas.openxmlformats.org/officeDocument/2006/relationships/notesSlide" Target="/ppt/notesSlides/notesSlide1.xml" Id="Re754a503bbf044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1c223c5044d5d" /><Relationship Type="http://schemas.openxmlformats.org/officeDocument/2006/relationships/notesSlide" Target="/ppt/notesSlides/notesSlide2.xml" Id="R35fb9a692a1843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0adc4ca2042e7" /><Relationship Type="http://schemas.openxmlformats.org/officeDocument/2006/relationships/notesSlide" Target="/ppt/notesSlides/notesSlide3.xml" Id="R518653c4b84648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9a7f64b0a4168" /><Relationship Type="http://schemas.openxmlformats.org/officeDocument/2006/relationships/notesSlide" Target="/ppt/notesSlides/notesSlide4.xml" Id="R7f8ebe4f7d9349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6195f83874716" /><Relationship Type="http://schemas.openxmlformats.org/officeDocument/2006/relationships/notesSlide" Target="/ppt/notesSlides/notesSlide5.xml" Id="R0e9fb4cb941343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d66cbe5074eeb" /><Relationship Type="http://schemas.openxmlformats.org/officeDocument/2006/relationships/notesSlide" Target="/ppt/notesSlides/notesSlide6.xml" Id="R39f480234d5b41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e3dca3df14f65" /><Relationship Type="http://schemas.openxmlformats.org/officeDocument/2006/relationships/notesSlide" Target="/ppt/notesSlides/notesSlide7.xml" Id="R2e81a4fe689245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27a37c147473a" /><Relationship Type="http://schemas.openxmlformats.org/officeDocument/2006/relationships/notesSlide" Target="/ppt/notesSlides/notesSlide8.xml" Id="R1dd0e3fd1ec348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401c1029b43e8" /><Relationship Type="http://schemas.openxmlformats.org/officeDocument/2006/relationships/notesSlide" Target="/ppt/notesSlides/notesSlide9.xml" Id="R0e5fbfff5959459d" /></Relationships>
</file>

<file path=ppt/slides/slide1.xml><?xml version="1.0" encoding="utf-8"?>
<p:sld xmlns:p="http://schemas.openxmlformats.org/presentationml/2006/main">
  <p:cSld name="Shared DV farm — value after 2 quarter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EXAMPLE  ·  SHARED DV FARM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Shared DV farm — value after 2 quarters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Continue vs expand license seats for Aurora + next program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Platform / shared infra investment impact chain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Platform / shared infra investment impact chain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/ impact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strategy as leverage (not ticket dumps)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(with farm utilization data)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+ Finance (seat budget)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finance partner, program leads sharing the farm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Shared DV farm has run ~2 quarters. Median regression 18h→6h. Pre-silicon farm loops helped catch DDR training bug before A0. Deck presented ~2026-05-25 AFTER freeze 4/10 and day-3 boot 5/15 (lagging KPIs already real).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H2 multi-program load (Aurora revB + WiFi IP) will re-queue the farm without +20 seats; freeze-class slips return.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Continue only vs Expand +20 seats (REC) vs shrink.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EXPAND +20 seats; ~5-month payback envelope on avoided spin risk (assumptions labeled).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PO path with deck 05 HelixSim seats; H2 capacity honest.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Queue wait spikes in H2; sample/revB compete for sim slots.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2026-05-30 finance window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silicon success used farm; 01 freeze held partly due to faster regressions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05 procurement renews/expands sim licenses to match seats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continue farm; expand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continue farm; expand +20 seats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EXPAND  ·  Payback ~5 months on avoided spin risk (assumptions labeled)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Presentation window: ~2026-05-25 (after freeze 4/10 and day-3 boot 5/15).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1.5 eng-q build + $180K/yr licenses (example dollars).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Benefit: regression wall-clock 18h → 6h; enabled extra sleep-exit coverage that caught AON bug pre-silicon.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expand seat pool +20 for H2 multi-program use (decide by 2026-05-30).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Pre-farm: overnight regressions serialized Aurora + WiFi IP tests; freezes slipped when queues stacked.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Business lever: schedule integrity for tape-out and sample commits — not vanity CI.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Farm online → 3× parallel regressions → more loops per week → DDR training bug found on FPGA+farm combo → avoided likely day-1 hang on A0.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Leading metric: median regression 6h (n=12 weeks through 2026-05-20).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Lagging (already realized before this deck): RTL freeze held 2026-04-10; day-3 boot 2026-05-15.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Without farm: estimate +2–3 weeks freeze pressure (range, not point).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Will not claim: full spin cost saved as certainty; only risk reduction with labeled assumption ($2–4M spin class, 15–25% probability avoided — planning range).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seats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$180K/yr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6h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Aurora + next 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+$60K/yr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Queue wait 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 / shrink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night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−$40K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risk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Expand +20 seats for H2.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(budget) / Alex (utilization report quarterly).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2026-05-30 finance window (after this 5/25 readout; before H2 planning).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 sheet: DOC-FARM-ROI-04.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Note: lagging KPIs (4/10 freeze, 5/15 boot) pre-date the ask deadline.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2026-08-05T23:46:54Z</dcterms:created>
  <cp:lastModifiedBy>OfficeCLI</cp:lastModifiedBy>
  <dcterms:modified xsi:type="dcterms:W3CDTF">2026-08-05T23:46:54Z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2026-08-05T23:46:56Z</vt:lpwstr>
  </op:property>
</op:Properties>
</file>