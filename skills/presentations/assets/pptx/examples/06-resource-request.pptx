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9793025f4f34395" /><Relationship Type="http://schemas.openxmlformats.org/package/2006/relationships/metadata/core-properties" Target="/docProps/core.xml" Id="R08c3fbd6136c40a2" /><Relationship Type="http://schemas.openxmlformats.org/officeDocument/2006/relationships/extended-properties" Target="/docProps/app.xml" Id="R94b69776b6f741db" /><Relationship Type="http://schemas.openxmlformats.org/officeDocument/2006/relationships/custom-properties" Target="/docProps/custom.xml" Id="R70d425ae1ec0403c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25daae54b154411a"/>
  </p:notesMasterIdLst>
  <p:sldIdLst>
    <p:sldId id="256" r:id="R96f67d1c60894509"/>
    <p:sldId id="257" r:id="Rcdcdde0f813f4973"/>
    <p:sldId id="258" r:id="Rac77804c8354485a"/>
    <p:sldId id="259" r:id="Rd165117a988c413d"/>
    <p:sldId id="260" r:id="R91264056dacc4bfd"/>
    <p:sldId id="261" r:id="R192f5ed37dcb4ecc"/>
    <p:sldId id="262" r:id="R24b377343ea74b74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6f67d1c60894509" /><Relationship Type="http://schemas.openxmlformats.org/officeDocument/2006/relationships/notesMaster" Target="/ppt/notesMasters/notesMaster1.xml" Id="R25daae54b154411a" /><Relationship Type="http://schemas.openxmlformats.org/officeDocument/2006/relationships/slide" Target="/ppt/slides/slide2.xml" Id="Rcdcdde0f813f4973" /><Relationship Type="http://schemas.openxmlformats.org/officeDocument/2006/relationships/slide" Target="/ppt/slides/slide3.xml" Id="Rac77804c8354485a" /><Relationship Type="http://schemas.openxmlformats.org/officeDocument/2006/relationships/slide" Target="/ppt/slides/slide4.xml" Id="Rd165117a988c413d" /><Relationship Type="http://schemas.openxmlformats.org/officeDocument/2006/relationships/slide" Target="/ppt/slides/slide5.xml" Id="R91264056dacc4bfd" /><Relationship Type="http://schemas.openxmlformats.org/officeDocument/2006/relationships/slide" Target="/ppt/slides/slide6.xml" Id="R192f5ed37dcb4ecc" /><Relationship Type="http://schemas.openxmlformats.org/officeDocument/2006/relationships/slide" Target="/ppt/slides/slide7.xml" Id="R24b377343ea74b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a1cb85806524f60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e7a388de2894747" /><Relationship Type="http://schemas.openxmlformats.org/officeDocument/2006/relationships/slide" Target="/ppt/slides/slide1.xml" Id="R99f51ca90b8d4e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a5d53543f384439" /><Relationship Type="http://schemas.openxmlformats.org/officeDocument/2006/relationships/slide" Target="/ppt/slides/slide2.xml" Id="Raf0efb9aacef45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352cf42bbbc4b66" /><Relationship Type="http://schemas.openxmlformats.org/officeDocument/2006/relationships/slide" Target="/ppt/slides/slide3.xml" Id="R9b7e0dc75acd4f7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670c65d339c48e0" /><Relationship Type="http://schemas.openxmlformats.org/officeDocument/2006/relationships/slide" Target="/ppt/slides/slide4.xml" Id="Rf3e957e14f884c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4d94b279a6d4f7c" /><Relationship Type="http://schemas.openxmlformats.org/officeDocument/2006/relationships/slide" Target="/ppt/slides/slide5.xml" Id="R33cc18125f644e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c92bcffdd16472a" /><Relationship Type="http://schemas.openxmlformats.org/officeDocument/2006/relationships/slide" Target="/ppt/slides/slide6.xml" Id="R55c87679763946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9bc94e1de234026" /><Relationship Type="http://schemas.openxmlformats.org/officeDocument/2006/relationships/slide" Target="/ppt/slides/slide7.xml" Id="Re9debb9ac1574d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Single-thread IO DV → +1 senior req with explicit sample slips if no.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Roadmap-backed headcount / resource business case</a:t>
            </a:r>
          </a:p>
          <a:p xmlns:a="http://schemas.openxmlformats.org/drawingml/2006/main">
            <a:r>
              <a:rPr lang="en-US"/>
              <a:t>EM Tools — Headcount planning: https://www.em-tools.io/engineering-manager-responsibilities/headcount-planning</a:t>
            </a:r>
          </a:p>
          <a:p xmlns:a="http://schemas.openxmlformats.org/drawingml/2006/main">
            <a:r>
              <a:rPr lang="en-US"/>
              <a:t>TPM influence without authority (when no budget ownership): https://www.mariogerard.com/how-to-influence-without-authority-as-a-tpm/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Roadmap-backed headcount / resource business case</a:t>
            </a:r>
          </a:p>
          <a:p xmlns:a="http://schemas.openxmlformats.org/drawingml/2006/main">
            <a:r>
              <a:rPr lang="en-US"/>
              <a:t>EM Tools — Headcount planning: https://www.em-tools.io/engineering-manager-responsibilities/headcount-planning</a:t>
            </a:r>
          </a:p>
          <a:p xmlns:a="http://schemas.openxmlformats.org/drawingml/2006/main">
            <a:r>
              <a:rPr lang="en-US"/>
              <a:t>TPM influence without authority (when no budget ownership): https://www.mariogerard.com/how-to-influence-without-authority-as-a-tpm/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role, crisp if-no.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Roadmap-backed.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Explicit if-no.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role, crisp if-no.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41c86c4824453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96e13e311e404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5ed203c7fc4ee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6d80da0c4643b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4ad2c01c12466d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51c3c4841024e83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dc3e75bbf4efb" /><Relationship Type="http://schemas.openxmlformats.org/officeDocument/2006/relationships/notesSlide" Target="/ppt/notesSlides/notesSlide1.xml" Id="Rea9f0ab7c82446b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be8c18ec64feb" /><Relationship Type="http://schemas.openxmlformats.org/officeDocument/2006/relationships/notesSlide" Target="/ppt/notesSlides/notesSlide2.xml" Id="Rd0a9a614096c4c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9391f5862b4a01" /><Relationship Type="http://schemas.openxmlformats.org/officeDocument/2006/relationships/notesSlide" Target="/ppt/notesSlides/notesSlide3.xml" Id="Ra67b0d616ed741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9d75fa1bcf4f19" /><Relationship Type="http://schemas.openxmlformats.org/officeDocument/2006/relationships/notesSlide" Target="/ppt/notesSlides/notesSlide4.xml" Id="R0678bd2f93c241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8a07e668b2480c" /><Relationship Type="http://schemas.openxmlformats.org/officeDocument/2006/relationships/notesSlide" Target="/ppt/notesSlides/notesSlide5.xml" Id="R36ff9725841949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b2b402491a4512" /><Relationship Type="http://schemas.openxmlformats.org/officeDocument/2006/relationships/notesSlide" Target="/ppt/notesSlides/notesSlide6.xml" Id="R0f295672675345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1020231bb043ca" /><Relationship Type="http://schemas.openxmlformats.org/officeDocument/2006/relationships/notesSlide" Target="/ppt/notesSlides/notesSlide7.xml" Id="R3317073f4e1042bd" /></Relationships>
</file>

<file path=ppt/slides/slide1.xml><?xml version="1.0" encoding="utf-8"?>
<p:sld xmlns:p="http://schemas.openxmlformats.org/presentationml/2006/main">
  <p:cSld name="Atlas: +1 senior DV for Aurora sample surg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06  ·  EXAMPLE  ·  +1 SENIOR DV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Atlas: +1 senior DV for Aurora sample surge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Context B staffing — unplanned 20–30% already burning the plan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Roadmap-backed headcount / resource business case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Roadmap-backed headcount / resource business case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Headcount 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https://www.em-tools.io/engineering-manager-responsibilities/headcount-planning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TPM influence without authority (when no budget ownership)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https://www.mariogerard.com/how-to-influence-without-authority-as-a-tpm/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approve 1 senior DV req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approve 1 senior DV req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Ask: +1 senior DV  ·  If no: USB3 + sample surge slip  ·  Decide by 2026-05-20 (post-silicon)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 unlocked: Tier-1 sample 6/30 with HS IO coverage and senior backup for Priya.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Gap: high-speed IO DV is single-threaded; Q2 unplanned already ~20% (context A lookback).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Headcount math (context B): demand includes 25% unplanned buffer — we are understaffed vs sample path.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Linked roadmap outcome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Linked roadmap outcomes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Blocked / at risk without hire: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USB3 stabilize by 6/10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Sample checklist surge (board variants ×2)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H2 WiFi IP integration DV kickoff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Hiring lag: target offer 6 weeks; productive ~Q3 mid — start now for H2.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If declined (explici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If declined (explicit)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USB3 complete → 7/15 (misses sample polish window)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Sample only on golden board (Tier-1 may reject)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People risk stays yellow (deck 03)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Not a threat — a transparent trade-off for Morgan.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2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Deliverable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Full +1 senior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+ USB3 + backup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1 HC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Contractor 6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surge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Cash / no FTE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Knowledge leave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 hire + descope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Drop USB3 from sample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SKU feature miss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Approve full +1 senior DV requisition.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Open req by: 2026-05-22 (same week as sample-plan steering).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Air cover: in 5/22 steering, restate Aurora sample &gt; non-Aurora support tickets.</a:t>
            </a:r>
          </a:p>
        </p:txBody>
      </p:sp>
      <p:sp>
        <p:nvSpPr>
          <p:cNvPr id="100027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2026-08-05T23:41:39Z</dcterms:created>
  <cp:lastModifiedBy>OfficeCLI</cp:lastModifiedBy>
  <dcterms:modified xsi:type="dcterms:W3CDTF">2026-08-05T23:41:39Z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2026-08-05T23:41:41Z</vt:lpwstr>
  </op:property>
</op:Properties>
</file>