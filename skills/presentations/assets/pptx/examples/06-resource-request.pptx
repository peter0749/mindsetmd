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8f2a51a06694047" /><Relationship Type="http://schemas.openxmlformats.org/package/2006/relationships/metadata/core-properties" Target="/docProps/core.xml" Id="Rcf7fdc926fe04eac" /><Relationship Type="http://schemas.openxmlformats.org/officeDocument/2006/relationships/extended-properties" Target="/docProps/app.xml" Id="R9426beea1f6b4f60" /><Relationship Type="http://schemas.openxmlformats.org/officeDocument/2006/relationships/custom-properties" Target="/docProps/custom.xml" Id="R1e47bc81c192424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6ae0f50b7374cb0"/>
  </p:notesMasterIdLst>
  <p:sldIdLst>
    <p:sldId id="256" r:id="R76e8d9a4eab645ca"/>
    <p:sldId id="257" r:id="Ra8abd65b485c4520"/>
    <p:sldId id="258" r:id="R7dcf83517cd64f36"/>
    <p:sldId id="259" r:id="Rff033af9f76847a9"/>
    <p:sldId id="260" r:id="R9052f0aa29384dc7"/>
    <p:sldId id="261" r:id="R07a30c5391e84880"/>
    <p:sldId id="262" r:id="R150152652ee14f48"/>
    <p:sldId id="263" r:id="Rf3de39681c7e4a4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6e8d9a4eab645ca" /><Relationship Type="http://schemas.openxmlformats.org/officeDocument/2006/relationships/notesMaster" Target="/ppt/notesMasters/notesMaster1.xml" Id="Rb6ae0f50b7374cb0" /><Relationship Type="http://schemas.openxmlformats.org/officeDocument/2006/relationships/slide" Target="/ppt/slides/slide2.xml" Id="Ra8abd65b485c4520" /><Relationship Type="http://schemas.openxmlformats.org/officeDocument/2006/relationships/slide" Target="/ppt/slides/slide3.xml" Id="R7dcf83517cd64f36" /><Relationship Type="http://schemas.openxmlformats.org/officeDocument/2006/relationships/slide" Target="/ppt/slides/slide4.xml" Id="Rff033af9f76847a9" /><Relationship Type="http://schemas.openxmlformats.org/officeDocument/2006/relationships/slide" Target="/ppt/slides/slide5.xml" Id="R9052f0aa29384dc7" /><Relationship Type="http://schemas.openxmlformats.org/officeDocument/2006/relationships/slide" Target="/ppt/slides/slide6.xml" Id="R07a30c5391e84880" /><Relationship Type="http://schemas.openxmlformats.org/officeDocument/2006/relationships/slide" Target="/ppt/slides/slide7.xml" Id="R150152652ee14f48" /><Relationship Type="http://schemas.openxmlformats.org/officeDocument/2006/relationships/slide" Target="/ppt/slides/slide8.xml" Id="Rf3de39681c7e4a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e699d65ccb54ae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9014f8648b54b71" /><Relationship Type="http://schemas.openxmlformats.org/officeDocument/2006/relationships/slide" Target="/ppt/slides/slide1.xml" Id="Rc0bde2a2243f44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063c9da44d6491c" /><Relationship Type="http://schemas.openxmlformats.org/officeDocument/2006/relationships/slide" Target="/ppt/slides/slide2.xml" Id="R4b42a74e02214c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ade802f6074b32" /><Relationship Type="http://schemas.openxmlformats.org/officeDocument/2006/relationships/slide" Target="/ppt/slides/slide3.xml" Id="R9bf8427378c241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bbffd8c1e364e3e" /><Relationship Type="http://schemas.openxmlformats.org/officeDocument/2006/relationships/slide" Target="/ppt/slides/slide4.xml" Id="Rb86e3f787fcd43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7a3b80771a14290" /><Relationship Type="http://schemas.openxmlformats.org/officeDocument/2006/relationships/slide" Target="/ppt/slides/slide5.xml" Id="R3153a3904ee542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194295b760041b8" /><Relationship Type="http://schemas.openxmlformats.org/officeDocument/2006/relationships/slide" Target="/ppt/slides/slide6.xml" Id="R59caa3abffc24a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bf3d549bd294a56" /><Relationship Type="http://schemas.openxmlformats.org/officeDocument/2006/relationships/slide" Target="/ppt/slides/slide7.xml" Id="R939d129107584c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0224cd4ac4842c2" /><Relationship Type="http://schemas.openxmlformats.org/officeDocument/2006/relationships/slide" Target="/ppt/slides/slide8.xml" Id="R15722955699e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(example). Single-thread IO DV → +1 senior req with explicit sample slips if no.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Roadmap-backed headcount / resource business case</a:t>
            </a:r>
          </a:p>
          <a:p xmlns:a="http://schemas.openxmlformats.org/drawingml/2006/main">
            <a:r>
              <a:rPr lang="en-US"/>
              <a:t>EM Tools — Headcount planning: https://www.em-tools.io/engineering-manager-responsibilities/headcount-planning</a:t>
            </a:r>
          </a:p>
          <a:p xmlns:a="http://schemas.openxmlformats.org/drawingml/2006/main">
            <a:r>
              <a:rPr lang="en-US"/>
              <a:t>TPM influence without authority (when no budget ownership): https://www.mariogerard.com/how-to-influence-without-authority-as-a-tpm/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Roadmap-backed headcount / resource business case</a:t>
            </a:r>
          </a:p>
          <a:p xmlns:a="http://schemas.openxmlformats.org/drawingml/2006/main">
            <a:r>
              <a:rPr lang="en-US"/>
              <a:t>EM Tools — Headcount planning: https://www.em-tools.io/engineering-manager-responsibilities/headcount-planning</a:t>
            </a:r>
          </a:p>
          <a:p xmlns:a="http://schemas.openxmlformats.org/drawingml/2006/main">
            <a:r>
              <a:rPr lang="en-US"/>
              <a:t>TPM influence without authority (when no budget ownership): https://www.mariogerard.com/how-to-influence-without-authority-as-a-tpm/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Agent/human: answer who/stakes/decision from this slide alone. Recommend=Full +1 senior DV; open req by 2026-05-22. by 2026-05-20 (post-silicon week).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One role, crisp if-no.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Roadmap-backed.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Explicit if-no.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One role, crisp if-no.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48468160e4e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1018c30a646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da593ff7c4a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3d34fd8154b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afa23251a4d2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df207d8a10e4e3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245743b1f4b35" /><Relationship Type="http://schemas.openxmlformats.org/officeDocument/2006/relationships/notesSlide" Target="/ppt/notesSlides/notesSlide1.xml" Id="R459769ca4c1346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553cb360f4ed9" /><Relationship Type="http://schemas.openxmlformats.org/officeDocument/2006/relationships/notesSlide" Target="/ppt/notesSlides/notesSlide2.xml" Id="R8a4c7953ac47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01c57aef1455e" /><Relationship Type="http://schemas.openxmlformats.org/officeDocument/2006/relationships/notesSlide" Target="/ppt/notesSlides/notesSlide3.xml" Id="R40cfd6a1e6074a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cab2af023486d" /><Relationship Type="http://schemas.openxmlformats.org/officeDocument/2006/relationships/notesSlide" Target="/ppt/notesSlides/notesSlide4.xml" Id="R923cd920915d40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24162f41f4e57" /><Relationship Type="http://schemas.openxmlformats.org/officeDocument/2006/relationships/notesSlide" Target="/ppt/notesSlides/notesSlide5.xml" Id="R2c67f1053b0443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ad77479d44c02" /><Relationship Type="http://schemas.openxmlformats.org/officeDocument/2006/relationships/notesSlide" Target="/ppt/notesSlides/notesSlide6.xml" Id="Ra928e4ef1f1e45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45704c449430d" /><Relationship Type="http://schemas.openxmlformats.org/officeDocument/2006/relationships/notesSlide" Target="/ppt/notesSlides/notesSlide7.xml" Id="Rf5328c68d44d4b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6a6e13a8c43ed" /><Relationship Type="http://schemas.openxmlformats.org/officeDocument/2006/relationships/notesSlide" Target="/ppt/notesSlides/notesSlide8.xml" Id="R4495adba1d714e72" /></Relationships>
</file>

<file path=ppt/slides/slide1.xml><?xml version="1.0" encoding="utf-8"?>
<p:sld xmlns:p="http://schemas.openxmlformats.org/presentationml/2006/main">
  <p:cSld name="Atlas: +1 senior DV for Aurora sample surge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06  ·  EXAMPLE  ·  +1 SENIOR DV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Atlas: +1 senior DV for Aurora sample surge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Context B staffing — unplanned 20–30% already burning the plan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Roadmap-backed headcount / resource business case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EXAMPLE  ·  Atlas Platform  ·  Project Aurora  ·  NovaSemi  · 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Roadmap-backed headcount / resource business case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EM Tools — Headcount planning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https://www.em-tools.io/engineering-manager-responsibilities/headcount-planning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TPM influence without authority (when no budget ownership)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https://www.mariogerard.com/how-to-influence-without-authority-as-a-tpm/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Situation &amp; decision car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READ THIS BEFORE THE DETAILS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Situation &amp; decision card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24000"/>
            <a:ext cx="11088000" cy="49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Presenter: Alex Chen — EM, Atlas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Decision-maker: Morgan Lee — VP Eng (HC approval)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Audience: VP Eng; HRBP optional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What just happened / context: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Post-silicon (5/15 boot) sample path is live. Priya is sole senior on HS IO DV. Q2 unplanned ~20%. USB3, sample board variants, and H2 WiFi DV collide on one person.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Stakes if we get this wrong: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no hire: USB3 → 7/15 (misses sample polish); Tier-1 may get only golden board; people yellow stays (deck 03).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 needed: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Full +1 senior DV (REC) vs 6-mo contractor vs no hire + descope USB3 from sample.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Recommendation: Full +1 senior DV; open req by 2026-05-22.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YES: Offer ~6 weeks; productive mid-Q3; sample + USB3 + backup for Priya.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NO / delay: Explicit trade-off: drop USB3 from sample or accept slip — not silent heroics.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Decide by: 2026-05-20 (post-silicon week)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prior: 02 green silicon · 03 people yellow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next: 08/09 assume req opened; H2 capacity uses productive hire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BLUF — approve 1 senior DV req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4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approve 1 senior DV req</a:t>
            </a:r>
          </a:p>
        </p:txBody>
      </p:sp>
      <p:sp>
        <p:nvSpPr>
          <p:cNvPr id="100015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Ask: +1 senior DV  ·  If no: USB3 + sample surge slip  ·  Decide by 2026-05-20 (post-silicon)</a:t>
            </a:r>
          </a:p>
        </p:txBody>
      </p:sp>
      <p:sp>
        <p:nvSpPr>
          <p:cNvPr id="100016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Outcome unlocked: Tier-1 sample 6/30 with HS IO coverage and senior backup for Priya.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Gap: high-speed IO DV is single-threaded; Q2 unplanned already ~20% (context A lookback).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Headcount math (context B): demand includes 25% unplanned buffer — we are understaffed vs sample path.</a:t>
            </a:r>
          </a:p>
        </p:txBody>
      </p:sp>
      <p:sp>
        <p:nvSpPr>
          <p:cNvPr id="100017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Linked roadmap outcome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Linked roadmap outcomes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Blocked / at risk without hire: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USB3 stabilize by 6/10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Sample checklist surge (board variants ×2)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H2 WiFi IP integration DV kickoff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Hiring lag: target offer 6 weeks; productive ~Q3 mid — start now for H2.</a:t>
            </a:r>
          </a:p>
        </p:txBody>
      </p:sp>
      <p:sp>
        <p:nvSpPr>
          <p:cNvPr id="100020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If declined (explicit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1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If declined (explicit)</a:t>
            </a:r>
          </a:p>
        </p:txBody>
      </p:sp>
      <p:sp>
        <p:nvSpPr>
          <p:cNvPr id="100022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USB3 complete → 7/15 (misses sample polish window)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Sample only on golden board (Tier-1 may reject)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People risk stays yellow (deck 03)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Not a threat — a transparent trade-off for Morgan.</a:t>
            </a:r>
          </a:p>
        </p:txBody>
      </p:sp>
      <p:sp>
        <p:nvSpPr>
          <p:cNvPr id="100023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6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2000"/>
                <a:gridCol w="2772000"/>
                <a:gridCol w="2772000"/>
                <a:gridCol w="2772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Deliverable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Full +1 senior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Sample + USB3 +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1 HC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Contractor 6 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Sample surge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Cash / no FTE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Knowledge 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No hire + descope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Drop USB3 from 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SKU feature 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7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8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9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30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Decision: Approve full +1 senior DV requisition.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Open req by: 2026-05-22 (same week as sample-plan steering).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Air cover: in 5/22 steering, restate Aurora sample &gt; non-Aurora support tickets.</a:t>
            </a:r>
          </a:p>
        </p:txBody>
      </p:sp>
      <p:sp>
        <p:nvSpPr>
          <p:cNvPr id="100031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2026-08-05T23:47:00Z</dcterms:created>
  <cp:lastModifiedBy>OfficeCLI</cp:lastModifiedBy>
  <dcterms:modified xsi:type="dcterms:W3CDTF">2026-08-05T23:47:00Z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2026-08-05T23:47:01Z</vt:lpwstr>
  </op:property>
</op:Properties>
</file>