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c2774fd70834cba" /><Relationship Type="http://schemas.openxmlformats.org/package/2006/relationships/metadata/core-properties" Target="/docProps/core.xml" Id="R303cb0bd281a4e17" /><Relationship Type="http://schemas.openxmlformats.org/officeDocument/2006/relationships/extended-properties" Target="/docProps/app.xml" Id="Re0e9c7f3295f43a0" /><Relationship Type="http://schemas.openxmlformats.org/officeDocument/2006/relationships/custom-properties" Target="/docProps/custom.xml" Id="R82853a8be1564d1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34b1dda439b44d89"/>
  </p:notesMasterIdLst>
  <p:sldIdLst>
    <p:sldId id="256" r:id="R832cc1c1ba214ac3"/>
    <p:sldId id="257" r:id="Rdd9e7ae9629648da"/>
    <p:sldId id="258" r:id="R066b9dc0a0ce4d56"/>
    <p:sldId id="259" r:id="Rb01856dea8ee4ebf"/>
    <p:sldId id="260" r:id="R755af231422f43a3"/>
    <p:sldId id="261" r:id="Rf028909fabe2474f"/>
    <p:sldId id="262" r:id="Rce315af069c646b8"/>
    <p:sldId id="263" r:id="Rbd9939dc39f44c2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832cc1c1ba214ac3" /><Relationship Type="http://schemas.openxmlformats.org/officeDocument/2006/relationships/notesMaster" Target="/ppt/notesMasters/notesMaster1.xml" Id="R34b1dda439b44d89" /><Relationship Type="http://schemas.openxmlformats.org/officeDocument/2006/relationships/slide" Target="/ppt/slides/slide2.xml" Id="Rdd9e7ae9629648da" /><Relationship Type="http://schemas.openxmlformats.org/officeDocument/2006/relationships/slide" Target="/ppt/slides/slide3.xml" Id="R066b9dc0a0ce4d56" /><Relationship Type="http://schemas.openxmlformats.org/officeDocument/2006/relationships/slide" Target="/ppt/slides/slide4.xml" Id="Rb01856dea8ee4ebf" /><Relationship Type="http://schemas.openxmlformats.org/officeDocument/2006/relationships/slide" Target="/ppt/slides/slide5.xml" Id="R755af231422f43a3" /><Relationship Type="http://schemas.openxmlformats.org/officeDocument/2006/relationships/slide" Target="/ppt/slides/slide6.xml" Id="Rf028909fabe2474f" /><Relationship Type="http://schemas.openxmlformats.org/officeDocument/2006/relationships/slide" Target="/ppt/slides/slide7.xml" Id="Rce315af069c646b8" /><Relationship Type="http://schemas.openxmlformats.org/officeDocument/2006/relationships/slide" Target="/ppt/slides/slide8.xml" Id="Rbd9939dc39f44c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b385b5af88c42ea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9be5f66afb04d9c" /><Relationship Type="http://schemas.openxmlformats.org/officeDocument/2006/relationships/slide" Target="/ppt/slides/slide1.xml" Id="Rfae881f2edf741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412f9715aa24346" /><Relationship Type="http://schemas.openxmlformats.org/officeDocument/2006/relationships/slide" Target="/ppt/slides/slide2.xml" Id="R3f87dd3d9a7146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90782c4111f4a3a" /><Relationship Type="http://schemas.openxmlformats.org/officeDocument/2006/relationships/slide" Target="/ppt/slides/slide3.xml" Id="Rb96f8790c40949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fbc7c04daf9484a" /><Relationship Type="http://schemas.openxmlformats.org/officeDocument/2006/relationships/slide" Target="/ppt/slides/slide4.xml" Id="Rf6fe528fb33946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e5123f686ed46ce" /><Relationship Type="http://schemas.openxmlformats.org/officeDocument/2006/relationships/slide" Target="/ppt/slides/slide5.xml" Id="Rf3162eac477f46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d0a74120c5b496c" /><Relationship Type="http://schemas.openxmlformats.org/officeDocument/2006/relationships/slide" Target="/ppt/slides/slide6.xml" Id="R4090c14a91de46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e0eb91c63ae4c30" /><Relationship Type="http://schemas.openxmlformats.org/officeDocument/2006/relationships/slide" Target="/ppt/slides/slide7.xml" Id="R7770755f8052408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fed880024c04b27" /><Relationship Type="http://schemas.openxmlformats.org/officeDocument/2006/relationships/slide" Target="/ppt/slides/slide8.xml" Id="R0f0643cfa6a049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Single-thread IO DV → +1 senior req with explicit sample slips if no.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Roadmap-backed headcount / resource business case</a:t>
            </a:r>
          </a:p>
          <a:p xmlns:a="http://schemas.openxmlformats.org/drawingml/2006/main">
            <a:r>
              <a:rPr lang="en-US"/>
              <a:t>EM Tools — Headcount planning: https://www.em-tools.io/engineering-manager-responsibilities/headcount-planning</a:t>
            </a:r>
          </a:p>
          <a:p xmlns:a="http://schemas.openxmlformats.org/drawingml/2006/main">
            <a:r>
              <a:rPr lang="en-US"/>
              <a:t>TPM influence without authority (when no budget ownership): https://www.mariogerard.com/how-to-influence-without-authority-as-a-tpm/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Roadmap-backed headcount / resource business case</a:t>
            </a:r>
          </a:p>
          <a:p xmlns:a="http://schemas.openxmlformats.org/drawingml/2006/main">
            <a:r>
              <a:rPr lang="en-US"/>
              <a:t>EM Tools — Headcount planning: https://www.em-tools.io/engineering-manager-responsibilities/headcount-planning</a:t>
            </a:r>
          </a:p>
          <a:p xmlns:a="http://schemas.openxmlformats.org/drawingml/2006/main">
            <a:r>
              <a:rPr lang="en-US"/>
              <a:t>TPM influence without authority (when no budget ownership): https://www.mariogerard.com/how-to-influence-without-authority-as-a-tpm/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Recommend=Full +1 senior DV; open req by 2026-05-22. by 2026-05-20 (post-silicon week).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role, crisp if-no.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Roadmap-backed.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Explicit if-no.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role, crisp if-no.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7e6a6f7bfc475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e57072feb049e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ccce90d926479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1134256326413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b0579f53d14fb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be5ad2d8591b491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21bb25100446ac" /><Relationship Type="http://schemas.openxmlformats.org/officeDocument/2006/relationships/notesSlide" Target="/ppt/notesSlides/notesSlide1.xml" Id="R0e358de473004aa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44c50dcad4913" /><Relationship Type="http://schemas.openxmlformats.org/officeDocument/2006/relationships/notesSlide" Target="/ppt/notesSlides/notesSlide2.xml" Id="R8b8fa8983e9d40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4732ef78d42ff" /><Relationship Type="http://schemas.openxmlformats.org/officeDocument/2006/relationships/notesSlide" Target="/ppt/notesSlides/notesSlide3.xml" Id="Rb04aab6b4de14e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91109ef4642ef" /><Relationship Type="http://schemas.openxmlformats.org/officeDocument/2006/relationships/notesSlide" Target="/ppt/notesSlides/notesSlide4.xml" Id="R9dc577f2dafc41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f370a48a27464a" /><Relationship Type="http://schemas.openxmlformats.org/officeDocument/2006/relationships/notesSlide" Target="/ppt/notesSlides/notesSlide5.xml" Id="R1ebd9884548d40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1bd03e0b4a409d" /><Relationship Type="http://schemas.openxmlformats.org/officeDocument/2006/relationships/notesSlide" Target="/ppt/notesSlides/notesSlide6.xml" Id="R631013c82acf40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a8097aaaad433d" /><Relationship Type="http://schemas.openxmlformats.org/officeDocument/2006/relationships/notesSlide" Target="/ppt/notesSlides/notesSlide7.xml" Id="R12a4acee69a54b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4a1923dcff4934" /><Relationship Type="http://schemas.openxmlformats.org/officeDocument/2006/relationships/notesSlide" Target="/ppt/notesSlides/notesSlide8.xml" Id="R6b43bac9bf0e4bc1" /></Relationships>
</file>

<file path=ppt/slides/slide1.xml><?xml version="1.0" encoding="utf-8"?>
<p:sld xmlns:p="http://schemas.openxmlformats.org/presentationml/2006/main">
  <p:cSld name="Atlas: +1 senior DV for Aurora sample surg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06  ·  EXAMPLE  ·  +1 SENIOR DV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Atlas: +1 senior DV for Aurora sample surge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Context B staffing — unplanned 20–30% already burning the plan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Roadmap-backed headcount / resource business case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Roadmap-backed headcount / resource business case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Headcount 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https://www.em-tools.io/engineering-manager-responsibilities/headcount-planning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TPM influence without authority (when no budget ownership)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https://www.mariogerard.com/how-to-influence-without-authority-as-a-tpm/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— VP Eng (HC approval)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VP Eng; HRBP optional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Post-silicon (5/15 boot) sample path is live. Priya is sole senior on HS IO DV. Q2 unplanned ~20%. USB3, sample board variants, and H2 WiFi DV collide on one person.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hire: USB3 → 7/15 (misses sample polish); Tier-1 may get only golden board; people yellow stays (deck 03).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Full +1 senior DV (REC) vs 6-mo contractor vs no hire + descope USB3 from sample.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Full +1 senior DV; open req by 2026-05-22.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Offer ~6 weeks; productive mid-Q3; sample + USB3 + backup for Priya.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Explicit trade-off: drop USB3 from sample or accept slip — not silent heroics.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2026-05-20 (post-silicon week)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02 green silicon · 03 people yellow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Later decks 04–05/07/09/08 assume req opened; H2 uses productive hire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approve 1 senior DV req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approve 1 senior DV req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Ask: +1 senior DV  ·  If no: USB3 + sample surge slip  ·  Decide by 2026-05-20 (post-silicon)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unlocked: Tier-1 sample 6/30 with HS IO coverage and senior backup for Priya.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Gap: high-speed IO DV is single-threaded; Q2 unplanned already ~20% (context A lookback).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Headcount math (context B): demand includes 25% unplanned buffer — we are understaffed vs sample path.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Linked roadmap outcome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Linked roadmap outcomes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Blocked / at risk without hire: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USB3 stabilize by 6/10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Sample checklist surge (board variants ×2)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H2 WiFi IP integration DV kickoff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 lag: target offer 6 weeks; productive ~Q3 mid — start now for H2.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If declined (explici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If declined (explicit)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USB3 complete → 7/15 (misses sample polish window)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Sample only on golden board (Tier-1 may reject)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People risk stays yellow (deck 03)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Not a threat — a transparent trade-off for Morgan.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6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Deliverable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Full +1 senior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+ USB3 + backup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1 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Contractor 6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surge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Cash / no FTE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Knowledge leave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 hire + descope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Drop USB3 from sample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SKU feature miss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8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9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Approve full +1 senior DV requisition.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Open req by: 2026-05-22 (same week as sample-plan steering).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Air cover: in 5/22 steering, restate Aurora sample &gt; non-Aurora support tickets.</a:t>
            </a:r>
          </a:p>
        </p:txBody>
      </p:sp>
      <p:sp>
        <p:nvSpPr>
          <p:cNvPr id="100031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2026-08-05T23:59:36Z</dcterms:created>
  <cp:lastModifiedBy>OfficeCLI</cp:lastModifiedBy>
  <dcterms:modified xsi:type="dcterms:W3CDTF">2026-08-05T23:59:36Z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2026-08-05T23:59:37Z</vt:lpwstr>
  </op:property>
</op:Properties>
</file>