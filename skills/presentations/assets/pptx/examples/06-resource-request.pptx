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b6b3d3e3f574cb3" /><Relationship Type="http://schemas.openxmlformats.org/package/2006/relationships/metadata/core-properties" Target="/docProps/core.xml" Id="R3135b236cb164464" /><Relationship Type="http://schemas.openxmlformats.org/officeDocument/2006/relationships/extended-properties" Target="/docProps/app.xml" Id="Rd2719e724db3410b" /><Relationship Type="http://schemas.openxmlformats.org/officeDocument/2006/relationships/custom-properties" Target="/docProps/custom.xml" Id="R894b8f8ac61b4f0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29a95c613a894dad"/>
  </p:notesMasterIdLst>
  <p:sldIdLst>
    <p:sldId id="256" r:id="R8094eb7bc053403d"/>
    <p:sldId id="257" r:id="Rae676f3d75834944"/>
    <p:sldId id="258" r:id="R1fb1d57aabb14635"/>
    <p:sldId id="259" r:id="R1e449facf8524007"/>
    <p:sldId id="260" r:id="R118516fba3db4b73"/>
    <p:sldId id="261" r:id="R49b4e58dd2944083"/>
    <p:sldId id="262" r:id="R269c271eeee14924"/>
    <p:sldId id="263" r:id="Re3539135ccb7430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8094eb7bc053403d" /><Relationship Type="http://schemas.openxmlformats.org/officeDocument/2006/relationships/notesMaster" Target="/ppt/notesMasters/notesMaster1.xml" Id="R29a95c613a894dad" /><Relationship Type="http://schemas.openxmlformats.org/officeDocument/2006/relationships/slide" Target="/ppt/slides/slide2.xml" Id="Rae676f3d75834944" /><Relationship Type="http://schemas.openxmlformats.org/officeDocument/2006/relationships/slide" Target="/ppt/slides/slide3.xml" Id="R1fb1d57aabb14635" /><Relationship Type="http://schemas.openxmlformats.org/officeDocument/2006/relationships/slide" Target="/ppt/slides/slide4.xml" Id="R1e449facf8524007" /><Relationship Type="http://schemas.openxmlformats.org/officeDocument/2006/relationships/slide" Target="/ppt/slides/slide5.xml" Id="R118516fba3db4b73" /><Relationship Type="http://schemas.openxmlformats.org/officeDocument/2006/relationships/slide" Target="/ppt/slides/slide6.xml" Id="R49b4e58dd2944083" /><Relationship Type="http://schemas.openxmlformats.org/officeDocument/2006/relationships/slide" Target="/ppt/slides/slide7.xml" Id="R269c271eeee14924" /><Relationship Type="http://schemas.openxmlformats.org/officeDocument/2006/relationships/slide" Target="/ppt/slides/slide8.xml" Id="Re3539135ccb743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5e582a96e324bc8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837674f70ec4b76" /><Relationship Type="http://schemas.openxmlformats.org/officeDocument/2006/relationships/slide" Target="/ppt/slides/slide1.xml" Id="R49d2298b9cd746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7e925c438f84b18" /><Relationship Type="http://schemas.openxmlformats.org/officeDocument/2006/relationships/slide" Target="/ppt/slides/slide2.xml" Id="R976adc0ed6e2464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812e7fc72b246f6" /><Relationship Type="http://schemas.openxmlformats.org/officeDocument/2006/relationships/slide" Target="/ppt/slides/slide3.xml" Id="R6267e809827e4f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7de538898014c0c" /><Relationship Type="http://schemas.openxmlformats.org/officeDocument/2006/relationships/slide" Target="/ppt/slides/slide4.xml" Id="R04c1e32469b349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8e4069b4cb541e3" /><Relationship Type="http://schemas.openxmlformats.org/officeDocument/2006/relationships/slide" Target="/ppt/slides/slide5.xml" Id="R209dce8e0e824d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e6b2f4398074072" /><Relationship Type="http://schemas.openxmlformats.org/officeDocument/2006/relationships/slide" Target="/ppt/slides/slide6.xml" Id="R410225b798ef436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fd172c17aa64441" /><Relationship Type="http://schemas.openxmlformats.org/officeDocument/2006/relationships/slide" Target="/ppt/slides/slide7.xml" Id="Reedcd78bd61d48d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83f5bbde3084f23" /><Relationship Type="http://schemas.openxmlformats.org/officeDocument/2006/relationships/slide" Target="/ppt/slides/slide8.xml" Id="R8399bcc11e3640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Single-thread IO DV → +1 senior req with explicit sample slips if no.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Roadmap-backed headcount / resource business case</a:t>
            </a:r>
          </a:p>
          <a:p xmlns:a="http://schemas.openxmlformats.org/drawingml/2006/main">
            <a:r>
              <a:rPr lang="en-US"/>
              <a:t>EM Tools — Headcount planning: https://www.em-tools.io/engineering-manager-responsibilities/headcount-planning</a:t>
            </a:r>
          </a:p>
          <a:p xmlns:a="http://schemas.openxmlformats.org/drawingml/2006/main">
            <a:r>
              <a:rPr lang="en-US"/>
              <a:t>TPM influence without authority (when no budget ownership): https://www.mariogerard.com/how-to-influence-without-authority-as-a-tpm/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Roadmap-backed headcount / resource business case</a:t>
            </a:r>
          </a:p>
          <a:p xmlns:a="http://schemas.openxmlformats.org/drawingml/2006/main">
            <a:r>
              <a:rPr lang="en-US"/>
              <a:t>EM Tools — Headcount planning: https://www.em-tools.io/engineering-manager-responsibilities/headcount-planning</a:t>
            </a:r>
          </a:p>
          <a:p xmlns:a="http://schemas.openxmlformats.org/drawingml/2006/main">
            <a:r>
              <a:rPr lang="en-US"/>
              <a:t>TPM influence without authority (when no budget ownership): https://www.mariogerard.com/how-to-influence-without-authority-as-a-tpm/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Agent/human: answer who/stakes/decision from this slide alone. Recommend=Full +1 senior DV; open req by 2026-05-22. by 2026-05-20 (post-silicon week).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role, crisp if-no.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Roadmap-backed.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Explicit if-no.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role, crisp if-no.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091f8e32c149f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057f8950c541a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ba1233574a4b3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7309837a51425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663bf6198d417a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6f3bc1b935d147c6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1e4fb7459948f7" /><Relationship Type="http://schemas.openxmlformats.org/officeDocument/2006/relationships/notesSlide" Target="/ppt/notesSlides/notesSlide1.xml" Id="R9e01024fd0b244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6f301d7635488a" /><Relationship Type="http://schemas.openxmlformats.org/officeDocument/2006/relationships/notesSlide" Target="/ppt/notesSlides/notesSlide2.xml" Id="Rda5a1d3d9a8d41b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ebbf0aadcf473f" /><Relationship Type="http://schemas.openxmlformats.org/officeDocument/2006/relationships/notesSlide" Target="/ppt/notesSlides/notesSlide3.xml" Id="Rc7a1a2b5b00a482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6d21e9df954468" /><Relationship Type="http://schemas.openxmlformats.org/officeDocument/2006/relationships/notesSlide" Target="/ppt/notesSlides/notesSlide4.xml" Id="R33a6159bc19c42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2a5036fce748d5" /><Relationship Type="http://schemas.openxmlformats.org/officeDocument/2006/relationships/notesSlide" Target="/ppt/notesSlides/notesSlide5.xml" Id="R7b63552e9999400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772c6ac7ad4646" /><Relationship Type="http://schemas.openxmlformats.org/officeDocument/2006/relationships/notesSlide" Target="/ppt/notesSlides/notesSlide6.xml" Id="Ra1c7ca03ddd845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d9c33e5662433f" /><Relationship Type="http://schemas.openxmlformats.org/officeDocument/2006/relationships/notesSlide" Target="/ppt/notesSlides/notesSlide7.xml" Id="R81ac70d5fb82433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76e70058f04537" /><Relationship Type="http://schemas.openxmlformats.org/officeDocument/2006/relationships/notesSlide" Target="/ppt/notesSlides/notesSlide8.xml" Id="Ree5c4ab7803b48df" /></Relationships>
</file>

<file path=ppt/slides/slide1.xml><?xml version="1.0" encoding="utf-8"?>
<p:sld xmlns:p="http://schemas.openxmlformats.org/presentationml/2006/main">
  <p:cSld name="Atlas: +1 senior DV for Aurora sample surge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06  ·  EXAMPLE  ·  +1 SENIOR DV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Atlas: +1 senior DV for Aurora sample surge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Context B staffing — unplanned 20–30% already burning the plan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Roadmap-backed headcount / resource business case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Roadmap-backed headcount / resource business case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Headcount 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https://www.em-tools.io/engineering-manager-responsibilities/headcount-planning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TPM influence without authority (when no budget ownership)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https://www.mariogerard.com/how-to-influence-without-authority-as-a-tpm/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CONTENT TEMPLATE ONLY — do not copy visual design (colors, margins, fonts) as a brand system.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 · assets/README.md (agent notice)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ituation &amp; decision car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READ THIS BEFORE THE DETAILS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Situation &amp; decision card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24000"/>
            <a:ext cx="11088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Presenter: Alex Chen — EM, Atlas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Decision-maker: Morgan Lee — VP Eng (HC approval)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Audience: VP Eng; HRBP optional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What just happened / context: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Post-silicon (5/15 boot) sample path is live. Priya is sole senior on HS IO DV. Q2 unplanned ~20%. USB3, sample board variants, and H2 WiFi DV collide on one person.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Stakes if we get this wrong: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hire: USB3 → 7/15 (misses sample polish); Tier-1 may get only golden board; people yellow stays (deck 03).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 needed: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Full +1 senior DV (REC) vs 6-mo contractor vs no hire + descope USB3 from sample.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Recommendation: Full +1 senior DV; open req by 2026-05-22.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YES: Offer ~6 weeks; productive mid-Q3; sample + USB3 + backup for Priya.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/ delay: Explicit trade-off: drop USB3 from sample or accept slip — not silent heroics.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Decide by: 2026-05-20 (post-silicon week)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prior: 02 green silicon · 03 people yellow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next: Later decks 04–05/07/09/08 assume req opened; H2 uses productive hire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LUF — approve 1 senior DV req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approve 1 senior DV req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Ask: +1 senior DV  ·  If no: USB3 + sample surge slip  ·  Decide by 2026-05-20 (post-silicon)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 unlocked: Tier-1 sample 6/30 with HS IO coverage and senior backup for Priya.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Gap: high-speed IO DV is single-threaded; Q2 unplanned already ~20% (context A lookback).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Headcount math (context B): demand includes 25% unplanned buffer — we are understaffed vs sample path.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Linked roadmap outcome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Linked roadmap outcomes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Blocked / at risk without hire: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USB3 stabilize by 6/10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Sample checklist surge (board variants ×2)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H2 WiFi IP integration DV kickoff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Hiring lag: target offer 6 weeks; productive ~Q3 mid — start now for H2.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If declined (explicit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If declined (explicit)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USB3 complete → 7/15 (misses sample polish window)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Sample only on golden board (Tier-1 may reject)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People risk stays yellow (deck 03)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Not a threat — a transparent trade-off for Morgan.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6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Deliverable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Full +1 senior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+ USB3 + backup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1 HC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Contractor 6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surge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Cash / no FTE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Knowledge leave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 hire + descope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Drop USB3 from sample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SKU feature miss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8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9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30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Decision: Approve full +1 senior DV requisition.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Open req by: 2026-05-22 (same week as sample-plan steering).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Air cover: in 5/22 steering, restate Aurora sample &gt; non-Aurora support tickets.</a:t>
            </a:r>
          </a:p>
        </p:txBody>
      </p:sp>
      <p:sp>
        <p:nvSpPr>
          <p:cNvPr id="100031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2026-08-06T00:06:01Z</dcterms:created>
  <cp:lastModifiedBy>OfficeCLI</cp:lastModifiedBy>
  <dcterms:modified xsi:type="dcterms:W3CDTF">2026-08-06T00:06:01Z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2026-08-06T00:06:03Z</vt:lpwstr>
  </op:property>
</op:Properties>
</file>