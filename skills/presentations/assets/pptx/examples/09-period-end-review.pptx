
<file path=[Content_Types].xml><?xml version="1.0" encoding="utf-8"?>
<Types xmlns="http://schemas.openxmlformats.org/package/2006/content-types">
  <Default Extension="xml" ContentType="application/vnd.openxmlformats-officedocument.presentationml.presentation.main+xml"/>
  <Default Extension="rels" ContentType="application/vnd.openxmlformats-package.relationships+xml"/>
  <Override PartName="/ppt/slideMasters/slideMaster1.xml" ContentType="application/vnd.openxmlformats-officedocument.presentationml.slideMaster+xml"/>
  <Override PartName="/ppt/slideLayouts/slideLayout1.xml" ContentType="application/vnd.openxmlformats-officedocument.presentationml.slideLayout+xml"/>
  <Override PartName="/ppt/theme/theme1.xml" ContentType="application/vnd.openxmlformats-officedocument.theme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  <Override PartName="/ppt/notesMasters/notesMaster1.xml" ContentType="application/vnd.openxmlformats-officedocument.presentationml.notesMaster+xml"/>
  <Override PartName="/ppt/notesMasters/theme/theme2.xml" ContentType="application/vnd.openxmlformats-officedocument.theme+xml"/>
  <Override PartName="/ppt/slides/slide2.xml" ContentType="application/vnd.openxmlformats-officedocument.presentationml.slide+xml"/>
  <Override PartName="/ppt/notesSlides/notesSlide2.xml" ContentType="application/vnd.openxmlformats-officedocument.presentationml.notesSlide+xml"/>
  <Override PartName="/ppt/slides/slide3.xml" ContentType="application/vnd.openxmlformats-officedocument.presentationml.slide+xml"/>
  <Override PartName="/ppt/notesSlides/notesSlide3.xml" ContentType="application/vnd.openxmlformats-officedocument.presentationml.notesSlide+xml"/>
  <Override PartName="/ppt/slides/slide4.xml" ContentType="application/vnd.openxmlformats-officedocument.presentationml.slide+xml"/>
  <Override PartName="/ppt/notesSlides/notesSlide4.xml" ContentType="application/vnd.openxmlformats-officedocument.presentationml.notesSlide+xml"/>
  <Override PartName="/ppt/slides/slide5.xml" ContentType="application/vnd.openxmlformats-officedocument.presentationml.slide+xml"/>
  <Override PartName="/ppt/notesSlides/notesSlide5.xml" ContentType="application/vnd.openxmlformats-officedocument.presentationml.notesSlide+xml"/>
  <Override PartName="/ppt/slides/slide6.xml" ContentType="application/vnd.openxmlformats-officedocument.presentationml.slide+xml"/>
  <Override PartName="/ppt/notesSlides/notesSlide6.xml" ContentType="application/vnd.openxmlformats-officedocument.presentationml.notesSlide+xml"/>
  <Override PartName="/ppt/slides/slide7.xml" ContentType="application/vnd.openxmlformats-officedocument.presentationml.slide+xml"/>
  <Override PartName="/ppt/notesSlides/notesSlide7.xml" ContentType="application/vnd.openxmlformats-officedocument.presentationml.notesSlide+xml"/>
  <Override PartName="/ppt/slides/slide8.xml" ContentType="application/vnd.openxmlformats-officedocument.presentationml.slide+xml"/>
  <Override PartName="/ppt/notesSlides/notesSlide8.xml" ContentType="application/vnd.openxmlformats-officedocument.presentationml.notesSlide+xml"/>
  <Override PartName="/ppt/slides/slide9.xml" ContentType="application/vnd.openxmlformats-officedocument.presentationml.slide+xml"/>
  <Override PartName="/ppt/notesSlides/notesSlide9.xml" ContentType="application/vnd.openxmlformats-officedocument.presentationml.notesSlide+xml"/>
</Types>
</file>

<file path=_rels/.rels>&#65279;<?xml version="1.0" encoding="utf-8"?><Relationships xmlns="http://schemas.openxmlformats.org/package/2006/relationships"><Relationship Type="http://schemas.openxmlformats.org/officeDocument/2006/relationships/officeDocument" Target="/ppt/presentation.xml" Id="R3bffbf32d44a47f3" /><Relationship Type="http://schemas.openxmlformats.org/package/2006/relationships/metadata/core-properties" Target="/docProps/core.xml" Id="R2d744c651fba44ab" /><Relationship Type="http://schemas.openxmlformats.org/officeDocument/2006/relationships/extended-properties" Target="/docProps/app.xml" Id="R94cd8ff310674fa8" /><Relationship Type="http://schemas.openxmlformats.org/officeDocument/2006/relationships/custom-properties" Target="/docProps/custom.xml" Id="Re6a69621b57a483d" /></Relationships>
</file>

<file path=ppt/presentation.xml><?xml version="1.0" encoding="utf-8"?>
<p:presentation xmlns:r="http://schemas.openxmlformats.org/officeDocument/2006/relationships" xmlns:p="http://schemas.openxmlformats.org/presentationml/2006/main">
  <p:sldMasterIdLst>
    <p:sldMasterId xmlns:r="http://schemas.openxmlformats.org/officeDocument/2006/relationships" id="2147483648" r:id="rId1"/>
  </p:sldMasterIdLst>
  <p:notesMasterIdLst>
    <p:notesMasterId r:id="Ra55a7986e38e48aa"/>
  </p:notesMasterIdLst>
  <p:sldIdLst>
    <p:sldId id="256" r:id="R764d5d1549854f94"/>
    <p:sldId id="257" r:id="R79eb9fa6a46c4b79"/>
    <p:sldId id="258" r:id="R11decac73cfd4600"/>
    <p:sldId id="259" r:id="R8cf55bde80ff4202"/>
    <p:sldId id="260" r:id="Rb359660c8b224955"/>
    <p:sldId id="261" r:id="R5d64bf91312c4eaf"/>
    <p:sldId id="262" r:id="R4fd5283296ba498f"/>
    <p:sldId id="263" r:id="R2f109608eea54f03"/>
    <p:sldId id="264" r:id="R4b0d50cdbf8b4d4f"/>
  </p:sldIdLst>
  <p:sldSz cx="12192000" cy="6858000"/>
  <p:notesSz cx="6858000" cy="9144000"/>
</p:presentation>
</file>

<file path=ppt/_rels/presentation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Id1" /><Relationship Type="http://schemas.openxmlformats.org/officeDocument/2006/relationships/theme" Target="/ppt/theme/theme1.xml" Id="rId2" /><Relationship Type="http://schemas.openxmlformats.org/officeDocument/2006/relationships/slide" Target="/ppt/slides/slide1.xml" Id="R764d5d1549854f94" /><Relationship Type="http://schemas.openxmlformats.org/officeDocument/2006/relationships/notesMaster" Target="/ppt/notesMasters/notesMaster1.xml" Id="Ra55a7986e38e48aa" /><Relationship Type="http://schemas.openxmlformats.org/officeDocument/2006/relationships/slide" Target="/ppt/slides/slide2.xml" Id="R79eb9fa6a46c4b79" /><Relationship Type="http://schemas.openxmlformats.org/officeDocument/2006/relationships/slide" Target="/ppt/slides/slide3.xml" Id="R11decac73cfd4600" /><Relationship Type="http://schemas.openxmlformats.org/officeDocument/2006/relationships/slide" Target="/ppt/slides/slide4.xml" Id="R8cf55bde80ff4202" /><Relationship Type="http://schemas.openxmlformats.org/officeDocument/2006/relationships/slide" Target="/ppt/slides/slide5.xml" Id="Rb359660c8b224955" /><Relationship Type="http://schemas.openxmlformats.org/officeDocument/2006/relationships/slide" Target="/ppt/slides/slide6.xml" Id="R5d64bf91312c4eaf" /><Relationship Type="http://schemas.openxmlformats.org/officeDocument/2006/relationships/slide" Target="/ppt/slides/slide7.xml" Id="R4fd5283296ba498f" /><Relationship Type="http://schemas.openxmlformats.org/officeDocument/2006/relationships/slide" Target="/ppt/slides/slide8.xml" Id="R2f109608eea54f03" /><Relationship Type="http://schemas.openxmlformats.org/officeDocument/2006/relationships/slide" Target="/ppt/slides/slide9.xml" Id="R4b0d50cdbf8b4d4f" /></Relationships>
</file>

<file path=ppt/notesMasters/_rels/notesMaster1.xml.rels>&#65279;<?xml version="1.0" encoding="utf-8"?><Relationships xmlns="http://schemas.openxmlformats.org/package/2006/relationships"><Relationship Type="http://schemas.openxmlformats.org/officeDocument/2006/relationships/theme" Target="/ppt/notesMasters/theme/theme2.xml" Id="Rb1cd8402e1774bea" 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/>
          <a:lstStyle>
            <a:lvl1pPr algn="r">
              <a:defRPr sz="1200"/>
            </a:lvl1pPr>
          </a:lstStyle>
          <a:p>
            <a:fld id="{B1E4B0A2-5C8E-4E5F-9C1D-2F3A4B5C6D71}" type="datetimeFigureOut">
              <a:rPr lang="en-US"/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257175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3429000"/>
            <a:ext cx="5486400" cy="4114800"/>
          </a:xfrm>
          <a:prstGeom prst="rect">
            <a:avLst/>
          </a:prstGeom>
        </p:spPr>
        <p:txBody>
          <a:bodyPr vert="horz" lIns="91440" tIns="45720" rIns="91440" bIns="45720"/>
          <a:lstStyle/>
          <a:p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/>
          <a:lstStyle>
            <a:lvl1pPr algn="r">
              <a:defRPr sz="1200"/>
            </a:lvl1pPr>
          </a:lstStyle>
          <a:p>
            <a:fld id="{B1E4B0A2-5C8E-4E5F-9C1D-2F3A4B5C6D72}" type="slidenum">
              <a:rPr lang="en-US"/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Masters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/>
        <a:ea typeface=""/>
        <a:cs typeface=""/>
      </a:majorFont>
      <a:minorFont>
        <a:latin typeface="Calibri"/>
        <a:ea typeface=""/>
        <a:cs typeface=""/>
      </a:minorFont>
    </a:fontScheme>
    <a:fmtScheme name="Office">
      <a:fillStyleLst>
        <a:solidFill>
          <a:schemeClr val="phClr"/>
        </a:solidFill>
        <a:solidFill>
          <a:schemeClr val="phClr"/>
        </a:solidFill>
        <a:solidFill>
          <a:schemeClr val="phClr"/>
        </a:solidFill>
      </a:fillStyleLst>
      <a:lnStyleLst>
        <a:ln w="6350" cap="flat">
          <a:solidFill>
            <a:schemeClr val="phClr"/>
          </a:solidFill>
        </a:ln>
        <a:ln w="12700" cap="flat">
          <a:solidFill>
            <a:schemeClr val="phClr"/>
          </a:solidFill>
        </a:ln>
        <a:ln w="19050" cap="flat">
          <a:solidFill>
            <a:schemeClr val="phClr"/>
          </a:solidFill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/>
        </a:solidFill>
        <a:solidFill>
          <a:schemeClr val="phClr"/>
        </a:solidFill>
      </a:bgFillStyleLst>
    </a:fmtScheme>
  </a:themeElements>
</a:theme>
</file>

<file path=ppt/notesSlides/_rels/notesSlide1.xml.rels>&#65279;<?xml version="1.0" encoding="utf-8"?><Relationships xmlns="http://schemas.openxmlformats.org/package/2006/relationships"><Relationship Type="http://schemas.openxmlformats.org/officeDocument/2006/relationships/notesMaster" Target="/ppt/notesMasters/notesMaster1.xml" Id="Re53851e242c9445a" /><Relationship Type="http://schemas.openxmlformats.org/officeDocument/2006/relationships/slide" Target="/ppt/slides/slide1.xml" Id="R51eb7375b7274025" /></Relationships>
</file>

<file path=ppt/notesSlides/_rels/notesSlide2.xml.rels>&#65279;<?xml version="1.0" encoding="utf-8"?><Relationships xmlns="http://schemas.openxmlformats.org/package/2006/relationships"><Relationship Type="http://schemas.openxmlformats.org/officeDocument/2006/relationships/notesMaster" Target="/ppt/notesMasters/notesMaster1.xml" Id="R4519a4ada48f4735" /><Relationship Type="http://schemas.openxmlformats.org/officeDocument/2006/relationships/slide" Target="/ppt/slides/slide2.xml" Id="R843eafc434d045ad" /></Relationships>
</file>

<file path=ppt/notesSlides/_rels/notesSlide3.xml.rels>&#65279;<?xml version="1.0" encoding="utf-8"?><Relationships xmlns="http://schemas.openxmlformats.org/package/2006/relationships"><Relationship Type="http://schemas.openxmlformats.org/officeDocument/2006/relationships/notesMaster" Target="/ppt/notesMasters/notesMaster1.xml" Id="R55beed5593c9473a" /><Relationship Type="http://schemas.openxmlformats.org/officeDocument/2006/relationships/slide" Target="/ppt/slides/slide3.xml" Id="R82de7ac860ef49bc" /></Relationships>
</file>

<file path=ppt/notesSlides/_rels/notesSlide4.xml.rels>&#65279;<?xml version="1.0" encoding="utf-8"?><Relationships xmlns="http://schemas.openxmlformats.org/package/2006/relationships"><Relationship Type="http://schemas.openxmlformats.org/officeDocument/2006/relationships/notesMaster" Target="/ppt/notesMasters/notesMaster1.xml" Id="R3179007452824264" /><Relationship Type="http://schemas.openxmlformats.org/officeDocument/2006/relationships/slide" Target="/ppt/slides/slide4.xml" Id="Ra6b12f716a4f428e" /></Relationships>
</file>

<file path=ppt/notesSlides/_rels/notesSlide5.xml.rels>&#65279;<?xml version="1.0" encoding="utf-8"?><Relationships xmlns="http://schemas.openxmlformats.org/package/2006/relationships"><Relationship Type="http://schemas.openxmlformats.org/officeDocument/2006/relationships/notesMaster" Target="/ppt/notesMasters/notesMaster1.xml" Id="Rf759092e30e242f5" /><Relationship Type="http://schemas.openxmlformats.org/officeDocument/2006/relationships/slide" Target="/ppt/slides/slide5.xml" Id="R627ebf5064924b33" /></Relationships>
</file>

<file path=ppt/notesSlides/_rels/notesSlide6.xml.rels>&#65279;<?xml version="1.0" encoding="utf-8"?><Relationships xmlns="http://schemas.openxmlformats.org/package/2006/relationships"><Relationship Type="http://schemas.openxmlformats.org/officeDocument/2006/relationships/notesMaster" Target="/ppt/notesMasters/notesMaster1.xml" Id="R598325f2edee4c0f" /><Relationship Type="http://schemas.openxmlformats.org/officeDocument/2006/relationships/slide" Target="/ppt/slides/slide6.xml" Id="Rd4f37e61e8a84979" /></Relationships>
</file>

<file path=ppt/notesSlides/_rels/notesSlide7.xml.rels>&#65279;<?xml version="1.0" encoding="utf-8"?><Relationships xmlns="http://schemas.openxmlformats.org/package/2006/relationships"><Relationship Type="http://schemas.openxmlformats.org/officeDocument/2006/relationships/notesMaster" Target="/ppt/notesMasters/notesMaster1.xml" Id="R51982dd67d844a6e" /><Relationship Type="http://schemas.openxmlformats.org/officeDocument/2006/relationships/slide" Target="/ppt/slides/slide7.xml" Id="Ra2d4f7d5918c499d" /></Relationships>
</file>

<file path=ppt/notesSlides/_rels/notesSlide8.xml.rels>&#65279;<?xml version="1.0" encoding="utf-8"?><Relationships xmlns="http://schemas.openxmlformats.org/package/2006/relationships"><Relationship Type="http://schemas.openxmlformats.org/officeDocument/2006/relationships/notesMaster" Target="/ppt/notesMasters/notesMaster1.xml" Id="R6cf8acaaf807436f" /><Relationship Type="http://schemas.openxmlformats.org/officeDocument/2006/relationships/slide" Target="/ppt/slides/slide8.xml" Id="R7316bc4f65d6474e" /></Relationships>
</file>

<file path=ppt/notesSlides/_rels/notesSlide9.xml.rels>&#65279;<?xml version="1.0" encoding="utf-8"?><Relationships xmlns="http://schemas.openxmlformats.org/package/2006/relationships"><Relationship Type="http://schemas.openxmlformats.org/officeDocument/2006/relationships/notesMaster" Target="/ppt/notesMasters/notesMaster1.xml" Id="R42ef14333da7408f" /><Relationship Type="http://schemas.openxmlformats.org/officeDocument/2006/relationships/slide" Target="/ppt/slides/slide9.xml" Id="R27749264103c4c84" /></Relationships>
</file>

<file path=ppt/notesSlides/notesSlide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/>
          <p:nvPr>
            <p:ph type="sldImg" idx="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Notes Placeholder 2"/>
          <p:cNvSpPr/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rPr lang="en-US"/>
              <a:t>Cover (example). Q2 green overall; carry people risk; ask Q3 plan + HC.</a:t>
            </a:r>
          </a:p>
          <a:p xmlns:a="http://schemas.openxmlformats.org/drawingml/2006/main">
            <a:r>
              <a:rPr lang="en-US"/>
              <a:t/>
            </a:r>
          </a:p>
          <a:p xmlns:a="http://schemas.openxmlformats.org/drawingml/2006/main">
            <a:r>
              <a:rPr lang="en-US"/>
              <a:t>Leadership QBR scorecard → risks → asks</a:t>
            </a:r>
          </a:p>
          <a:p xmlns:a="http://schemas.openxmlformats.org/drawingml/2006/main">
            <a:r>
              <a:rPr lang="en-US"/>
              <a:t>SRE Book — example postmortem (impact honesty): https://sre.google/sre-book/example-postmortem/</a:t>
            </a:r>
          </a:p>
          <a:p xmlns:a="http://schemas.openxmlformats.org/drawingml/2006/main">
            <a:r>
              <a:rPr lang="en-US"/>
              <a:t>EM Tools — executive communication updates: https://www.em-tools.io/engineering-manager-responsibilities/executive-communication</a:t>
            </a:r>
          </a:p>
        </p:txBody>
      </p:sp>
    </p:spTree>
  </p:cSld>
  <p:clrMapOvr>
    <a:masterClrMapping xmlns:a="http://schemas.openxmlformats.org/drawingml/2006/main"/>
  </p:clrMapOvr>
</p:notes>
</file>

<file path=ppt/notesSlides/notesSlide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/>
          <p:nvPr>
            <p:ph type="sldImg" idx="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Notes Placeholder 2"/>
          <p:cNvSpPr/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rPr lang="en-US"/>
              <a:t>Leadership QBR scorecard → risks → asks</a:t>
            </a:r>
          </a:p>
          <a:p xmlns:a="http://schemas.openxmlformats.org/drawingml/2006/main">
            <a:r>
              <a:rPr lang="en-US"/>
              <a:t>SRE Book — example postmortem (impact honesty): https://sre.google/sre-book/example-postmortem/</a:t>
            </a:r>
          </a:p>
          <a:p xmlns:a="http://schemas.openxmlformats.org/drawingml/2006/main">
            <a:r>
              <a:rPr lang="en-US"/>
              <a:t>EM Tools — executive communication updates: https://www.em-tools.io/engineering-manager-responsibilities/executive-communication</a:t>
            </a:r>
          </a:p>
        </p:txBody>
      </p:sp>
    </p:spTree>
  </p:cSld>
  <p:clrMapOvr>
    <a:masterClrMapping xmlns:a="http://schemas.openxmlformats.org/drawingml/2006/main"/>
  </p:clrMapOvr>
</p:notes>
</file>

<file path=ppt/notesSlides/notesSlide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/>
          <p:nvPr>
            <p:ph type="sldImg" idx="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Notes Placeholder 2"/>
          <p:cNvSpPr/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rPr lang="en-US"/>
              <a:t>Agent/human: answer who/stakes/decision from this slide alone. Recommend=Overall GREEN with explicit carry risks; approve P1/P2 and HC path. by This QBR (~2026-06-26) + follow-up into 7/01 kickoff.</a:t>
            </a:r>
          </a:p>
        </p:txBody>
      </p:sp>
    </p:spTree>
  </p:cSld>
  <p:clrMapOvr>
    <a:masterClrMapping xmlns:a="http://schemas.openxmlformats.org/drawingml/2006/main"/>
  </p:clrMapOvr>
</p:notes>
</file>

<file path=ppt/notesSlides/notesSlide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/>
          <p:nvPr>
            <p:ph type="sldImg" idx="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Notes Placeholder 2"/>
          <p:cNvSpPr/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rPr lang="en-US"/>
              <a:t>QBR classic close.</a:t>
            </a:r>
          </a:p>
        </p:txBody>
      </p:sp>
    </p:spTree>
  </p:cSld>
  <p:clrMapOvr>
    <a:masterClrMapping xmlns:a="http://schemas.openxmlformats.org/drawingml/2006/main"/>
  </p:clrMapOvr>
</p:notes>
</file>

<file path=ppt/notesSlides/notesSlide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/>
          <p:nvPr>
            <p:ph type="sldImg" idx="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Notes Placeholder 2"/>
          <p:cNvSpPr/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rPr lang="en-US"/>
              <a:t>Same commits as kickoff.</a:t>
            </a:r>
          </a:p>
        </p:txBody>
      </p:sp>
    </p:spTree>
  </p:cSld>
  <p:clrMapOvr>
    <a:masterClrMapping xmlns:a="http://schemas.openxmlformats.org/drawingml/2006/main"/>
  </p:clrMapOvr>
</p:notes>
</file>

<file path=ppt/notesSlides/notesSlide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/>
          <p:nvPr>
            <p:ph type="sldImg" idx="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Notes Placeholder 2"/>
          <p:cNvSpPr/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rPr lang="en-US"/>
              <a:t>System fix, not blame.</a:t>
            </a:r>
          </a:p>
        </p:txBody>
      </p:sp>
    </p:spTree>
  </p:cSld>
  <p:clrMapOvr>
    <a:masterClrMapping xmlns:a="http://schemas.openxmlformats.org/drawingml/2006/main"/>
  </p:clrMapOvr>
</p:notes>
</file>

<file path=ppt/notesSlides/notesSlide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/>
          <p:nvPr>
            <p:ph type="sldImg" idx="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Notes Placeholder 2"/>
          <p:cNvSpPr/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rPr lang="en-US"/>
              <a:t>Owned carry-forward.</a:t>
            </a:r>
          </a:p>
        </p:txBody>
      </p:sp>
    </p:spTree>
  </p:cSld>
  <p:clrMapOvr>
    <a:masterClrMapping xmlns:a="http://schemas.openxmlformats.org/drawingml/2006/main"/>
  </p:clrMapOvr>
</p:notes>
</file>

<file path=ppt/notesSlides/notesSlide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/>
          <p:nvPr>
            <p:ph type="sldImg" idx="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Notes Placeholder 2"/>
          <p:cNvSpPr/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rPr lang="en-US"/>
              <a:t>Walk trade-offs; land recommendation.</a:t>
            </a:r>
          </a:p>
        </p:txBody>
      </p:sp>
    </p:spTree>
  </p:cSld>
  <p:clrMapOvr>
    <a:masterClrMapping xmlns:a="http://schemas.openxmlformats.org/drawingml/2006/main"/>
  </p:clrMapOvr>
</p:notes>
</file>

<file path=ppt/notesSlides/notesSlide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/>
          <p:nvPr>
            <p:ph type="sldImg" idx="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Notes Placeholder 2"/>
          <p:cNvSpPr/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rPr lang="en-US"/>
              <a:t>QBR classic close.</a:t>
            </a:r>
          </a:p>
        </p:txBody>
      </p:sp>
    </p:spTree>
  </p:cSld>
  <p:clrMapOvr>
    <a:masterClrMapping xmlns:a="http://schemas.openxmlformats.org/drawingml/2006/main"/>
  </p:clrMapOvr>
</p:notes>
</file>

<file path=ppt/slideLayouts/_rels/slideLayout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315d8f9824d744f2" /></Relationships>
</file>

<file path=ppt/slideLayouts/_rels/slideLayout2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f26e884b36e64115" /></Relationships>
</file>

<file path=ppt/slideLayouts/_rels/slideLayout3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d3ab1700094c4d54" /></Relationships>
</file>

<file path=ppt/slideLayouts/_rels/slideLayout4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28e3bc419225438f" /></Relationships>
</file>

<file path=ppt/slideLayouts/_rels/slideLayout5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8b9b84bf886b4bdd" /></Relationships>
</file>

<file path=ppt/slideLayouts/slideLayout1.xml><?xml version="1.0" encoding="utf-8"?>
<p:sldLayout xmlns:p="http://schemas.openxmlformats.org/presentationml/2006/main" type="blank">
  <p:cSld name="Blank">
    <p:spTree>
      <p:nvGrpSpPr>
        <p:cNvPr id="1" name=""/>
        <p:cNvGrpSpPr/>
        <p:nvPr/>
      </p:nvGrpSpPr>
      <p:grpSpPr/>
    </p:spTree>
  </p:cSld>
</p:sldLayout>
</file>

<file path=ppt/slideLayouts/slideLayout2.xml><?xml version="1.0" encoding="utf-8"?>
<p:sldLayout xmlns:p="http://schemas.openxmlformats.org/presentationml/2006/main" type="title">
  <p:cSld name="Title Slide">
    <p:spTree>
      <p:nvGrpSpPr>
        <p:cNvPr id="1" name=""/>
        <p:cNvGrpSpPr/>
        <p:nvPr/>
      </p:nvGrpSpPr>
      <p:grpSpPr/>
      <p:sp>
        <p:nvSpPr>
          <p:cNvPr id="2" name="Title"/>
          <p:cNvSpPr>
            <a:spLocks xmlns:a="http://schemas.openxmlformats.org/drawingml/2006/main" noGrp="1"/>
          </p:cNvSpPr>
          <p:nvPr>
            <p:ph type="ctrTitle"/>
          </p:nvPr>
        </p:nvSpPr>
        <p:spPr>
          <a:xfrm xmlns:a="http://schemas.openxmlformats.org/drawingml/2006/main">
            <a:off x="685800" y="2130425"/>
            <a:ext cx="7772400" cy="1470025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 lang="en-US"/>
          </a:p>
        </p:txBody>
      </p:sp>
      <p:sp>
        <p:nvSpPr>
          <p:cNvPr id="3" name="Subtitle"/>
          <p:cNvSpPr>
            <a:spLocks xmlns:a="http://schemas.openxmlformats.org/drawingml/2006/main" noGrp="1"/>
          </p:cNvSpPr>
          <p:nvPr>
            <p:ph type="subTitle" idx="1"/>
          </p:nvPr>
        </p:nvSpPr>
        <p:spPr>
          <a:xfrm xmlns:a="http://schemas.openxmlformats.org/drawingml/2006/main">
            <a:off x="1371600" y="3886200"/>
            <a:ext cx="6400800" cy="1752600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 lang="en-US"/>
          </a:p>
        </p:txBody>
      </p:sp>
    </p:spTree>
  </p:cSld>
</p:sldLayout>
</file>

<file path=ppt/slideLayouts/slideLayout3.xml><?xml version="1.0" encoding="utf-8"?>
<p:sldLayout xmlns:p="http://schemas.openxmlformats.org/presentationml/2006/main" type="objTx">
  <p:cSld name="Title and Content">
    <p:spTree>
      <p:nvGrpSpPr>
        <p:cNvPr id="1" name=""/>
        <p:cNvGrpSpPr/>
        <p:nvPr/>
      </p:nvGrpSpPr>
      <p:grpSpPr/>
      <p:sp>
        <p:nvSpPr>
          <p:cNvPr id="2" name="Title"/>
          <p:cNvSpPr>
            <a:spLocks xmlns:a="http://schemas.openxmlformats.org/drawingml/2006/main" noGrp="1"/>
          </p:cNvSpPr>
          <p:nvPr>
            <p:ph type="title"/>
          </p:nvPr>
        </p:nvSpPr>
        <p:spPr>
          <a:xfrm xmlns:a="http://schemas.openxmlformats.org/drawingml/2006/main">
            <a:off x="838200" y="365125"/>
            <a:ext cx="10515600" cy="1325563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 lang="en-US"/>
          </a:p>
        </p:txBody>
      </p:sp>
      <p:sp>
        <p:nvSpPr>
          <p:cNvPr id="3" name="Content"/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838200" y="1825625"/>
            <a:ext cx="10515600" cy="4351338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 lang="en-US"/>
          </a:p>
        </p:txBody>
      </p:sp>
    </p:spTree>
  </p:cSld>
</p:sldLayout>
</file>

<file path=ppt/slideLayouts/slideLayout4.xml><?xml version="1.0" encoding="utf-8"?>
<p:sldLayout xmlns:p="http://schemas.openxmlformats.org/presentationml/2006/main" type="twoColTx">
  <p:cSld name="Two Content">
    <p:spTree>
      <p:nvGrpSpPr>
        <p:cNvPr id="1" name=""/>
        <p:cNvGrpSpPr/>
        <p:nvPr/>
      </p:nvGrpSpPr>
      <p:grpSpPr/>
      <p:sp>
        <p:nvSpPr>
          <p:cNvPr id="2" name="Title"/>
          <p:cNvSpPr>
            <a:spLocks xmlns:a="http://schemas.openxmlformats.org/drawingml/2006/main" noGrp="1"/>
          </p:cNvSpPr>
          <p:nvPr>
            <p:ph type="title"/>
          </p:nvPr>
        </p:nvSpPr>
        <p:spPr>
          <a:xfrm xmlns:a="http://schemas.openxmlformats.org/drawingml/2006/main">
            <a:off x="838200" y="365125"/>
            <a:ext cx="10515600" cy="1325563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 lang="en-US"/>
          </a:p>
        </p:txBody>
      </p:sp>
      <p:sp>
        <p:nvSpPr>
          <p:cNvPr id="3" name="Content Left"/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838200" y="1825625"/>
            <a:ext cx="5181600" cy="4351338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 lang="en-US"/>
          </a:p>
        </p:txBody>
      </p:sp>
      <p:sp>
        <p:nvSpPr>
          <p:cNvPr id="4" name="Content Right"/>
          <p:cNvSpPr>
            <a:spLocks xmlns:a="http://schemas.openxmlformats.org/drawingml/2006/main" noGrp="1"/>
          </p:cNvSpPr>
          <p:nvPr>
            <p:ph type="body" idx="2"/>
          </p:nvPr>
        </p:nvSpPr>
        <p:spPr>
          <a:xfrm xmlns:a="http://schemas.openxmlformats.org/drawingml/2006/main">
            <a:off x="6172200" y="1825625"/>
            <a:ext cx="5181600" cy="4351338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 lang="en-US"/>
          </a:p>
        </p:txBody>
      </p:sp>
    </p:spTree>
  </p:cSld>
</p:sldLayout>
</file>

<file path=ppt/slideLayouts/slideLayout5.xml><?xml version="1.0" encoding="utf-8"?>
<p:sldLayout xmlns:p="http://schemas.openxmlformats.org/presentationml/2006/main" type="titleOnly">
  <p:cSld name="Title Only">
    <p:spTree>
      <p:nvGrpSpPr>
        <p:cNvPr id="1" name=""/>
        <p:cNvGrpSpPr/>
        <p:nvPr/>
      </p:nvGrpSpPr>
      <p:grpSpPr/>
      <p:sp>
        <p:nvSpPr>
          <p:cNvPr id="2" name="Title"/>
          <p:cNvSpPr>
            <a:spLocks xmlns:a="http://schemas.openxmlformats.org/drawingml/2006/main" noGrp="1"/>
          </p:cNvSpPr>
          <p:nvPr>
            <p:ph type="title"/>
          </p:nvPr>
        </p:nvSpPr>
        <p:spPr>
          <a:xfrm xmlns:a="http://schemas.openxmlformats.org/drawingml/2006/main">
            <a:off x="838200" y="365125"/>
            <a:ext cx="10515600" cy="1325563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 lang="en-US"/>
          </a:p>
        </p:txBody>
      </p:sp>
    </p:spTree>
  </p:cSld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Id1" /><Relationship Type="http://schemas.openxmlformats.org/officeDocument/2006/relationships/theme" Target="/ppt/theme/theme1.xml" Id="R96c4ce23f7b64149" /><Relationship Type="http://schemas.openxmlformats.org/officeDocument/2006/relationships/slideLayout" Target="/ppt/slideLayouts/slideLayout2.xml" Id="rId2" /><Relationship Type="http://schemas.openxmlformats.org/officeDocument/2006/relationships/slideLayout" Target="/ppt/slideLayouts/slideLayout3.xml" Id="rId3" /><Relationship Type="http://schemas.openxmlformats.org/officeDocument/2006/relationships/slideLayout" Target="/ppt/slideLayouts/slideLayout4.xml" Id="rId4" /><Relationship Type="http://schemas.openxmlformats.org/officeDocument/2006/relationships/slideLayout" Target="/ppt/slideLayouts/slideLayout5.xml" Id="rId5" /></Relationships>
</file>

<file path=ppt/slideMasters/slideMaster1.xml><?xml version="1.0" encoding="utf-8"?>
<p:sldMaster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Id1"/>
    <p:sldLayoutId xmlns:r="http://schemas.openxmlformats.org/officeDocument/2006/relationships" id="2147483650" r:id="rId2"/>
    <p:sldLayoutId xmlns:r="http://schemas.openxmlformats.org/officeDocument/2006/relationships" id="2147483651" r:id="rId3"/>
    <p:sldLayoutId xmlns:r="http://schemas.openxmlformats.org/officeDocument/2006/relationships" id="2147483652" r:id="rId4"/>
    <p:sldLayoutId xmlns:r="http://schemas.openxmlformats.org/officeDocument/2006/relationships" id="2147483653" r:id="rId5"/>
  </p:sldLayoutIdLst>
</p:sldMaster>
</file>

<file path=ppt/slides/_rels/slide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b21fba97af544055" /><Relationship Type="http://schemas.openxmlformats.org/officeDocument/2006/relationships/notesSlide" Target="/ppt/notesSlides/notesSlide1.xml" Id="Rec13d5ca0bf94e04" /></Relationships>
</file>

<file path=ppt/slides/_rels/slide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871f251619cb43c7" /><Relationship Type="http://schemas.openxmlformats.org/officeDocument/2006/relationships/notesSlide" Target="/ppt/notesSlides/notesSlide2.xml" Id="R34dcfa66ddf64691" /></Relationships>
</file>

<file path=ppt/slides/_rels/slide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d402c35188d24763" /><Relationship Type="http://schemas.openxmlformats.org/officeDocument/2006/relationships/notesSlide" Target="/ppt/notesSlides/notesSlide3.xml" Id="R15c922d0f3e54692" /></Relationships>
</file>

<file path=ppt/slides/_rels/slide4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cf132c8b719b4173" /><Relationship Type="http://schemas.openxmlformats.org/officeDocument/2006/relationships/notesSlide" Target="/ppt/notesSlides/notesSlide4.xml" Id="R0bed0869ede74ca7" /></Relationships>
</file>

<file path=ppt/slides/_rels/slide5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f22f35e78b2a48f8" /><Relationship Type="http://schemas.openxmlformats.org/officeDocument/2006/relationships/notesSlide" Target="/ppt/notesSlides/notesSlide5.xml" Id="Rcf58561ca40542d1" /></Relationships>
</file>

<file path=ppt/slides/_rels/slide6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2a6fb683affc49bb" /><Relationship Type="http://schemas.openxmlformats.org/officeDocument/2006/relationships/notesSlide" Target="/ppt/notesSlides/notesSlide6.xml" Id="Rc216c9fc064747fc" /></Relationships>
</file>

<file path=ppt/slides/_rels/slide7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474b4dd5c5834edf" /><Relationship Type="http://schemas.openxmlformats.org/officeDocument/2006/relationships/notesSlide" Target="/ppt/notesSlides/notesSlide7.xml" Id="R7c906165c0364e9d" /></Relationships>
</file>

<file path=ppt/slides/_rels/slide8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032bf3952e2e4d27" /><Relationship Type="http://schemas.openxmlformats.org/officeDocument/2006/relationships/notesSlide" Target="/ppt/notesSlides/notesSlide8.xml" Id="R173825473cbd4489" /></Relationships>
</file>

<file path=ppt/slides/_rels/slide9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6185a1f76051447b" /><Relationship Type="http://schemas.openxmlformats.org/officeDocument/2006/relationships/notesSlide" Target="/ppt/notesSlides/notesSlide9.xml" Id="R2efb0284a6b240de" /></Relationships>
</file>

<file path=ppt/slides/slide1.xml><?xml version="1.0" encoding="utf-8"?>
<p:sld xmlns:p="http://schemas.openxmlformats.org/presentationml/2006/main">
  <p:cSld name="Atlas Q2 2026 QBR">
    <p:bg>
      <p:bgPr>
        <a:solidFill xmlns:a="http://schemas.openxmlformats.org/drawingml/2006/main">
          <a:srgbClr val="1E2761"/>
        </a:solidFill>
      </p:bgPr>
    </p:bg>
    <p:spTree>
      <p:nvGrpSpPr>
        <p:cNvPr id="1" name=""/>
        <p:cNvGrpSpPr/>
        <p:nvPr/>
      </p:nvGrpSpPr>
      <p:grpSpPr/>
      <p:sp>
        <p:nvSpPr>
          <p:cNvPr id="100000" name="TextBox 1"/>
          <p:cNvSpPr txBox="1"/>
          <p:nvPr/>
        </p:nvSpPr>
        <p:spPr>
          <a:xfrm xmlns:a="http://schemas.openxmlformats.org/drawingml/2006/main">
            <a:off x="504000" y="936000"/>
            <a:ext cx="11088000" cy="3060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rPr lang="en-US" sz="1400" b="1">
                <a:solidFill>
                  <a:srgbClr val="CADCFC"/>
                </a:solidFill>
                <a:latin typeface="Calibri"/>
                <a:ea typeface="Calibri"/>
              </a:rPr>
              <a:t>SCENARIO 09  ·  EXAMPLE  ·  Q2 2026 QBR</a:t>
            </a:r>
          </a:p>
        </p:txBody>
      </p:sp>
      <p:sp>
        <p:nvSpPr>
          <p:cNvPr id="100001" name="TextBox 2"/>
          <p:cNvSpPr txBox="1"/>
          <p:nvPr/>
        </p:nvSpPr>
        <p:spPr>
          <a:xfrm xmlns:a="http://schemas.openxmlformats.org/drawingml/2006/main">
            <a:off x="504000" y="1332000"/>
            <a:ext cx="11088000" cy="9000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rPr lang="en-US" sz="3200" b="1">
                <a:solidFill>
                  <a:srgbClr val="FFFFFF"/>
                </a:solidFill>
                <a:latin typeface="Calibri"/>
                <a:ea typeface="Calibri"/>
              </a:rPr>
              <a:t>Atlas Q2 2026 QBR</a:t>
            </a:r>
          </a:p>
        </p:txBody>
      </p:sp>
      <p:sp>
        <p:nvSpPr>
          <p:cNvPr id="100002" name="TextBox 3"/>
          <p:cNvSpPr txBox="1"/>
          <p:nvPr/>
        </p:nvSpPr>
        <p:spPr>
          <a:xfrm xmlns:a="http://schemas.openxmlformats.org/drawingml/2006/main">
            <a:off x="504000" y="2340000"/>
            <a:ext cx="11088000" cy="6480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rPr lang="en-US" sz="1600" b="0">
                <a:solidFill>
                  <a:srgbClr val="CADCFC"/>
                </a:solidFill>
                <a:latin typeface="Calibri"/>
                <a:ea typeface="Calibri"/>
              </a:rPr>
              <a:t>Leadership review — freeze, silicon, farm; people yellow carried</a:t>
            </a:r>
          </a:p>
        </p:txBody>
      </p:sp>
      <p:sp>
        <p:nvSpPr>
          <p:cNvPr id="100003" name="TextBox 4"/>
          <p:cNvSpPr txBox="1"/>
          <p:nvPr/>
        </p:nvSpPr>
        <p:spPr>
          <a:xfrm xmlns:a="http://schemas.openxmlformats.org/drawingml/2006/main">
            <a:off x="504000" y="3240000"/>
            <a:ext cx="11088000" cy="5760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rPr lang="en-US" sz="1400" b="0">
                <a:solidFill>
                  <a:srgbClr val="A0C4E8"/>
                </a:solidFill>
                <a:latin typeface="Calibri"/>
                <a:ea typeface="Calibri"/>
              </a:rPr>
              <a:t>Pattern: Leadership QBR scorecard → risks → asks</a:t>
            </a:r>
          </a:p>
        </p:txBody>
      </p:sp>
      <p:sp>
        <p:nvSpPr>
          <p:cNvPr id="100004" name="TextBox 5"/>
          <p:cNvSpPr txBox="1"/>
          <p:nvPr/>
        </p:nvSpPr>
        <p:spPr>
          <a:xfrm xmlns:a="http://schemas.openxmlformats.org/drawingml/2006/main">
            <a:off x="504000" y="5976000"/>
            <a:ext cx="11088000" cy="3960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rPr lang="en-US" sz="1200" b="0">
                <a:solidFill>
                  <a:srgbClr val="A0AEC0"/>
                </a:solidFill>
                <a:latin typeface="Calibri"/>
                <a:ea typeface="Calibri"/>
              </a:rPr>
              <a:t>EXAMPLE  ·  Atlas Platform  ·  Project Aurora  ·  NovaSemi  ·  2026</a:t>
            </a:r>
          </a:p>
        </p:txBody>
      </p:sp>
    </p:spTree>
  </p:cSld>
</p:sld>
</file>

<file path=ppt/slides/slide2.xml><?xml version="1.0" encoding="utf-8"?>
<p:sld xmlns:p="http://schemas.openxmlformats.org/presentationml/2006/main">
  <p:cSld name="Pattern provenance">
    <p:bg>
      <p:bgPr>
        <a:solidFill xmlns:a="http://schemas.openxmlformats.org/drawingml/2006/main">
          <a:srgbClr val="F4F7FC"/>
        </a:solidFill>
      </p:bgPr>
    </p:bg>
    <p:spTree>
      <p:nvGrpSpPr>
        <p:cNvPr id="1" name=""/>
        <p:cNvGrpSpPr/>
        <p:nvPr/>
      </p:nvGrpSpPr>
      <p:grpSpPr/>
      <p:sp>
        <p:nvSpPr>
          <p:cNvPr id="100005" name="TextBox 1"/>
          <p:cNvSpPr txBox="1"/>
          <p:nvPr/>
        </p:nvSpPr>
        <p:spPr>
          <a:xfrm xmlns:a="http://schemas.openxmlformats.org/drawingml/2006/main">
            <a:off x="504000" y="270000"/>
            <a:ext cx="11088000" cy="2700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rPr lang="en-US" sz="1100" b="1">
                <a:solidFill>
                  <a:srgbClr val="2B6CB0"/>
                </a:solidFill>
                <a:latin typeface="Calibri"/>
                <a:ea typeface="Calibri"/>
              </a:rPr>
              <a:t>WHERE THIS DECK SHAPE COMES FROM</a:t>
            </a:r>
          </a:p>
        </p:txBody>
      </p:sp>
      <p:sp>
        <p:nvSpPr>
          <p:cNvPr id="100006" name="TextBox 2"/>
          <p:cNvSpPr txBox="1"/>
          <p:nvPr/>
        </p:nvSpPr>
        <p:spPr>
          <a:xfrm xmlns:a="http://schemas.openxmlformats.org/drawingml/2006/main">
            <a:off x="504000" y="558000"/>
            <a:ext cx="11088000" cy="6120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rPr lang="en-US" sz="2800" b="1">
                <a:solidFill>
                  <a:srgbClr val="1A202C"/>
                </a:solidFill>
                <a:latin typeface="Calibri"/>
                <a:ea typeface="Calibri"/>
              </a:rPr>
              <a:t>Pattern provenance</a:t>
            </a:r>
          </a:p>
        </p:txBody>
      </p:sp>
      <p:sp>
        <p:nvSpPr>
          <p:cNvPr id="100007" name="TextBox 3"/>
          <p:cNvSpPr txBox="1"/>
          <p:nvPr/>
        </p:nvSpPr>
        <p:spPr>
          <a:xfrm xmlns:a="http://schemas.openxmlformats.org/drawingml/2006/main">
            <a:off x="504000" y="1260000"/>
            <a:ext cx="11088000" cy="4860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rPr lang="en-US" sz="1500" b="0">
                <a:solidFill>
                  <a:srgbClr val="1A202C"/>
                </a:solidFill>
                <a:latin typeface="Calibri"/>
                <a:ea typeface="Calibri"/>
              </a:rPr>
              <a:t>Public pattern (structure only — not a confidential company deck):</a:t>
            </a:r>
          </a:p>
          <a:p xmlns:a="http://schemas.openxmlformats.org/drawingml/2006/main">
            <a:r>
              <a:rPr lang="en-US" sz="1500" b="0">
                <a:solidFill>
                  <a:srgbClr val="1A202C"/>
                </a:solidFill>
                <a:latin typeface="Calibri"/>
                <a:ea typeface="Calibri"/>
              </a:rPr>
              <a:t/>
            </a:r>
          </a:p>
          <a:p xmlns:a="http://schemas.openxmlformats.org/drawingml/2006/main">
            <a:r>
              <a:rPr lang="en-US" sz="1500" b="0">
                <a:solidFill>
                  <a:srgbClr val="1A202C"/>
                </a:solidFill>
                <a:latin typeface="Calibri"/>
                <a:ea typeface="Calibri"/>
              </a:rPr>
              <a:t>Leadership QBR scorecard → risks → asks</a:t>
            </a:r>
          </a:p>
          <a:p xmlns:a="http://schemas.openxmlformats.org/drawingml/2006/main">
            <a:r>
              <a:rPr lang="en-US" sz="1500" b="0">
                <a:solidFill>
                  <a:srgbClr val="1A202C"/>
                </a:solidFill>
                <a:latin typeface="Calibri"/>
                <a:ea typeface="Calibri"/>
              </a:rPr>
              <a:t/>
            </a:r>
          </a:p>
          <a:p xmlns:a="http://schemas.openxmlformats.org/drawingml/2006/main">
            <a:r>
              <a:rPr lang="en-US" sz="1500" b="0">
                <a:solidFill>
                  <a:srgbClr val="1A202C"/>
                </a:solidFill>
                <a:latin typeface="Calibri"/>
                <a:ea typeface="Calibri"/>
              </a:rPr>
              <a:t>• SRE Book — example postmortem (impact honesty)</a:t>
            </a:r>
          </a:p>
          <a:p xmlns:a="http://schemas.openxmlformats.org/drawingml/2006/main">
            <a:r>
              <a:rPr lang="en-US" sz="1500" b="0">
                <a:solidFill>
                  <a:srgbClr val="1A202C"/>
                </a:solidFill>
                <a:latin typeface="Calibri"/>
                <a:ea typeface="Calibri"/>
              </a:rPr>
              <a:t>  https://sre.google/sre-book/example-postmortem/</a:t>
            </a:r>
          </a:p>
          <a:p xmlns:a="http://schemas.openxmlformats.org/drawingml/2006/main">
            <a:r>
              <a:rPr lang="en-US" sz="1500" b="0">
                <a:solidFill>
                  <a:srgbClr val="1A202C"/>
                </a:solidFill>
                <a:latin typeface="Calibri"/>
                <a:ea typeface="Calibri"/>
              </a:rPr>
              <a:t>• EM Tools — executive communication updates</a:t>
            </a:r>
          </a:p>
          <a:p xmlns:a="http://schemas.openxmlformats.org/drawingml/2006/main">
            <a:r>
              <a:rPr lang="en-US" sz="1500" b="0">
                <a:solidFill>
                  <a:srgbClr val="1A202C"/>
                </a:solidFill>
                <a:latin typeface="Calibri"/>
                <a:ea typeface="Calibri"/>
              </a:rPr>
              <a:t>  https://www.em-tools.io/engineering-manager-responsibilities/executive-communication</a:t>
            </a:r>
          </a:p>
          <a:p xmlns:a="http://schemas.openxmlformats.org/drawingml/2006/main">
            <a:r>
              <a:rPr lang="en-US" sz="1500" b="0">
                <a:solidFill>
                  <a:srgbClr val="1A202C"/>
                </a:solidFill>
                <a:latin typeface="Calibri"/>
                <a:ea typeface="Calibri"/>
              </a:rPr>
              <a:t/>
            </a:r>
          </a:p>
          <a:p xmlns:a="http://schemas.openxmlformats.org/drawingml/2006/main">
            <a:r>
              <a:rPr lang="en-US" sz="1500" b="0">
                <a:solidFill>
                  <a:srgbClr val="1A202C"/>
                </a:solidFill>
                <a:latin typeface="Calibri"/>
                <a:ea typeface="Calibri"/>
              </a:rPr>
              <a:t>How to use: copy section order and decision verbs; replace with your metrics.</a:t>
            </a:r>
          </a:p>
          <a:p xmlns:a="http://schemas.openxmlformats.org/drawingml/2006/main">
            <a:r>
              <a:rPr lang="en-US" sz="1500" b="0">
                <a:solidFill>
                  <a:srgbClr val="1A202C"/>
                </a:solidFill>
                <a:latin typeface="Calibri"/>
                <a:ea typeface="Calibri"/>
              </a:rPr>
              <a:t>In-repo: skills/presentations/classic-public-cases.md</a:t>
            </a:r>
          </a:p>
        </p:txBody>
      </p:sp>
      <p:sp>
        <p:nvSpPr>
          <p:cNvPr id="100008" name="TextBox 4"/>
          <p:cNvSpPr txBox="1"/>
          <p:nvPr/>
        </p:nvSpPr>
        <p:spPr>
          <a:xfrm xmlns:a="http://schemas.openxmlformats.org/drawingml/2006/main">
            <a:off x="504000" y="6426000"/>
            <a:ext cx="11088000" cy="3060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rPr lang="en-US" sz="1100" b="0">
                <a:solidFill>
                  <a:srgbClr val="718096"/>
                </a:solidFill>
                <a:latin typeface="Calibri"/>
                <a:ea typeface="Calibri"/>
              </a:rPr>
              <a:t>Atlas Platform  ·  Project Aurora  ·  NovaSemi  ·  2026</a:t>
            </a:r>
          </a:p>
        </p:txBody>
      </p:sp>
    </p:spTree>
  </p:cSld>
</p:sld>
</file>

<file path=ppt/slides/slide3.xml><?xml version="1.0" encoding="utf-8"?>
<p:sld xmlns:p="http://schemas.openxmlformats.org/presentationml/2006/main">
  <p:cSld name="Situation &amp; decision card">
    <p:bg>
      <p:bgPr>
        <a:solidFill xmlns:a="http://schemas.openxmlformats.org/drawingml/2006/main">
          <a:srgbClr val="F4F7FC"/>
        </a:solidFill>
      </p:bgPr>
    </p:bg>
    <p:spTree>
      <p:nvGrpSpPr>
        <p:cNvPr id="1" name=""/>
        <p:cNvGrpSpPr/>
        <p:nvPr/>
      </p:nvGrpSpPr>
      <p:grpSpPr/>
      <p:sp>
        <p:nvSpPr>
          <p:cNvPr id="100009" name="TextBox 1"/>
          <p:cNvSpPr txBox="1"/>
          <p:nvPr/>
        </p:nvSpPr>
        <p:spPr>
          <a:xfrm xmlns:a="http://schemas.openxmlformats.org/drawingml/2006/main">
            <a:off x="504000" y="270000"/>
            <a:ext cx="11088000" cy="2700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rPr lang="en-US" sz="1100" b="1">
                <a:solidFill>
                  <a:srgbClr val="2B6CB0"/>
                </a:solidFill>
                <a:latin typeface="Calibri"/>
                <a:ea typeface="Calibri"/>
              </a:rPr>
              <a:t>READ THIS BEFORE THE DETAILS</a:t>
            </a:r>
          </a:p>
        </p:txBody>
      </p:sp>
      <p:sp>
        <p:nvSpPr>
          <p:cNvPr id="100010" name="TextBox 2"/>
          <p:cNvSpPr txBox="1"/>
          <p:nvPr/>
        </p:nvSpPr>
        <p:spPr>
          <a:xfrm xmlns:a="http://schemas.openxmlformats.org/drawingml/2006/main">
            <a:off x="504000" y="558000"/>
            <a:ext cx="11088000" cy="6120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rPr lang="en-US" sz="2800" b="1">
                <a:solidFill>
                  <a:srgbClr val="1A202C"/>
                </a:solidFill>
                <a:latin typeface="Calibri"/>
                <a:ea typeface="Calibri"/>
              </a:rPr>
              <a:t>Situation &amp; decision card</a:t>
            </a:r>
          </a:p>
        </p:txBody>
      </p:sp>
      <p:sp>
        <p:nvSpPr>
          <p:cNvPr id="100011" name="TextBox 3"/>
          <p:cNvSpPr txBox="1"/>
          <p:nvPr/>
        </p:nvSpPr>
        <p:spPr>
          <a:xfrm xmlns:a="http://schemas.openxmlformats.org/drawingml/2006/main">
            <a:off x="504000" y="1224000"/>
            <a:ext cx="11088000" cy="496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rPr lang="en-US" sz="1300" b="0">
                <a:solidFill>
                  <a:srgbClr val="1A202C"/>
                </a:solidFill>
                <a:latin typeface="Calibri"/>
                <a:ea typeface="Calibri"/>
              </a:rPr>
              <a:t>Presenter: Alex Chen — EM, Atlas Q2 QBR</a:t>
            </a:r>
          </a:p>
          <a:p xmlns:a="http://schemas.openxmlformats.org/drawingml/2006/main">
            <a:r>
              <a:rPr lang="en-US" sz="1300" b="0">
                <a:solidFill>
                  <a:srgbClr val="1A202C"/>
                </a:solidFill>
                <a:latin typeface="Calibri"/>
                <a:ea typeface="Calibri"/>
              </a:rPr>
              <a:t>Decision-maker: Morgan Lee + leadership forum</a:t>
            </a:r>
          </a:p>
          <a:p xmlns:a="http://schemas.openxmlformats.org/drawingml/2006/main">
            <a:r>
              <a:rPr lang="en-US" sz="1300" b="0">
                <a:solidFill>
                  <a:srgbClr val="1A202C"/>
                </a:solidFill>
                <a:latin typeface="Calibri"/>
                <a:ea typeface="Calibri"/>
              </a:rPr>
              <a:t>Audience: VP Eng, peer EMs, program</a:t>
            </a:r>
          </a:p>
          <a:p xmlns:a="http://schemas.openxmlformats.org/drawingml/2006/main">
            <a:r>
              <a:rPr lang="en-US" sz="1300" b="0">
                <a:solidFill>
                  <a:srgbClr val="1A202C"/>
                </a:solidFill>
                <a:latin typeface="Calibri"/>
                <a:ea typeface="Calibri"/>
              </a:rPr>
              <a:t/>
            </a:r>
          </a:p>
          <a:p xmlns:a="http://schemas.openxmlformats.org/drawingml/2006/main">
            <a:r>
              <a:rPr lang="en-US" sz="1300" b="0">
                <a:solidFill>
                  <a:srgbClr val="1A202C"/>
                </a:solidFill>
                <a:latin typeface="Calibri"/>
                <a:ea typeface="Calibri"/>
              </a:rPr>
              <a:t>What just happened / context:</a:t>
            </a:r>
          </a:p>
          <a:p xmlns:a="http://schemas.openxmlformats.org/drawingml/2006/main">
            <a:r>
              <a:rPr lang="en-US" sz="1300" b="0">
                <a:solidFill>
                  <a:srgbClr val="1A202C"/>
                </a:solidFill>
                <a:latin typeface="Calibri"/>
                <a:ea typeface="Calibri"/>
              </a:rPr>
              <a:t>Q2 closed ~2026-06-26 lookback: AON B 3/20, freeze 4/10, TO 4/28, day-3 boot 5/15, sample on track 6/30. USB3 partial; unplanned ~20%; IO single-thread carried yellow.</a:t>
            </a:r>
          </a:p>
          <a:p xmlns:a="http://schemas.openxmlformats.org/drawingml/2006/main">
            <a:r>
              <a:rPr lang="en-US" sz="1300" b="0">
                <a:solidFill>
                  <a:srgbClr val="1A202C"/>
                </a:solidFill>
                <a:latin typeface="Calibri"/>
                <a:ea typeface="Calibri"/>
              </a:rPr>
              <a:t/>
            </a:r>
          </a:p>
          <a:p xmlns:a="http://schemas.openxmlformats.org/drawingml/2006/main">
            <a:r>
              <a:rPr lang="en-US" sz="1300" b="0">
                <a:solidFill>
                  <a:srgbClr val="1A202C"/>
                </a:solidFill>
                <a:latin typeface="Calibri"/>
                <a:ea typeface="Calibri"/>
              </a:rPr>
              <a:t>Stakes if we get this wrong:</a:t>
            </a:r>
          </a:p>
          <a:p xmlns:a="http://schemas.openxmlformats.org/drawingml/2006/main">
            <a:r>
              <a:rPr lang="en-US" sz="1300" b="0">
                <a:solidFill>
                  <a:srgbClr val="1A202C"/>
                </a:solidFill>
                <a:latin typeface="Calibri"/>
                <a:ea typeface="Calibri"/>
              </a:rPr>
              <a:t>If leadership only hears GREEN silicon, they may underfund Q3 hire/intake discipline and recreate unplanned overload.</a:t>
            </a:r>
          </a:p>
          <a:p xmlns:a="http://schemas.openxmlformats.org/drawingml/2006/main">
            <a:r>
              <a:rPr lang="en-US" sz="1300" b="0">
                <a:solidFill>
                  <a:srgbClr val="1A202C"/>
                </a:solidFill>
                <a:latin typeface="Calibri"/>
                <a:ea typeface="Calibri"/>
              </a:rPr>
              <a:t/>
            </a:r>
          </a:p>
          <a:p xmlns:a="http://schemas.openxmlformats.org/drawingml/2006/main">
            <a:r>
              <a:rPr lang="en-US" sz="1300" b="0">
                <a:solidFill>
                  <a:srgbClr val="1A202C"/>
                </a:solidFill>
                <a:latin typeface="Calibri"/>
                <a:ea typeface="Calibri"/>
              </a:rPr>
              <a:t>Decision needed:</a:t>
            </a:r>
          </a:p>
          <a:p xmlns:a="http://schemas.openxmlformats.org/drawingml/2006/main">
            <a:r>
              <a:rPr lang="en-US" sz="1300" b="0">
                <a:solidFill>
                  <a:srgbClr val="1A202C"/>
                </a:solidFill>
                <a:latin typeface="Calibri"/>
                <a:ea typeface="Calibri"/>
              </a:rPr>
              <a:t>Endorse next priorities P1 sample SLA + P2 revB; keep WiFi stretch; support DV hire + Q3 plan B.</a:t>
            </a:r>
          </a:p>
          <a:p xmlns:a="http://schemas.openxmlformats.org/drawingml/2006/main">
            <a:r>
              <a:rPr lang="en-US" sz="1300" b="0">
                <a:solidFill>
                  <a:srgbClr val="1A202C"/>
                </a:solidFill>
                <a:latin typeface="Calibri"/>
                <a:ea typeface="Calibri"/>
              </a:rPr>
              <a:t/>
            </a:r>
          </a:p>
          <a:p xmlns:a="http://schemas.openxmlformats.org/drawingml/2006/main">
            <a:r>
              <a:rPr lang="en-US" sz="1300" b="0">
                <a:solidFill>
                  <a:srgbClr val="1A202C"/>
                </a:solidFill>
                <a:latin typeface="Calibri"/>
                <a:ea typeface="Calibri"/>
              </a:rPr>
              <a:t>Recommendation: Overall GREEN with explicit carry risks; approve P1/P2 and HC path.</a:t>
            </a:r>
          </a:p>
          <a:p xmlns:a="http://schemas.openxmlformats.org/drawingml/2006/main">
            <a:r>
              <a:rPr lang="en-US" sz="1300" b="0">
                <a:solidFill>
                  <a:srgbClr val="1A202C"/>
                </a:solidFill>
                <a:latin typeface="Calibri"/>
                <a:ea typeface="Calibri"/>
              </a:rPr>
              <a:t>If YES: Q3 kickoff (08) has air cover; hire continues; intake rule enforced.</a:t>
            </a:r>
          </a:p>
          <a:p xmlns:a="http://schemas.openxmlformats.org/drawingml/2006/main">
            <a:r>
              <a:rPr lang="en-US" sz="1300" b="0">
                <a:solidFill>
                  <a:srgbClr val="1A202C"/>
                </a:solidFill>
                <a:latin typeface="Calibri"/>
                <a:ea typeface="Calibri"/>
              </a:rPr>
              <a:t>If NO / delay: Same single-thread risk into sample support peak.</a:t>
            </a:r>
          </a:p>
          <a:p xmlns:a="http://schemas.openxmlformats.org/drawingml/2006/main">
            <a:r>
              <a:rPr lang="en-US" sz="1300" b="0">
                <a:solidFill>
                  <a:srgbClr val="1A202C"/>
                </a:solidFill>
                <a:latin typeface="Calibri"/>
                <a:ea typeface="Calibri"/>
              </a:rPr>
              <a:t/>
            </a:r>
          </a:p>
          <a:p xmlns:a="http://schemas.openxmlformats.org/drawingml/2006/main">
            <a:r>
              <a:rPr lang="en-US" sz="1300" b="0">
                <a:solidFill>
                  <a:srgbClr val="1A202C"/>
                </a:solidFill>
                <a:latin typeface="Calibri"/>
                <a:ea typeface="Calibri"/>
              </a:rPr>
              <a:t>Decide by: This QBR (~2026-06-26) + follow-up into 7/01 kickoff</a:t>
            </a:r>
          </a:p>
          <a:p xmlns:a="http://schemas.openxmlformats.org/drawingml/2006/main">
            <a:r>
              <a:rPr lang="en-US" sz="1300" b="0">
                <a:solidFill>
                  <a:srgbClr val="1A202C"/>
                </a:solidFill>
                <a:latin typeface="Calibri"/>
                <a:ea typeface="Calibri"/>
              </a:rPr>
              <a:t>Arc prior: Full H1 arc 01→08 decisions landed or in flight</a:t>
            </a:r>
          </a:p>
          <a:p xmlns:a="http://schemas.openxmlformats.org/drawingml/2006/main">
            <a:r>
              <a:rPr lang="en-US" sz="1300" b="0">
                <a:solidFill>
                  <a:srgbClr val="1A202C"/>
                </a:solidFill>
                <a:latin typeface="Calibri"/>
                <a:ea typeface="Calibri"/>
              </a:rPr>
              <a:t>Arc next: 08 Q3 execution under endorsed commits</a:t>
            </a:r>
          </a:p>
        </p:txBody>
      </p:sp>
      <p:sp>
        <p:nvSpPr>
          <p:cNvPr id="100012" name="TextBox 4"/>
          <p:cNvSpPr txBox="1"/>
          <p:nvPr/>
        </p:nvSpPr>
        <p:spPr>
          <a:xfrm xmlns:a="http://schemas.openxmlformats.org/drawingml/2006/main">
            <a:off x="504000" y="6426000"/>
            <a:ext cx="11088000" cy="3060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rPr lang="en-US" sz="1100" b="0">
                <a:solidFill>
                  <a:srgbClr val="718096"/>
                </a:solidFill>
                <a:latin typeface="Calibri"/>
                <a:ea typeface="Calibri"/>
              </a:rPr>
              <a:t>Atlas Platform  ·  Project Aurora  ·  NovaSemi  ·  2026</a:t>
            </a:r>
          </a:p>
        </p:txBody>
      </p:sp>
    </p:spTree>
  </p:cSld>
</p:sld>
</file>

<file path=ppt/slides/slide4.xml><?xml version="1.0" encoding="utf-8"?>
<p:sld xmlns:p="http://schemas.openxmlformats.org/presentationml/2006/main">
  <p:cSld name="BLUF — Q2 overall GREEN">
    <p:bg>
      <p:bgPr>
        <a:solidFill xmlns:a="http://schemas.openxmlformats.org/drawingml/2006/main">
          <a:srgbClr val="F4F7FC"/>
        </a:solidFill>
      </p:bgPr>
    </p:bg>
    <p:spTree>
      <p:nvGrpSpPr>
        <p:cNvPr id="1" name=""/>
        <p:cNvGrpSpPr/>
        <p:nvPr/>
      </p:nvGrpSpPr>
      <p:grpSpPr/>
      <p:sp>
        <p:nvSpPr>
          <p:cNvPr id="100013" name="TextBox 1"/>
          <p:cNvSpPr txBox="1"/>
          <p:nvPr/>
        </p:nvSpPr>
        <p:spPr>
          <a:xfrm xmlns:a="http://schemas.openxmlformats.org/drawingml/2006/main">
            <a:off x="504000" y="270000"/>
            <a:ext cx="11088000" cy="2700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rPr lang="en-US" sz="1100" b="1">
                <a:solidFill>
                  <a:srgbClr val="2B6CB0"/>
                </a:solidFill>
                <a:latin typeface="Calibri"/>
                <a:ea typeface="Calibri"/>
              </a:rPr>
              <a:t>BOTTOM LINE UP FRONT</a:t>
            </a:r>
          </a:p>
        </p:txBody>
      </p:sp>
      <p:sp>
        <p:nvSpPr>
          <p:cNvPr id="100014" name="TextBox 2"/>
          <p:cNvSpPr txBox="1"/>
          <p:nvPr/>
        </p:nvSpPr>
        <p:spPr>
          <a:xfrm xmlns:a="http://schemas.openxmlformats.org/drawingml/2006/main">
            <a:off x="504000" y="558000"/>
            <a:ext cx="11088000" cy="6120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rPr lang="en-US" sz="2800" b="1">
                <a:solidFill>
                  <a:srgbClr val="1A202C"/>
                </a:solidFill>
                <a:latin typeface="Calibri"/>
                <a:ea typeface="Calibri"/>
              </a:rPr>
              <a:t>BLUF — Q2 overall GREEN</a:t>
            </a:r>
          </a:p>
        </p:txBody>
      </p:sp>
      <p:sp>
        <p:nvSpPr>
          <p:cNvPr id="100015" name="TextBox 3"/>
          <p:cNvSpPr txBox="1"/>
          <p:nvPr/>
        </p:nvSpPr>
        <p:spPr>
          <a:xfrm xmlns:a="http://schemas.openxmlformats.org/drawingml/2006/main">
            <a:off x="504000" y="1260000"/>
            <a:ext cx="11088000" cy="630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E2761"/>
          </a:solidFill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rPr lang="en-US" sz="1400" b="1">
                <a:solidFill>
                  <a:srgbClr val="FFFFFF"/>
                </a:solidFill>
                <a:latin typeface="Calibri"/>
                <a:ea typeface="Calibri"/>
              </a:rPr>
              <a:t>Overall: GREEN  ·  Wins: freeze 4/10, day-3 boot 5/15, farm ROI  ·  Carry: IO single-thread  ·  Ask: Q3 B + HC</a:t>
            </a:r>
          </a:p>
        </p:txBody>
      </p:sp>
      <p:sp>
        <p:nvSpPr>
          <p:cNvPr id="100016" name="TextBox 4"/>
          <p:cNvSpPr txBox="1"/>
          <p:nvPr/>
        </p:nvSpPr>
        <p:spPr>
          <a:xfrm xmlns:a="http://schemas.openxmlformats.org/drawingml/2006/main">
            <a:off x="504000" y="1980000"/>
            <a:ext cx="11088000" cy="4212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rPr lang="en-US" sz="1600" b="0">
                <a:solidFill>
                  <a:srgbClr val="1A202C"/>
                </a:solidFill>
                <a:latin typeface="Calibri"/>
                <a:ea typeface="Calibri"/>
              </a:rPr>
              <a:t>Q2 lookback (QBR ~2026-06-26): AON Option B (3/20); RTL freeze 4/10; TO 4/28; day-3 boot 5/15; sample plan on track 6/30.</a:t>
            </a:r>
          </a:p>
          <a:p xmlns:a="http://schemas.openxmlformats.org/drawingml/2006/main">
            <a:r>
              <a:rPr lang="en-US" sz="1600" b="0">
                <a:solidFill>
                  <a:srgbClr val="1A202C"/>
                </a:solidFill>
                <a:latin typeface="Calibri"/>
                <a:ea typeface="Calibri"/>
              </a:rPr>
              <a:t>Miss/partial: USB3 complete (to 6/10) — capacity unplanned ~20%.</a:t>
            </a:r>
          </a:p>
          <a:p xmlns:a="http://schemas.openxmlformats.org/drawingml/2006/main">
            <a:r>
              <a:rPr lang="en-US" sz="1600" b="0">
                <a:solidFill>
                  <a:srgbClr val="1A202C"/>
                </a:solidFill>
                <a:latin typeface="Calibri"/>
                <a:ea typeface="Calibri"/>
              </a:rPr>
              <a:t>Next: endorse Q3 balanced plan + senior DV req (opened 5/22).</a:t>
            </a:r>
          </a:p>
        </p:txBody>
      </p:sp>
      <p:sp>
        <p:nvSpPr>
          <p:cNvPr id="100017" name="TextBox 5"/>
          <p:cNvSpPr txBox="1"/>
          <p:nvPr/>
        </p:nvSpPr>
        <p:spPr>
          <a:xfrm xmlns:a="http://schemas.openxmlformats.org/drawingml/2006/main">
            <a:off x="504000" y="6426000"/>
            <a:ext cx="11088000" cy="3060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rPr lang="en-US" sz="1100" b="0">
                <a:solidFill>
                  <a:srgbClr val="718096"/>
                </a:solidFill>
                <a:latin typeface="Calibri"/>
                <a:ea typeface="Calibri"/>
              </a:rPr>
              <a:t>Atlas Platform  ·  Project Aurora  ·  NovaSemi  ·  2026</a:t>
            </a:r>
          </a:p>
        </p:txBody>
      </p:sp>
    </p:spTree>
  </p:cSld>
</p:sld>
</file>

<file path=ppt/slides/slide5.xml><?xml version="1.0" encoding="utf-8"?>
<p:sld xmlns:p="http://schemas.openxmlformats.org/presentationml/2006/main">
  <p:cSld name="Scorecard vs commits">
    <p:bg>
      <p:bgPr>
        <a:solidFill xmlns:a="http://schemas.openxmlformats.org/drawingml/2006/main">
          <a:srgbClr val="F4F7FC"/>
        </a:solidFill>
      </p:bgPr>
    </p:bg>
    <p:spTree>
      <p:nvGrpSpPr>
        <p:cNvPr id="1" name=""/>
        <p:cNvGrpSpPr/>
        <p:nvPr/>
      </p:nvGrpSpPr>
      <p:grpSpPr/>
      <p:sp>
        <p:nvSpPr>
          <p:cNvPr id="100018" name="TextBox 1"/>
          <p:cNvSpPr txBox="1"/>
          <p:nvPr/>
        </p:nvSpPr>
        <p:spPr>
          <a:xfrm xmlns:a="http://schemas.openxmlformats.org/drawingml/2006/main">
            <a:off x="504000" y="396000"/>
            <a:ext cx="11088000" cy="6840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rPr lang="en-US" sz="3000" b="1">
                <a:solidFill>
                  <a:srgbClr val="1A202C"/>
                </a:solidFill>
                <a:latin typeface="Calibri"/>
                <a:ea typeface="Calibri"/>
              </a:rPr>
              <a:t>Scorecard vs commits</a:t>
            </a:r>
          </a:p>
        </p:txBody>
      </p:sp>
      <p:sp>
        <p:nvSpPr>
          <p:cNvPr id="100019" name="TextBox 2"/>
          <p:cNvSpPr txBox="1"/>
          <p:nvPr/>
        </p:nvSpPr>
        <p:spPr>
          <a:xfrm xmlns:a="http://schemas.openxmlformats.org/drawingml/2006/main">
            <a:off x="504000" y="1260000"/>
            <a:ext cx="11088000" cy="4860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rPr lang="en-US" sz="1600" b="0">
                <a:solidFill>
                  <a:srgbClr val="1A202C"/>
                </a:solidFill>
                <a:latin typeface="Calibri"/>
                <a:ea typeface="Calibri"/>
              </a:rPr>
              <a:t>AON freeze-ready decision — Hit — B approved 3/20</a:t>
            </a:r>
          </a:p>
          <a:p xmlns:a="http://schemas.openxmlformats.org/drawingml/2006/main">
            <a:r>
              <a:rPr lang="en-US" sz="1600" b="0">
                <a:solidFill>
                  <a:srgbClr val="1A202C"/>
                </a:solidFill>
                <a:latin typeface="Calibri"/>
                <a:ea typeface="Calibri"/>
              </a:rPr>
              <a:t>RTL freeze 4/10 — Hit</a:t>
            </a:r>
          </a:p>
          <a:p xmlns:a="http://schemas.openxmlformats.org/drawingml/2006/main">
            <a:r>
              <a:rPr lang="en-US" sz="1600" b="0">
                <a:solidFill>
                  <a:srgbClr val="1A202C"/>
                </a:solidFill>
                <a:latin typeface="Calibri"/>
                <a:ea typeface="Calibri"/>
              </a:rPr>
              <a:t>Day-5 boot — Hit — day 3 actual (silicon 5/12)</a:t>
            </a:r>
          </a:p>
          <a:p xmlns:a="http://schemas.openxmlformats.org/drawingml/2006/main">
            <a:r>
              <a:rPr lang="en-US" sz="1600" b="0">
                <a:solidFill>
                  <a:srgbClr val="1A202C"/>
                </a:solidFill>
                <a:latin typeface="Calibri"/>
                <a:ea typeface="Calibri"/>
              </a:rPr>
              <a:t>USB3 bring-up done Q2 — Partial — 6/10 forecast</a:t>
            </a:r>
          </a:p>
          <a:p xmlns:a="http://schemas.openxmlformats.org/drawingml/2006/main">
            <a:r>
              <a:rPr lang="en-US" sz="1600" b="0">
                <a:solidFill>
                  <a:srgbClr val="1A202C"/>
                </a:solidFill>
                <a:latin typeface="Calibri"/>
                <a:ea typeface="Calibri"/>
              </a:rPr>
              <a:t>0 attrition — Hit</a:t>
            </a:r>
          </a:p>
          <a:p xmlns:a="http://schemas.openxmlformats.org/drawingml/2006/main">
            <a:r>
              <a:rPr lang="en-US" sz="1600" b="0">
                <a:solidFill>
                  <a:srgbClr val="1A202C"/>
                </a:solidFill>
                <a:latin typeface="Calibri"/>
                <a:ea typeface="Calibri"/>
              </a:rPr>
              <a:t>Unplanned ≤15% — Miss — actual ~20%</a:t>
            </a:r>
          </a:p>
        </p:txBody>
      </p:sp>
      <p:sp>
        <p:nvSpPr>
          <p:cNvPr id="100020" name="TextBox 3"/>
          <p:cNvSpPr txBox="1"/>
          <p:nvPr/>
        </p:nvSpPr>
        <p:spPr>
          <a:xfrm xmlns:a="http://schemas.openxmlformats.org/drawingml/2006/main">
            <a:off x="504000" y="6426000"/>
            <a:ext cx="11088000" cy="3060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rPr lang="en-US" sz="1100" b="0">
                <a:solidFill>
                  <a:srgbClr val="718096"/>
                </a:solidFill>
                <a:latin typeface="Calibri"/>
                <a:ea typeface="Calibri"/>
              </a:rPr>
              <a:t>Atlas Platform  ·  Project Aurora  ·  NovaSemi  ·  2026</a:t>
            </a:r>
          </a:p>
        </p:txBody>
      </p:sp>
    </p:spTree>
  </p:cSld>
</p:sld>
</file>

<file path=ppt/slides/slide6.xml><?xml version="1.0" encoding="utf-8"?>
<p:sld xmlns:p="http://schemas.openxmlformats.org/presentationml/2006/main">
  <p:cSld name="What slipped &amp; why">
    <p:bg>
      <p:bgPr>
        <a:solidFill xmlns:a="http://schemas.openxmlformats.org/drawingml/2006/main">
          <a:srgbClr val="F4F7FC"/>
        </a:solidFill>
      </p:bgPr>
    </p:bg>
    <p:spTree>
      <p:nvGrpSpPr>
        <p:cNvPr id="1" name=""/>
        <p:cNvGrpSpPr/>
        <p:nvPr/>
      </p:nvGrpSpPr>
      <p:grpSpPr/>
      <p:sp>
        <p:nvSpPr>
          <p:cNvPr id="100021" name="TextBox 1"/>
          <p:cNvSpPr txBox="1"/>
          <p:nvPr/>
        </p:nvSpPr>
        <p:spPr>
          <a:xfrm xmlns:a="http://schemas.openxmlformats.org/drawingml/2006/main">
            <a:off x="504000" y="396000"/>
            <a:ext cx="11088000" cy="6840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rPr lang="en-US" sz="3000" b="1">
                <a:solidFill>
                  <a:srgbClr val="1A202C"/>
                </a:solidFill>
                <a:latin typeface="Calibri"/>
                <a:ea typeface="Calibri"/>
              </a:rPr>
              <a:t>What slipped &amp; why</a:t>
            </a:r>
          </a:p>
        </p:txBody>
      </p:sp>
      <p:sp>
        <p:nvSpPr>
          <p:cNvPr id="100022" name="TextBox 2"/>
          <p:cNvSpPr txBox="1"/>
          <p:nvPr/>
        </p:nvSpPr>
        <p:spPr>
          <a:xfrm xmlns:a="http://schemas.openxmlformats.org/drawingml/2006/main">
            <a:off x="504000" y="1260000"/>
            <a:ext cx="11088000" cy="4860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rPr lang="en-US" sz="1600" b="0">
                <a:solidFill>
                  <a:srgbClr val="1A202C"/>
                </a:solidFill>
                <a:latin typeface="Calibri"/>
                <a:ea typeface="Calibri"/>
              </a:rPr>
              <a:t>Assumption broken: unplanned load would stay ≤15%; board+ECO-22 consumed more.</a:t>
            </a:r>
          </a:p>
          <a:p xmlns:a="http://schemas.openxmlformats.org/drawingml/2006/main">
            <a:r>
              <a:rPr lang="en-US" sz="1600" b="0">
                <a:solidFill>
                  <a:srgbClr val="1A202C"/>
                </a:solidFill>
                <a:latin typeface="Calibri"/>
                <a:ea typeface="Calibri"/>
              </a:rPr>
              <a:t/>
            </a:r>
          </a:p>
          <a:p xmlns:a="http://schemas.openxmlformats.org/drawingml/2006/main">
            <a:r>
              <a:rPr lang="en-US" sz="1600" b="0">
                <a:solidFill>
                  <a:srgbClr val="1A202C"/>
                </a:solidFill>
                <a:latin typeface="Calibri"/>
                <a:ea typeface="Calibri"/>
              </a:rPr>
              <a:t>Mid-Q we chose sample path over USB3 perfection (correct call).</a:t>
            </a:r>
          </a:p>
          <a:p xmlns:a="http://schemas.openxmlformats.org/drawingml/2006/main">
            <a:r>
              <a:rPr lang="en-US" sz="1600" b="0">
                <a:solidFill>
                  <a:srgbClr val="1A202C"/>
                </a:solidFill>
                <a:latin typeface="Calibri"/>
                <a:ea typeface="Calibri"/>
              </a:rPr>
              <a:t/>
            </a:r>
          </a:p>
          <a:p xmlns:a="http://schemas.openxmlformats.org/drawingml/2006/main">
            <a:r>
              <a:rPr lang="en-US" sz="1600" b="0">
                <a:solidFill>
                  <a:srgbClr val="1A202C"/>
                </a:solidFill>
                <a:latin typeface="Calibri"/>
                <a:ea typeface="Calibri"/>
              </a:rPr>
              <a:t>Change Q3: +1 DV; stricter intake; unplanned budget 15% explicit in plan.</a:t>
            </a:r>
          </a:p>
        </p:txBody>
      </p:sp>
      <p:sp>
        <p:nvSpPr>
          <p:cNvPr id="100023" name="TextBox 3"/>
          <p:cNvSpPr txBox="1"/>
          <p:nvPr/>
        </p:nvSpPr>
        <p:spPr>
          <a:xfrm xmlns:a="http://schemas.openxmlformats.org/drawingml/2006/main">
            <a:off x="504000" y="6426000"/>
            <a:ext cx="11088000" cy="3060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rPr lang="en-US" sz="1100" b="0">
                <a:solidFill>
                  <a:srgbClr val="718096"/>
                </a:solidFill>
                <a:latin typeface="Calibri"/>
                <a:ea typeface="Calibri"/>
              </a:rPr>
              <a:t>Atlas Platform  ·  Project Aurora  ·  NovaSemi  ·  2026</a:t>
            </a:r>
          </a:p>
        </p:txBody>
      </p:sp>
    </p:spTree>
  </p:cSld>
</p:sld>
</file>

<file path=ppt/slides/slide7.xml><?xml version="1.0" encoding="utf-8"?>
<p:sld xmlns:p="http://schemas.openxmlformats.org/presentationml/2006/main">
  <p:cSld name="Risks into next period">
    <p:bg>
      <p:bgPr>
        <a:solidFill xmlns:a="http://schemas.openxmlformats.org/drawingml/2006/main">
          <a:srgbClr val="F4F7FC"/>
        </a:solidFill>
      </p:bgPr>
    </p:bg>
    <p:spTree>
      <p:nvGrpSpPr>
        <p:cNvPr id="1" name=""/>
        <p:cNvGrpSpPr/>
        <p:nvPr/>
      </p:nvGrpSpPr>
      <p:grpSpPr/>
      <p:sp>
        <p:nvSpPr>
          <p:cNvPr id="100024" name="TextBox 1"/>
          <p:cNvSpPr txBox="1"/>
          <p:nvPr/>
        </p:nvSpPr>
        <p:spPr>
          <a:xfrm xmlns:a="http://schemas.openxmlformats.org/drawingml/2006/main">
            <a:off x="504000" y="396000"/>
            <a:ext cx="11088000" cy="6840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rPr lang="en-US" sz="3000" b="1">
                <a:solidFill>
                  <a:srgbClr val="1A202C"/>
                </a:solidFill>
                <a:latin typeface="Calibri"/>
                <a:ea typeface="Calibri"/>
              </a:rPr>
              <a:t>Risks into next period</a:t>
            </a:r>
          </a:p>
        </p:txBody>
      </p:sp>
      <p:sp>
        <p:nvSpPr>
          <p:cNvPr id="100025" name="TextBox 2"/>
          <p:cNvSpPr txBox="1"/>
          <p:nvPr/>
        </p:nvSpPr>
        <p:spPr>
          <a:xfrm xmlns:a="http://schemas.openxmlformats.org/drawingml/2006/main">
            <a:off x="504000" y="1260000"/>
            <a:ext cx="11088000" cy="4860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rPr lang="en-US" sz="1600" b="0">
                <a:solidFill>
                  <a:srgbClr val="1A202C"/>
                </a:solidFill>
                <a:latin typeface="Calibri"/>
                <a:ea typeface="Calibri"/>
              </a:rPr>
              <a:t>1. IO DV single-thread — +1 hire / contractor bridge — Alex</a:t>
            </a:r>
          </a:p>
          <a:p xmlns:a="http://schemas.openxmlformats.org/drawingml/2006/main">
            <a:r>
              <a:rPr lang="en-US" sz="1600" b="0">
                <a:solidFill>
                  <a:srgbClr val="1A202C"/>
                </a:solidFill>
                <a:latin typeface="Calibri"/>
                <a:ea typeface="Calibri"/>
              </a:rPr>
              <a:t>2. Sample customer change requests — intake rule — Alex+PM</a:t>
            </a:r>
          </a:p>
          <a:p xmlns:a="http://schemas.openxmlformats.org/drawingml/2006/main">
            <a:r>
              <a:rPr lang="en-US" sz="1600" b="0">
                <a:solidFill>
                  <a:srgbClr val="1A202C"/>
                </a:solidFill>
                <a:latin typeface="Calibri"/>
                <a:ea typeface="Calibri"/>
              </a:rPr>
              <a:t>3. HelixSim PO timing — procurement 6/05 — Finance</a:t>
            </a:r>
          </a:p>
          <a:p xmlns:a="http://schemas.openxmlformats.org/drawingml/2006/main">
            <a:r>
              <a:rPr lang="en-US" sz="1600" b="0">
                <a:solidFill>
                  <a:srgbClr val="1A202C"/>
                </a:solidFill>
                <a:latin typeface="Calibri"/>
                <a:ea typeface="Calibri"/>
              </a:rPr>
              <a:t/>
            </a:r>
          </a:p>
          <a:p xmlns:a="http://schemas.openxmlformats.org/drawingml/2006/main">
            <a:r>
              <a:rPr lang="en-US" sz="1600" b="0">
                <a:solidFill>
                  <a:srgbClr val="1A202C"/>
                </a:solidFill>
                <a:latin typeface="Calibri"/>
                <a:ea typeface="Calibri"/>
              </a:rPr>
              <a:t>Lookback A: outcomes 62% / invest 18% / unplanned 20%.</a:t>
            </a:r>
          </a:p>
        </p:txBody>
      </p:sp>
      <p:sp>
        <p:nvSpPr>
          <p:cNvPr id="100026" name="TextBox 3"/>
          <p:cNvSpPr txBox="1"/>
          <p:nvPr/>
        </p:nvSpPr>
        <p:spPr>
          <a:xfrm xmlns:a="http://schemas.openxmlformats.org/drawingml/2006/main">
            <a:off x="504000" y="6426000"/>
            <a:ext cx="11088000" cy="3060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rPr lang="en-US" sz="1100" b="0">
                <a:solidFill>
                  <a:srgbClr val="718096"/>
                </a:solidFill>
                <a:latin typeface="Calibri"/>
                <a:ea typeface="Calibri"/>
              </a:rPr>
              <a:t>Atlas Platform  ·  Project Aurora  ·  NovaSemi  ·  2026</a:t>
            </a:r>
          </a:p>
        </p:txBody>
      </p:sp>
    </p:spTree>
  </p:cSld>
</p:sld>
</file>

<file path=ppt/slides/slide8.xml><?xml version="1.0" encoding="utf-8"?>
<p:sld xmlns:p="http://schemas.openxmlformats.org/presentationml/2006/main">
  <p:cSld name="Options &amp; recommendation">
    <p:bg>
      <p:bgPr>
        <a:solidFill xmlns:a="http://schemas.openxmlformats.org/drawingml/2006/main">
          <a:srgbClr val="F4F7FC"/>
        </a:solidFill>
      </p:bgPr>
    </p:bg>
    <p:spTree>
      <p:nvGrpSpPr>
        <p:cNvPr id="1" name=""/>
        <p:cNvGrpSpPr/>
        <p:nvPr/>
      </p:nvGrpSpPr>
      <p:grpSpPr/>
      <p:sp>
        <p:nvSpPr>
          <p:cNvPr id="100027" name="TextBox 1"/>
          <p:cNvSpPr txBox="1"/>
          <p:nvPr/>
        </p:nvSpPr>
        <p:spPr>
          <a:xfrm xmlns:a="http://schemas.openxmlformats.org/drawingml/2006/main">
            <a:off x="504000" y="396000"/>
            <a:ext cx="11088000" cy="6840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rPr lang="en-US" sz="3000" b="1">
                <a:solidFill>
                  <a:srgbClr val="1A202C"/>
                </a:solidFill>
                <a:latin typeface="Calibri"/>
                <a:ea typeface="Calibri"/>
              </a:rPr>
              <a:t>Options &amp; recommendation</a:t>
            </a:r>
          </a:p>
        </p:txBody>
      </p:sp>
      <p:sp>
        <p:nvSpPr>
          <p:cNvPr id="100028" name="TextBox 2"/>
          <p:cNvSpPr txBox="1"/>
          <p:nvPr/>
        </p:nvSpPr>
        <p:spPr>
          <a:xfrm xmlns:a="http://schemas.openxmlformats.org/drawingml/2006/main">
            <a:off x="504000" y="1224000"/>
            <a:ext cx="11088000" cy="3960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rPr lang="en-US" sz="1300" b="0">
                <a:solidFill>
                  <a:srgbClr val="718096"/>
                </a:solidFill>
                <a:latin typeface="Calibri"/>
                <a:ea typeface="Calibri"/>
              </a:rPr>
              <a:t>Compare paths; recommendation is marked REC. Decision owner picks by the date on the Ask slide.</a:t>
            </a:r>
          </a:p>
        </p:txBody>
      </p:sp>
      <p:graphicFrame>
        <p:nvGraphicFramePr>
          <p:cNvPr id="100029" name="Table 1"/>
          <p:cNvGraphicFramePr/>
          <p:nvPr/>
        </p:nvGraphicFramePr>
        <p:xfrm>
          <a:off xmlns:a="http://schemas.openxmlformats.org/drawingml/2006/main" x="504000" y="1692000"/>
          <a:ext xmlns:a="http://schemas.openxmlformats.org/drawingml/2006/main" cx="11088000" cy="4140000"/>
        </p:xfrm>
        <a:graphic xmlns:a="http://schemas.openxmlformats.org/drawingml/2006/main">
          <a:graphicData uri="http://schemas.openxmlformats.org/drawingml/2006/table">
            <a:tbl>
              <a:tblPr firstRow="1" bandRow="1"/>
              <a:tblGrid>
                <a:gridCol w="3696000"/>
                <a:gridCol w="3696000"/>
                <a:gridCol w="3696000"/>
              </a:tblGrid>
              <a:tr h="1035000">
                <a:tc>
                  <a:txBody>
                    <a:bodyPr/>
                    <a:lstStyle/>
                    <a:p>
                      <a:r>
                        <a:rPr lang="en-US" sz="1300" b="1">
                          <a:solidFill>
                            <a:srgbClr val="FFFFFF"/>
                          </a:solidFill>
                          <a:latin typeface="Calibri"/>
                          <a:ea typeface="Calibri"/>
                        </a:rPr>
                        <a:t>Next priority</a:t>
                      </a:r>
                    </a:p>
                  </a:txBody>
                  <a:tcPr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300" b="1">
                          <a:solidFill>
                            <a:srgbClr val="FFFFFF"/>
                          </a:solidFill>
                          <a:latin typeface="Calibri"/>
                          <a:ea typeface="Calibri"/>
                        </a:rPr>
                        <a:t>Why</a:t>
                      </a:r>
                    </a:p>
                  </a:txBody>
                  <a:tcPr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300" b="1">
                          <a:solidFill>
                            <a:srgbClr val="FFFFFF"/>
                          </a:solidFill>
                          <a:latin typeface="Calibri"/>
                          <a:ea typeface="Calibri"/>
                        </a:rPr>
                        <a:t>Capacity note</a:t>
                      </a:r>
                    </a:p>
                  </a:txBody>
                  <a:tcPr>
                    <a:solidFill>
                      <a:srgbClr val="1E2761"/>
                    </a:solidFill>
                  </a:tcPr>
                </a:tc>
              </a:tr>
              <a:tr h="1035000">
                <a:tc>
                  <a:txBody>
                    <a:bodyPr/>
                    <a:lstStyle/>
                    <a:p>
                      <a:r>
                        <a:rPr lang="en-US" sz="1200" b="0">
                          <a:solidFill>
                            <a:srgbClr val="1A202C"/>
                          </a:solidFill>
                          <a:latin typeface="Calibri"/>
                          <a:ea typeface="Calibri"/>
                        </a:rPr>
                        <a:t>P1 Sample SLA (REC)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200" b="0">
                          <a:solidFill>
                            <a:srgbClr val="1A202C"/>
                          </a:solidFill>
                          <a:latin typeface="Calibri"/>
                          <a:ea typeface="Calibri"/>
                        </a:rPr>
                        <a:t>Design-win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200" b="0">
                          <a:solidFill>
                            <a:srgbClr val="1A202C"/>
                          </a:solidFill>
                          <a:latin typeface="Calibri"/>
                          <a:ea typeface="Calibri"/>
                        </a:rPr>
                        <a:t>Fits A with hire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1035000">
                <a:tc>
                  <a:txBody>
                    <a:bodyPr/>
                    <a:lstStyle/>
                    <a:p>
                      <a:r>
                        <a:rPr lang="en-US" sz="1200" b="0">
                          <a:solidFill>
                            <a:srgbClr val="1A202C"/>
                          </a:solidFill>
                          <a:latin typeface="Calibri"/>
                          <a:ea typeface="Calibri"/>
                        </a:rPr>
                        <a:t>P2 RevB AON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200" b="0">
                          <a:solidFill>
                            <a:srgbClr val="1A202C"/>
                          </a:solidFill>
                          <a:latin typeface="Calibri"/>
                          <a:ea typeface="Calibri"/>
                        </a:rPr>
                        <a:t>Tech residual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200" b="0">
                          <a:solidFill>
                            <a:srgbClr val="1A202C"/>
                          </a:solidFill>
                          <a:latin typeface="Calibri"/>
                          <a:ea typeface="Calibri"/>
                        </a:rPr>
                        <a:t>Investment band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1035000">
                <a:tc>
                  <a:txBody>
                    <a:bodyPr/>
                    <a:lstStyle/>
                    <a:p>
                      <a:r>
                        <a:rPr lang="en-US" sz="1200" b="0">
                          <a:solidFill>
                            <a:srgbClr val="1A202C"/>
                          </a:solidFill>
                          <a:latin typeface="Calibri"/>
                          <a:ea typeface="Calibri"/>
                        </a:rPr>
                        <a:t>P3 WiFi stretch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200" b="0">
                          <a:solidFill>
                            <a:srgbClr val="1A202C"/>
                          </a:solidFill>
                          <a:latin typeface="Calibri"/>
                          <a:ea typeface="Calibri"/>
                        </a:rPr>
                        <a:t>Optional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200" b="0">
                          <a:solidFill>
                            <a:srgbClr val="1A202C"/>
                          </a:solidFill>
                          <a:latin typeface="Calibri"/>
                          <a:ea typeface="Calibri"/>
                        </a:rPr>
                        <a:t>Only if P1 green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00030" name="TextBox 3"/>
          <p:cNvSpPr txBox="1"/>
          <p:nvPr/>
        </p:nvSpPr>
        <p:spPr>
          <a:xfrm xmlns:a="http://schemas.openxmlformats.org/drawingml/2006/main">
            <a:off x="504000" y="6426000"/>
            <a:ext cx="11088000" cy="3060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rPr lang="en-US" sz="1100" b="0">
                <a:solidFill>
                  <a:srgbClr val="718096"/>
                </a:solidFill>
                <a:latin typeface="Calibri"/>
                <a:ea typeface="Calibri"/>
              </a:rPr>
              <a:t>Atlas Platform  ·  Project Aurora  ·  NovaSemi  ·  2026</a:t>
            </a:r>
          </a:p>
        </p:txBody>
      </p:sp>
    </p:spTree>
  </p:cSld>
</p:sld>
</file>

<file path=ppt/slides/slide9.xml><?xml version="1.0" encoding="utf-8"?>
<p:sld xmlns:p="http://schemas.openxmlformats.org/presentationml/2006/main">
  <p:cSld name="Decision &amp; ask">
    <p:bg>
      <p:bgPr>
        <a:solidFill xmlns:a="http://schemas.openxmlformats.org/drawingml/2006/main">
          <a:srgbClr val="F4F7FC"/>
        </a:solidFill>
      </p:bgPr>
    </p:bg>
    <p:spTree>
      <p:nvGrpSpPr>
        <p:cNvPr id="1" name=""/>
        <p:cNvGrpSpPr/>
        <p:nvPr/>
      </p:nvGrpSpPr>
      <p:grpSpPr/>
      <p:sp>
        <p:nvSpPr>
          <p:cNvPr id="100031" name="TextBox 1"/>
          <p:cNvSpPr txBox="1"/>
          <p:nvPr/>
        </p:nvSpPr>
        <p:spPr>
          <a:xfrm xmlns:a="http://schemas.openxmlformats.org/drawingml/2006/main">
            <a:off x="504000" y="270000"/>
            <a:ext cx="11088000" cy="2700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rPr lang="en-US" sz="1100" b="1">
                <a:solidFill>
                  <a:srgbClr val="2B6CB0"/>
                </a:solidFill>
                <a:latin typeface="Calibri"/>
                <a:ea typeface="Calibri"/>
              </a:rPr>
              <a:t>WHAT WE NEED FROM THIS ROOM</a:t>
            </a:r>
          </a:p>
        </p:txBody>
      </p:sp>
      <p:sp>
        <p:nvSpPr>
          <p:cNvPr id="100032" name="TextBox 2"/>
          <p:cNvSpPr txBox="1"/>
          <p:nvPr/>
        </p:nvSpPr>
        <p:spPr>
          <a:xfrm xmlns:a="http://schemas.openxmlformats.org/drawingml/2006/main">
            <a:off x="504000" y="558000"/>
            <a:ext cx="11088000" cy="6120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rPr lang="en-US" sz="2800" b="1">
                <a:solidFill>
                  <a:srgbClr val="1A202C"/>
                </a:solidFill>
                <a:latin typeface="Calibri"/>
                <a:ea typeface="Calibri"/>
              </a:rPr>
              <a:t>Decision &amp; ask</a:t>
            </a:r>
          </a:p>
        </p:txBody>
      </p:sp>
      <p:sp>
        <p:nvSpPr>
          <p:cNvPr id="100033" name="TextBox 3"/>
          <p:cNvSpPr txBox="1"/>
          <p:nvPr/>
        </p:nvSpPr>
        <p:spPr>
          <a:xfrm xmlns:a="http://schemas.openxmlformats.org/drawingml/2006/main">
            <a:off x="504000" y="1260000"/>
            <a:ext cx="11088000" cy="4860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rPr lang="en-US" sz="1700" b="0">
                <a:solidFill>
                  <a:srgbClr val="1A202C"/>
                </a:solidFill>
                <a:latin typeface="Calibri"/>
                <a:ea typeface="Calibri"/>
              </a:rPr>
              <a:t>Three takeaways: freeze+boot green; unplanned drove USB3 partial; support Q3 B + DV hire.</a:t>
            </a:r>
          </a:p>
          <a:p xmlns:a="http://schemas.openxmlformats.org/drawingml/2006/main">
            <a:r>
              <a:rPr lang="en-US" sz="1700" b="0">
                <a:solidFill>
                  <a:srgbClr val="1A202C"/>
                </a:solidFill>
                <a:latin typeface="Calibri"/>
                <a:ea typeface="Calibri"/>
              </a:rPr>
              <a:t>Endorse P1/P2; WiFi remains stretch.</a:t>
            </a:r>
          </a:p>
          <a:p xmlns:a="http://schemas.openxmlformats.org/drawingml/2006/main">
            <a:r>
              <a:rPr lang="en-US" sz="1700" b="0">
                <a:solidFill>
                  <a:srgbClr val="1A202C"/>
                </a:solidFill>
                <a:latin typeface="Calibri"/>
                <a:ea typeface="Calibri"/>
              </a:rPr>
              <a:t>Decisions by: this QBR (~6/26) + follow-up 1:1 into Q3 kickoff 7/01.</a:t>
            </a:r>
          </a:p>
        </p:txBody>
      </p:sp>
      <p:sp>
        <p:nvSpPr>
          <p:cNvPr id="100034" name="TextBox 4"/>
          <p:cNvSpPr txBox="1"/>
          <p:nvPr/>
        </p:nvSpPr>
        <p:spPr>
          <a:xfrm xmlns:a="http://schemas.openxmlformats.org/drawingml/2006/main">
            <a:off x="504000" y="6426000"/>
            <a:ext cx="11088000" cy="3060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rPr lang="en-US" sz="1100" b="0">
                <a:solidFill>
                  <a:srgbClr val="718096"/>
                </a:solidFill>
                <a:latin typeface="Calibri"/>
                <a:ea typeface="Calibri"/>
              </a:rPr>
              <a:t>Atlas Platform  ·  Project Aurora  ·  NovaSemi  ·  2026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/>
        <a:ea typeface=""/>
        <a:cs typeface=""/>
      </a:majorFont>
      <a:minorFont>
        <a:latin typeface="Calibri"/>
        <a:ea typeface=""/>
        <a:cs typeface=""/>
      </a:minorFont>
    </a:fontScheme>
    <a:fmtScheme name="Office">
      <a:fillStyleLst>
        <a:solidFill>
          <a:schemeClr val="phClr"/>
        </a:solidFill>
        <a:solidFill>
          <a:schemeClr val="phClr"/>
        </a:solidFill>
        <a:solidFill>
          <a:schemeClr val="phClr"/>
        </a:solidFill>
      </a:fillStyleLst>
      <a:lnStyleLst>
        <a:ln w="6350" cap="flat">
          <a:solidFill>
            <a:schemeClr val="phClr"/>
          </a:solidFill>
        </a:ln>
        <a:ln w="12700" cap="flat">
          <a:solidFill>
            <a:schemeClr val="phClr"/>
          </a:solidFill>
        </a:ln>
        <a:ln w="19050" cap="flat">
          <a:solidFill>
            <a:schemeClr val="phClr"/>
          </a:solidFill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/>
        </a:solidFill>
        <a:solidFill>
          <a:schemeClr val="phClr"/>
        </a:solidFill>
      </a:bgFillStyleLst>
    </a:fmtScheme>
  </a:themeElements>
</a:theme>
</file>

<file path=docProps/app.xml><?xml version="1.0" encoding="utf-8"?>
<ap:Properties xmlns:ap="http://schemas.openxmlformats.org/officeDocument/2006/extended-properties">
  <ap:Application>OfficeCLI/1.0.143</ap:Application>
</ap: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xsi="http://www.w3.org/2001/XMLSchema-instance">
  <dc:creator>OfficeCLI</dc:creator>
  <dcterms:created xsi:type="dcterms:W3CDTF">2026-08-05T23:47:08Z</dcterms:created>
  <cp:lastModifiedBy>OfficeCLI</cp:lastModifiedBy>
  <dcterms:modified xsi:type="dcterms:W3CDTF">2026-08-05T23:47:08Z</dcterms:modified>
</cp:coreProperties>
</file>

<file path=docProps/custom.xml><?xml version="1.0" encoding="utf-8"?>
<op:Properties xmlns:op="http://schemas.openxmlformats.org/officeDocument/2006/custom-properties">
  <op:property fmtid="{D5CDD505-2E9C-101B-9397-08002B2CF9AE}" pid="2" name="OfficeCLI.Version">
    <vt:lpwstr xmlns:vt="http://schemas.openxmlformats.org/officeDocument/2006/docPropsVTypes">1.0.143</vt:lpwstr>
  </op:property>
  <op:property fmtid="{D5CDD505-2E9C-101B-9397-08002B2CF9AE}" pid="3" name="OfficeCLI.LastModified">
    <vt:lpwstr xmlns:vt="http://schemas.openxmlformats.org/officeDocument/2006/docPropsVTypes">2026-08-05T23:47:09Z</vt:lpwstr>
  </op:property>
</op:Properties>
</file>