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450c90427964ed3" /><Relationship Type="http://schemas.openxmlformats.org/package/2006/relationships/metadata/core-properties" Target="/docProps/core.xml" Id="Ra7fc289be50e431c" /><Relationship Type="http://schemas.openxmlformats.org/officeDocument/2006/relationships/extended-properties" Target="/docProps/app.xml" Id="Rd78703274df442a3" /><Relationship Type="http://schemas.openxmlformats.org/officeDocument/2006/relationships/custom-properties" Target="/docProps/custom.xml" Id="R5e90bd1ea519493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6c1e107876f8486a"/>
  </p:notesMasterIdLst>
  <p:sldIdLst>
    <p:sldId id="256" r:id="Rbe27270b92b04008"/>
    <p:sldId id="257" r:id="Rd9226f3a74d64fb2"/>
    <p:sldId id="258" r:id="Rdf3c969a322b4d23"/>
    <p:sldId id="259" r:id="R2243f931d51b4738"/>
    <p:sldId id="260" r:id="Rc94499aa541c44f6"/>
    <p:sldId id="261" r:id="R381e9eac75114591"/>
    <p:sldId id="262" r:id="R5d3c8f36dd3647e5"/>
    <p:sldId id="263" r:id="R6335997743034091"/>
    <p:sldId id="264" r:id="Rdd57a504e96e43aa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be27270b92b04008" /><Relationship Type="http://schemas.openxmlformats.org/officeDocument/2006/relationships/notesMaster" Target="/ppt/notesMasters/notesMaster1.xml" Id="R6c1e107876f8486a" /><Relationship Type="http://schemas.openxmlformats.org/officeDocument/2006/relationships/slide" Target="/ppt/slides/slide2.xml" Id="Rd9226f3a74d64fb2" /><Relationship Type="http://schemas.openxmlformats.org/officeDocument/2006/relationships/slide" Target="/ppt/slides/slide3.xml" Id="Rdf3c969a322b4d23" /><Relationship Type="http://schemas.openxmlformats.org/officeDocument/2006/relationships/slide" Target="/ppt/slides/slide4.xml" Id="R2243f931d51b4738" /><Relationship Type="http://schemas.openxmlformats.org/officeDocument/2006/relationships/slide" Target="/ppt/slides/slide5.xml" Id="Rc94499aa541c44f6" /><Relationship Type="http://schemas.openxmlformats.org/officeDocument/2006/relationships/slide" Target="/ppt/slides/slide6.xml" Id="R381e9eac75114591" /><Relationship Type="http://schemas.openxmlformats.org/officeDocument/2006/relationships/slide" Target="/ppt/slides/slide7.xml" Id="R5d3c8f36dd3647e5" /><Relationship Type="http://schemas.openxmlformats.org/officeDocument/2006/relationships/slide" Target="/ppt/slides/slide8.xml" Id="R6335997743034091" /><Relationship Type="http://schemas.openxmlformats.org/officeDocument/2006/relationships/slide" Target="/ppt/slides/slide9.xml" Id="Rdd57a504e96e43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edd7ba46cde4bec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bc405b933474879" /><Relationship Type="http://schemas.openxmlformats.org/officeDocument/2006/relationships/slide" Target="/ppt/slides/slide1.xml" Id="Rb53205984cc141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00deca777a74669" /><Relationship Type="http://schemas.openxmlformats.org/officeDocument/2006/relationships/slide" Target="/ppt/slides/slide2.xml" Id="R00d673ac582b4e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be9d8a2df6334562" /><Relationship Type="http://schemas.openxmlformats.org/officeDocument/2006/relationships/slide" Target="/ppt/slides/slide3.xml" Id="R55954c8509c049d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7214946835094992" /><Relationship Type="http://schemas.openxmlformats.org/officeDocument/2006/relationships/slide" Target="/ppt/slides/slide4.xml" Id="R61c37d6f8e3c416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2da1c15beebf4aaa" /><Relationship Type="http://schemas.openxmlformats.org/officeDocument/2006/relationships/slide" Target="/ppt/slides/slide5.xml" Id="R567f28ab079740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d0371d1edc54564" /><Relationship Type="http://schemas.openxmlformats.org/officeDocument/2006/relationships/slide" Target="/ppt/slides/slide6.xml" Id="R71b9f0e10709427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6f3572e0d54b4934" /><Relationship Type="http://schemas.openxmlformats.org/officeDocument/2006/relationships/slide" Target="/ppt/slides/slide7.xml" Id="Ra7128ac1ba35491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596dc6090a843cf" /><Relationship Type="http://schemas.openxmlformats.org/officeDocument/2006/relationships/slide" Target="/ppt/slides/slide8.xml" Id="R8fa30ebd3d5d4c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fee3541111604eb4" /><Relationship Type="http://schemas.openxmlformats.org/officeDocument/2006/relationships/slide" Target="/ppt/slides/slide9.xml" Id="Ra71c5de872fd4a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(example). Aurora AON clock: freeze on time via phased strap, dual-mux deferred to revB.</a:t>
            </a:r>
          </a:p>
          <a:p xmlns:a="http://schemas.openxmlformats.org/drawingml/2006/main">
            <a:r>
              <a:rPr lang="en-US"/>
              <a:t/>
            </a:r>
          </a:p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Design-doc / RFC options table + residual risk</a:t>
            </a:r>
          </a:p>
          <a:p xmlns:a="http://schemas.openxmlformats.org/drawingml/2006/main">
            <a:r>
              <a:rPr lang="en-US"/>
              <a:t>StaffEng — Writing engineering strategy: https://staffeng.com/guides/engineering-strategy/</a:t>
            </a:r>
          </a:p>
          <a:p xmlns:a="http://schemas.openxmlformats.org/drawingml/2006/main">
            <a:r>
              <a:rPr lang="en-US"/>
              <a:t>Utterskills — options instead of single conclusion: https://utterskills.com/blog/communication-skills-for-software-engineers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Agent/human: answer who/stakes/decision from this slide alone. Recommend=Option B — XO-only AON at freeze; dual-source behind DUAL_SRC_EN strap for revB. by 2026-03-20 EOD.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Customer SKU power-exit is the business hook.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One page; point to RFC-AURORA-117 for waveforms.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Residual risk is explicit for silicon.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Walk trade-offs; land recommendation.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Land B; do not re-open full dual-mux design in this room.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cae030605e462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d3ce853ab34c1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68bbd88c14bd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1f643eef9c4e7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27149c64f4784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768929effe3e419d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977a15ff8b46c1" /><Relationship Type="http://schemas.openxmlformats.org/officeDocument/2006/relationships/notesSlide" Target="/ppt/notesSlides/notesSlide1.xml" Id="Ref160319c4d2404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872e6002564268" /><Relationship Type="http://schemas.openxmlformats.org/officeDocument/2006/relationships/notesSlide" Target="/ppt/notesSlides/notesSlide2.xml" Id="Rf5e70aad7667453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281e994a746e2" /><Relationship Type="http://schemas.openxmlformats.org/officeDocument/2006/relationships/notesSlide" Target="/ppt/notesSlides/notesSlide3.xml" Id="R044bc032d3854f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e9bd58cf964089" /><Relationship Type="http://schemas.openxmlformats.org/officeDocument/2006/relationships/notesSlide" Target="/ppt/notesSlides/notesSlide4.xml" Id="R7d40931bcef745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db007b5b6742ed" /><Relationship Type="http://schemas.openxmlformats.org/officeDocument/2006/relationships/notesSlide" Target="/ppt/notesSlides/notesSlide5.xml" Id="R2d50768f95ff40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41c1b77b44924" /><Relationship Type="http://schemas.openxmlformats.org/officeDocument/2006/relationships/notesSlide" Target="/ppt/notesSlides/notesSlide6.xml" Id="R1dcb487153eb42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6dc2394044767" /><Relationship Type="http://schemas.openxmlformats.org/officeDocument/2006/relationships/notesSlide" Target="/ppt/notesSlides/notesSlide7.xml" Id="R6d9b78536aad44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93c14ce8524f21" /><Relationship Type="http://schemas.openxmlformats.org/officeDocument/2006/relationships/notesSlide" Target="/ppt/notesSlides/notesSlide8.xml" Id="R6fb0e4d45a804f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f0764513ac4cc7" /><Relationship Type="http://schemas.openxmlformats.org/officeDocument/2006/relationships/notesSlide" Target="/ppt/notesSlides/notesSlide9.xml" Id="R469a7fc91dda4157" /></Relationships>
</file>

<file path=ppt/slides/slide1.xml><?xml version="1.0" encoding="utf-8"?>
<p:sld xmlns:p="http://schemas.openxmlformats.org/presentationml/2006/main">
  <p:cSld name="Aurora: always-on domain clock decision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04000" y="93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CADCFC"/>
                </a:solidFill>
                <a:latin typeface="Calibri"/>
                <a:ea typeface="Calibri"/>
              </a:rPr>
              <a:t>SCENARIO 01  ·  EXAMPLE  ·  AURORA POWER DOMAIN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04000" y="1332000"/>
            <a:ext cx="11088000" cy="90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FFFFFF"/>
                </a:solidFill>
                <a:latin typeface="Calibri"/>
                <a:ea typeface="Calibri"/>
              </a:rPr>
              <a:t>Aurora: always-on domain clock decision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04000" y="2340000"/>
            <a:ext cx="11088000" cy="6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CADCFC"/>
                </a:solidFill>
                <a:latin typeface="Calibri"/>
                <a:ea typeface="Calibri"/>
              </a:rPr>
              <a:t>Design freeze for AON clock mux — needed before RTL freeze 2026-04-10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04000" y="3240000"/>
            <a:ext cx="11088000" cy="57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0">
                <a:solidFill>
                  <a:srgbClr val="A0C4E8"/>
                </a:solidFill>
                <a:latin typeface="Calibri"/>
                <a:ea typeface="Calibri"/>
              </a:rPr>
              <a:t>Pattern: Design-doc / RFC options table + residual risk</a:t>
            </a:r>
          </a:p>
        </p:txBody>
      </p:sp>
      <p:sp>
        <p:nvSpPr>
          <p:cNvPr id="100004" name="TextBox 5"/>
          <p:cNvSpPr txBox="1"/>
          <p:nvPr/>
        </p:nvSpPr>
        <p:spPr>
          <a:xfrm xmlns:a="http://schemas.openxmlformats.org/drawingml/2006/main">
            <a:off x="504000" y="5976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0">
                <a:solidFill>
                  <a:srgbClr val="A0AEC0"/>
                </a:solidFill>
                <a:latin typeface="Calibri"/>
                <a:ea typeface="Calibri"/>
              </a:rPr>
              <a:t>EXAMPLE  ·  Atlas Platform  ·  Project Aurora  ·  NovaSemi  ·  2026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Pattern provenance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5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WHERE THIS DECK SHAPE COMES FROM</a:t>
            </a:r>
          </a:p>
        </p:txBody>
      </p:sp>
      <p:sp>
        <p:nvSpPr>
          <p:cNvPr id="100006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Pattern provenance</a:t>
            </a:r>
          </a:p>
        </p:txBody>
      </p:sp>
      <p:sp>
        <p:nvSpPr>
          <p:cNvPr id="100007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Public pattern (structure only — not a confidential company deck):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Design-doc / RFC options table + residual risk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StaffEng — Writing engineering strategy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https://staffeng.com/guides/engineering-strategy/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• Utterskills — options instead of single conclusion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  https://utterskills.com/blog/communication-skills-for-software-engineers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How to use: copy section order and decision verbs; replace with your metrics.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CONTENT TEMPLATE ONLY — do not copy visual design (colors, margins, fonts) as a brand system.</a:t>
            </a:r>
          </a:p>
          <a:p xmlns:a="http://schemas.openxmlformats.org/drawingml/2006/main">
            <a:r>
              <a:rPr lang="en-US" sz="1500" b="0">
                <a:solidFill>
                  <a:srgbClr val="1A202C"/>
                </a:solidFill>
                <a:latin typeface="Calibri"/>
                <a:ea typeface="Calibri"/>
              </a:rPr>
              <a:t>In-repo: skills/presentations/classic-public-cases.md · assets/README.md (agent notice)</a:t>
            </a:r>
          </a:p>
        </p:txBody>
      </p:sp>
      <p:sp>
        <p:nvSpPr>
          <p:cNvPr id="100008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 name="Situation &amp; decision card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9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READ THIS BEFORE THE DETAILS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Situation &amp; decision card</a:t>
            </a:r>
          </a:p>
        </p:txBody>
      </p:sp>
      <p:sp>
        <p:nvSpPr>
          <p:cNvPr id="100011" name="TextBox 3"/>
          <p:cNvSpPr txBox="1"/>
          <p:nvPr/>
        </p:nvSpPr>
        <p:spPr>
          <a:xfrm xmlns:a="http://schemas.openxmlformats.org/drawingml/2006/main">
            <a:off x="504000" y="1224000"/>
            <a:ext cx="11088000" cy="496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Presenter: Alex Chen — EM, Atlas Platform (NovaSemi)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Decision-maker: Morgan Lee — VP Engineering (final call on freeze architecture)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Audience: VP Eng + clock/analog/DV leads; PMIC IP liaison Ken optional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What just happened / context: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Aurora AON clock architecture is still open 3 weeks before RTL freeze 2026-04-10. Full dual-source glitchless mux needs +3 eng-weeks and puts freeze at risk. DV cannot lock sleep-exit assertions until the architecture is frozen.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Stakes if we get this wrong: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freeze slips: tape-out and first-silicon slip → Tier-1 sample window for 6/30 compresses. If we ship dual mux unfinished: brown-out risk on deep-sleep exit for mobile SKUs.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Decision needed: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Choose AON clock path for freeze: A full dual mux now / B phased strap (REC) / C keep dual unfinished in RTL.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Recommendation: Option B — XO-only AON at freeze; dual-source behind DUAL_SRC_EN strap for revB.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YES: Freeze 4/10 holds; DV locks assertions; revB dual-mux enters H2 roadmap.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If NO / delay: Default C = freeze slip risk accepted; or A burns +3 eng-wk and still may miss 4/10.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Decide by: 2026-03-20 EOD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prior: (arc start) no prior deck</a:t>
            </a:r>
          </a:p>
          <a:p xmlns:a="http://schemas.openxmlformats.org/drawingml/2006/main">
            <a:r>
              <a:rPr lang="en-US" sz="1300" b="0">
                <a:solidFill>
                  <a:srgbClr val="1A202C"/>
                </a:solidFill>
                <a:latin typeface="Calibri"/>
                <a:ea typeface="Calibri"/>
              </a:rPr>
              <a:t>Arc next: 02 results after first silicon if freeze holds → day-3 boot story</a:t>
            </a:r>
          </a:p>
        </p:txBody>
      </p:sp>
      <p:sp>
        <p:nvSpPr>
          <p:cNvPr id="100012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 name="BLUF — approve phased clock mux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3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14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BLUF — approve phased clock mux</a:t>
            </a:r>
          </a:p>
        </p:txBody>
      </p:sp>
      <p:sp>
        <p:nvSpPr>
          <p:cNvPr id="100015" name="TextBox 3"/>
          <p:cNvSpPr txBox="1"/>
          <p:nvPr/>
        </p:nvSpPr>
        <p:spPr>
          <a:xfrm xmlns:a="http://schemas.openxmlformats.org/drawingml/2006/main">
            <a:off x="504000" y="1260000"/>
            <a:ext cx="11088000" cy="63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400" b="1">
                <a:solidFill>
                  <a:srgbClr val="FFFFFF"/>
                </a:solidFill>
                <a:latin typeface="Calibri"/>
                <a:ea typeface="Calibri"/>
              </a:rPr>
              <a:t>Status: YELLOW  ·  Recommend Option B  ·  Decide by Fri 2026-03-20 (Morgan)</a:t>
            </a:r>
          </a:p>
        </p:txBody>
      </p:sp>
      <p:sp>
        <p:nvSpPr>
          <p:cNvPr id="100016" name="TextBox 4"/>
          <p:cNvSpPr txBox="1"/>
          <p:nvPr/>
        </p:nvSpPr>
        <p:spPr>
          <a:xfrm xmlns:a="http://schemas.openxmlformats.org/drawingml/2006/main">
            <a:off x="504000" y="1980000"/>
            <a:ext cx="11088000" cy="421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Goal: freeze AON clock architecture so DV can lock assertions before RTL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Difficulty: Full dual-source mux + glitchless switch needs +3 eng-weeks and threatens 4/10 freeze.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Recommendation: Option B — single-source AON at freeze; dual-source behind feature strap for revB.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If no decision by Friday: default is Option C (keep dual mux in RTL) with accepted freeze slip risk.</a:t>
            </a:r>
          </a:p>
        </p:txBody>
      </p:sp>
      <p:sp>
        <p:nvSpPr>
          <p:cNvPr id="100017" name="TextBox 5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 name="Problem, goal, constraints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18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Problem, goal, constraints</a:t>
            </a:r>
          </a:p>
        </p:txBody>
      </p:sp>
      <p:sp>
        <p:nvSpPr>
          <p:cNvPr id="100019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Problem: Always-on domain can brown-out during deep-sleep exit if clock source switches mid-transition; field risk on mobile SKUs.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Success: AON boots glitch-free across 3 corners in UVM; RTL freeze stays 4/10.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Constraints: freeze 4/10 · package power budget · PMIC IP delivers 3/28 · Atlas has 2 clock experts.</a:t>
            </a:r>
          </a:p>
        </p:txBody>
      </p:sp>
      <p:sp>
        <p:nvSpPr>
          <p:cNvPr id="10002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 name="Design sketch (one page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1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Design sketch (one page)</a:t>
            </a:r>
          </a:p>
        </p:txBody>
      </p:sp>
      <p:sp>
        <p:nvSpPr>
          <p:cNvPr id="100022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AON island ← clock mux ← {XO, RCOSC}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   └─ strap: DUAL_SRC_EN (default 0 at freeze)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RevA (freeze): XO only + monitored RCOSC free-run (no switch).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RevB: enable glitchless mux after silicon learnings.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Out of scope today: full PMIC firmware; DV scoreboard details (annex).</a:t>
            </a:r>
          </a:p>
        </p:txBody>
      </p:sp>
      <p:sp>
        <p:nvSpPr>
          <p:cNvPr id="100023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7.xml><?xml version="1.0" encoding="utf-8"?>
<p:sld xmlns:p="http://schemas.openxmlformats.org/presentationml/2006/main">
  <p:cSld name="Risks &amp; mitigations (top 3)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4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Risks &amp; mitigations (top 3)</a:t>
            </a:r>
          </a:p>
        </p:txBody>
      </p:sp>
      <p:sp>
        <p:nvSpPr>
          <p:cNvPr id="100025" name="TextBox 2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1. RCOSC accuracy in cold boot — mitigate: characterize in bring-up; owner: Mina (analog).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2. Late PMIC IP change — mitigate: freeze interface table 3/28; owner: Ken (IP).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3. DV coverage hole on sleep-exit — mitigate: 2 dedicated sequences this sprint; owner: Priya.</a:t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600" b="0">
                <a:solidFill>
                  <a:srgbClr val="1A202C"/>
                </a:solidFill>
                <a:latin typeface="Calibri"/>
                <a:ea typeface="Calibri"/>
              </a:rPr>
              <a:t>Residual after B: no glitchless dual-switch on first silicon (accepted for revA).</a:t>
            </a:r>
          </a:p>
        </p:txBody>
      </p:sp>
      <p:sp>
        <p:nvSpPr>
          <p:cNvPr id="100026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8.xml><?xml version="1.0" encoding="utf-8"?>
<p:sld xmlns:p="http://schemas.openxmlformats.org/presentationml/2006/main">
  <p:cSld name="Options &amp; recommendation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27" name="TextBox 1"/>
          <p:cNvSpPr txBox="1"/>
          <p:nvPr/>
        </p:nvSpPr>
        <p:spPr>
          <a:xfrm xmlns:a="http://schemas.openxmlformats.org/drawingml/2006/main">
            <a:off x="504000" y="396000"/>
            <a:ext cx="11088000" cy="68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000" b="1">
                <a:solidFill>
                  <a:srgbClr val="1A202C"/>
                </a:solidFill>
                <a:latin typeface="Calibri"/>
                <a:ea typeface="Calibri"/>
              </a:rPr>
              <a:t>Options &amp; recommendation</a:t>
            </a:r>
          </a:p>
        </p:txBody>
      </p:sp>
      <p:sp>
        <p:nvSpPr>
          <p:cNvPr id="100028" name="TextBox 2"/>
          <p:cNvSpPr txBox="1"/>
          <p:nvPr/>
        </p:nvSpPr>
        <p:spPr>
          <a:xfrm xmlns:a="http://schemas.openxmlformats.org/drawingml/2006/main">
            <a:off x="504000" y="1224000"/>
            <a:ext cx="11088000" cy="39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718096"/>
                </a:solidFill>
                <a:latin typeface="Calibri"/>
                <a:ea typeface="Calibri"/>
              </a:rPr>
              <a:t>Compare paths; recommendation is marked REC. Decision owner picks by the date on the Ask slide.</a:t>
            </a:r>
          </a:p>
        </p:txBody>
      </p:sp>
      <p:graphicFrame>
        <p:nvGraphicFramePr>
          <p:cNvPr id="100029" name="Table 1"/>
          <p:cNvGraphicFramePr/>
          <p:nvPr/>
        </p:nvGraphicFramePr>
        <p:xfrm>
          <a:off xmlns:a="http://schemas.openxmlformats.org/drawingml/2006/main" x="504000" y="1692000"/>
          <a:ext xmlns:a="http://schemas.openxmlformats.org/drawingml/2006/main" cx="11088000" cy="41400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217600"/>
                <a:gridCol w="2217600"/>
                <a:gridCol w="2217600"/>
                <a:gridCol w="2217600"/>
                <a:gridCol w="2217600"/>
              </a:tblGrid>
              <a:tr h="1035000"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Option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Outcome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Schedule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Capacity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 Full dual mux now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Complete AON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→ 5/01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High DV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+3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B Phased strap (REC)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XO path frozen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Freeze 4/10 holds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+0.5 eng-wk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35000"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C Keep dual in RTL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No scope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Likely slip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Accepted freeze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solidFill>
                            <a:srgbClr val="1A202C"/>
                          </a:solidFill>
                          <a:latin typeface="Calibri"/>
                          <a:ea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0030" name="TextBox 3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slides/slide9.xml><?xml version="1.0" encoding="utf-8"?>
<p:sld xmlns:p="http://schemas.openxmlformats.org/presentationml/2006/main">
  <p:cSld name="Decision &amp; ask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31" name="TextBox 1"/>
          <p:cNvSpPr txBox="1"/>
          <p:nvPr/>
        </p:nvSpPr>
        <p:spPr>
          <a:xfrm xmlns:a="http://schemas.openxmlformats.org/drawingml/2006/main">
            <a:off x="504000" y="270000"/>
            <a:ext cx="11088000" cy="27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32" name="TextBox 2"/>
          <p:cNvSpPr txBox="1"/>
          <p:nvPr/>
        </p:nvSpPr>
        <p:spPr>
          <a:xfrm xmlns:a="http://schemas.openxmlformats.org/drawingml/2006/main">
            <a:off x="504000" y="558000"/>
            <a:ext cx="11088000" cy="61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2800" b="1">
                <a:solidFill>
                  <a:srgbClr val="1A202C"/>
                </a:solidFill>
                <a:latin typeface="Calibri"/>
                <a:ea typeface="Calibri"/>
              </a:rPr>
              <a:t>Decision &amp; ask</a:t>
            </a:r>
          </a:p>
        </p:txBody>
      </p:sp>
      <p:sp>
        <p:nvSpPr>
          <p:cNvPr id="100033" name="TextBox 3"/>
          <p:cNvSpPr txBox="1"/>
          <p:nvPr/>
        </p:nvSpPr>
        <p:spPr>
          <a:xfrm xmlns:a="http://schemas.openxmlformats.org/drawingml/2006/main">
            <a:off x="504000" y="1260000"/>
            <a:ext cx="11088000" cy="48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Decision needed: Approve Option B for Aurora AON clock at freeze.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Owner: Morgan Lee (VP Eng) with Alex Chen executing.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By: Friday 2026-03-20 EOD.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Follow-ups: publish RFC-AURORA-117 rev; notify PMIC + package; add revB dual-mux to H2 roadmap.</a:t>
            </a:r>
          </a:p>
        </p:txBody>
      </p:sp>
      <p:sp>
        <p:nvSpPr>
          <p:cNvPr id="100034" name="TextBox 4"/>
          <p:cNvSpPr txBox="1"/>
          <p:nvPr/>
        </p:nvSpPr>
        <p:spPr>
          <a:xfrm xmlns:a="http://schemas.openxmlformats.org/drawingml/2006/main">
            <a:off x="504000" y="6426000"/>
            <a:ext cx="11088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100" b="0">
                <a:solidFill>
                  <a:srgbClr val="718096"/>
                </a:solidFill>
                <a:latin typeface="Calibri"/>
                <a:ea typeface="Calibri"/>
              </a:rPr>
              <a:t>Atlas Platform  ·  Project Aurora  ·  NovaSemi  ·  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2026-08-06T00:05:35Z</dcterms:created>
  <cp:lastModifiedBy>OfficeCLI</cp:lastModifiedBy>
  <dcterms:modified xsi:type="dcterms:W3CDTF">2026-08-06T00:05:35Z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2026-08-06T00:05:36Z</vt:lpwstr>
  </op:property>
</op:Properties>
</file>