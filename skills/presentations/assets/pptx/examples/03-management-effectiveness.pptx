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b47156309b44541" /><Relationship Type="http://schemas.openxmlformats.org/package/2006/relationships/metadata/core-properties" Target="/docProps/core.xml" Id="Ra9a5f5b820e048a0" /><Relationship Type="http://schemas.openxmlformats.org/officeDocument/2006/relationships/extended-properties" Target="/docProps/app.xml" Id="R3c63c55856bc4d02" /><Relationship Type="http://schemas.openxmlformats.org/officeDocument/2006/relationships/custom-properties" Target="/docProps/custom.xml" Id="Rab6b1939fdd849b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9bfcba9b556344c3"/>
  </p:notesMasterIdLst>
  <p:sldIdLst>
    <p:sldId id="256" r:id="R124f372573404dff"/>
    <p:sldId id="257" r:id="R9b38a74a23324838"/>
    <p:sldId id="258" r:id="Rca594f9e4e6049b9"/>
    <p:sldId id="259" r:id="Rbce07a053b6d4f10"/>
    <p:sldId id="260" r:id="R051c4c0516c94d35"/>
    <p:sldId id="261" r:id="R8bf8be063e94438a"/>
    <p:sldId id="262" r:id="R7c16887f3ee84d9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24f372573404dff" /><Relationship Type="http://schemas.openxmlformats.org/officeDocument/2006/relationships/notesMaster" Target="/ppt/notesMasters/notesMaster1.xml" Id="R9bfcba9b556344c3" /><Relationship Type="http://schemas.openxmlformats.org/officeDocument/2006/relationships/slide" Target="/ppt/slides/slide2.xml" Id="R9b38a74a23324838" /><Relationship Type="http://schemas.openxmlformats.org/officeDocument/2006/relationships/slide" Target="/ppt/slides/slide3.xml" Id="Rca594f9e4e6049b9" /><Relationship Type="http://schemas.openxmlformats.org/officeDocument/2006/relationships/slide" Target="/ppt/slides/slide4.xml" Id="Rbce07a053b6d4f10" /><Relationship Type="http://schemas.openxmlformats.org/officeDocument/2006/relationships/slide" Target="/ppt/slides/slide5.xml" Id="R051c4c0516c94d35" /><Relationship Type="http://schemas.openxmlformats.org/officeDocument/2006/relationships/slide" Target="/ppt/slides/slide6.xml" Id="R8bf8be063e94438a" /><Relationship Type="http://schemas.openxmlformats.org/officeDocument/2006/relationships/slide" Target="/ppt/slides/slide7.xml" Id="R7c16887f3ee84d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86e5a117b5c46b2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951af352e3f4d03" /><Relationship Type="http://schemas.openxmlformats.org/officeDocument/2006/relationships/slide" Target="/ppt/slides/slide1.xml" Id="R1b1f45eee34f4b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6e2a07225814a1a" /><Relationship Type="http://schemas.openxmlformats.org/officeDocument/2006/relationships/slide" Target="/ppt/slides/slide2.xml" Id="Re55a7dffd9b240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56ed5f859784902" /><Relationship Type="http://schemas.openxmlformats.org/officeDocument/2006/relationships/slide" Target="/ppt/slides/slide3.xml" Id="Rbe03464b85e84b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863c6befa2a4ca3" /><Relationship Type="http://schemas.openxmlformats.org/officeDocument/2006/relationships/slide" Target="/ppt/slides/slide4.xml" Id="R805940fb256e46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6bf25b842944514" /><Relationship Type="http://schemas.openxmlformats.org/officeDocument/2006/relationships/slide" Target="/ppt/slides/slide5.xml" Id="R07ffa5590bf94b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d635c7af7414f49" /><Relationship Type="http://schemas.openxmlformats.org/officeDocument/2006/relationships/slide" Target="/ppt/slides/slide6.xml" Id="Ra76d5c86a91f42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11b90beace147ca" /><Relationship Type="http://schemas.openxmlformats.org/officeDocument/2006/relationships/slide" Target="/ppt/slides/slide7.xml" Id="R3f6a05498af24d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(example). Atlas healthy on delivery; yellow on IO DV single-thread → endorse hire.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One ask; point to deck 06 for business case.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Honest partial on USB3.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Explain A vs planned; HC uses B in deck 06.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Facts + ask, no blame.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recommendation.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One ask; point to deck 06 for business case.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0f39e29b247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1b9758b901414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e38751da341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c1de2ecaab49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82e6833c3e4a6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3ecd0e859a504279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d71295bff4a2a" /><Relationship Type="http://schemas.openxmlformats.org/officeDocument/2006/relationships/notesSlide" Target="/ppt/notesSlides/notesSlide1.xml" Id="R877888b0a56a4e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43a0b859f43a3" /><Relationship Type="http://schemas.openxmlformats.org/officeDocument/2006/relationships/notesSlide" Target="/ppt/notesSlides/notesSlide2.xml" Id="Re29647ab9f6148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e979a6ff64f95" /><Relationship Type="http://schemas.openxmlformats.org/officeDocument/2006/relationships/notesSlide" Target="/ppt/notesSlides/notesSlide3.xml" Id="R5054b29d9b0e43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6fb5b4eb04362" /><Relationship Type="http://schemas.openxmlformats.org/officeDocument/2006/relationships/notesSlide" Target="/ppt/notesSlides/notesSlide4.xml" Id="R919894e6253d44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258dd3ce346af" /><Relationship Type="http://schemas.openxmlformats.org/officeDocument/2006/relationships/notesSlide" Target="/ppt/notesSlides/notesSlide5.xml" Id="Rcc826f77830d44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5fe962bde45b1" /><Relationship Type="http://schemas.openxmlformats.org/officeDocument/2006/relationships/notesSlide" Target="/ppt/notesSlides/notesSlide6.xml" Id="R3846f15c21624c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0c24b74bf43cc" /><Relationship Type="http://schemas.openxmlformats.org/officeDocument/2006/relationships/notesSlide" Target="/ppt/notesSlides/notesSlide7.xml" Id="R9c8501c73d264da3" /></Relationships>
</file>

<file path=ppt/slides/slide1.xml><?xml version="1.0" encoding="utf-8"?>
<p:sld xmlns:p="http://schemas.openxmlformats.org/presentationml/2006/main">
  <p:cSld name="Atlas Platform — Q2 org effectiveness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04000" y="1008000"/>
            <a:ext cx="11088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CADCFC"/>
                </a:solidFill>
                <a:latin typeface="Calibri"/>
                <a:ea typeface="Calibri"/>
              </a:rPr>
              <a:t>SCENARIO 03  ·  EXAMPLE  ·  ATLAS HEALTH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04000" y="1440000"/>
            <a:ext cx="11088000" cy="93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  <a:latin typeface="Calibri"/>
                <a:ea typeface="Calibri"/>
              </a:rPr>
              <a:t>Atlas Platform — Q2 org effectiveness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04000" y="2520000"/>
            <a:ext cx="11088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CADCFC"/>
                </a:solidFill>
                <a:latin typeface="Calibri"/>
                <a:ea typeface="Calibri"/>
              </a:rPr>
              <a:t>1:1 pack for Morgan Lee — delivery green, people yellow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04000" y="5976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A0AEC0"/>
                </a:solidFill>
                <a:latin typeface="Calibri"/>
                <a:ea typeface="Calibri"/>
              </a:rPr>
              <a:t>EXAMPLE  ·  Atlas Platform  ·  Project Aurora  ·  NovaSemi  · 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BLUF — delivery green, capacity tight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4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05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BLUF — delivery green, capacity tight</a:t>
            </a:r>
          </a:p>
        </p:txBody>
      </p:sp>
      <p:sp>
        <p:nvSpPr>
          <p:cNvPr id="100006" name="TextBox 3"/>
          <p:cNvSpPr txBox="1"/>
          <p:nvPr/>
        </p:nvSpPr>
        <p:spPr>
          <a:xfrm xmlns:a="http://schemas.openxmlformats.org/drawingml/2006/main">
            <a:off x="504000" y="1260000"/>
            <a:ext cx="110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Delivery: GREEN  ·  People: YELLOW  ·  Ask: endorse +1 DV req (see resource deck)</a:t>
            </a:r>
          </a:p>
        </p:txBody>
      </p:sp>
      <p:sp>
        <p:nvSpPr>
          <p:cNvPr id="100007" name="TextBox 4"/>
          <p:cNvSpPr txBox="1"/>
          <p:nvPr/>
        </p:nvSpPr>
        <p:spPr>
          <a:xfrm xmlns:a="http://schemas.openxmlformats.org/drawingml/2006/main">
            <a:off x="504000" y="1980000"/>
            <a:ext cx="11088000" cy="42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Mandate: own Aurora integration DV + first-silicon bring-up for NovaSemi connectivity SoC.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Outcomes: (1) RTL freeze held 4/10 (2) day-3 boot 5/15 (3) DV farm ROI visible.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Top risk: single-threaded on high-speed IO DV (Priya overloaded); backup is junior only.</a:t>
            </a:r>
          </a:p>
        </p:txBody>
      </p:sp>
      <p:sp>
        <p:nvSpPr>
          <p:cNvPr id="100008" name="TextBox 5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name="Outcomes vs commits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Outcomes vs commits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Freeze-ready AON decision — Hit — Option B landed Mar 20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RTL freeze 4/10 — Hit — held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Day-5 boot target — Hit — actual day 3 (silicon 5/12)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USB3 bring-up complete — Partial — stable path slipped to June 10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Team voluntary attrition — Hit — 0 exits in Q2</a:t>
            </a:r>
          </a:p>
        </p:txBody>
      </p:sp>
      <p:sp>
        <p:nvSpPr>
          <p:cNvPr id="100011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 name="Capacity reality (context A)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2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Capacity reality (context A)</a:t>
            </a:r>
          </a:p>
        </p:txBody>
      </p:sp>
      <p:sp>
        <p:nvSpPr>
          <p:cNvPr id="100013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Q2 actual mix (Atlas 12 FTE):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Planned Aurora outcomes ~62%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Tech investment (DV farm, assertions) ~18%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Unplanned (board issues, ECO-22) ~20%  ← above 10–15% plan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Unplanned overrun is why USB3 is partial — not thrash for its own sake.</a:t>
            </a:r>
          </a:p>
        </p:txBody>
      </p:sp>
      <p:sp>
        <p:nvSpPr>
          <p:cNvPr id="100014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 name="People &amp; capability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5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People &amp; capability</a:t>
            </a:r>
          </a:p>
        </p:txBody>
      </p:sp>
      <p:sp>
        <p:nvSpPr>
          <p:cNvPr id="100016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Critical path: Priya (HS IO DV) has no senior backup.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Mina (analog liaison) 0.5 FTE borrowed from IP team through mid-Q2.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Hiring: 1 req open 4 weeks — pipeline thin for senior DV.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Ask is structural, not a complaint: protect sample path with +1 DV.</a:t>
            </a:r>
          </a:p>
        </p:txBody>
      </p:sp>
      <p:sp>
        <p:nvSpPr>
          <p:cNvPr id="100017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 name="Options &amp; recommendatio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8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Options &amp; recommendation</a:t>
            </a:r>
          </a:p>
        </p:txBody>
      </p:sp>
      <p:sp>
        <p:nvSpPr>
          <p:cNvPr id="100019" name="TextBox 2"/>
          <p:cNvSpPr txBox="1"/>
          <p:nvPr/>
        </p:nvSpPr>
        <p:spPr>
          <a:xfrm xmlns:a="http://schemas.openxmlformats.org/drawingml/2006/main">
            <a:off x="504000" y="1224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marked REC. Decision owner picks by the date on the Ask slide.</a:t>
            </a:r>
          </a:p>
        </p:txBody>
      </p:sp>
      <p:graphicFrame>
        <p:nvGraphicFramePr>
          <p:cNvPr id="100020" name="Table 1"/>
          <p:cNvGraphicFramePr/>
          <p:nvPr/>
        </p:nvGraphicFramePr>
        <p:xfrm>
          <a:off xmlns:a="http://schemas.openxmlformats.org/drawingml/2006/main" x="504000" y="1692000"/>
          <a:ext xmlns:a="http://schemas.openxmlformats.org/drawingml/2006/main" cx="11088000" cy="414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96000"/>
                <a:gridCol w="3696000"/>
                <a:gridCol w="3696000"/>
              </a:tblGrid>
              <a:tr h="10350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Ask type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What changes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If deferred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+1 DV (REC)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Backup Priya; USB3 + sample surge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USB3 slip &amp; burnout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Reprioritize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Drop non-Aurora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Partner friction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Continue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Accept yellow people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21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 name="Decision &amp; ask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2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23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Decision &amp; ask</a:t>
            </a:r>
          </a:p>
        </p:txBody>
      </p:sp>
      <p:sp>
        <p:nvSpPr>
          <p:cNvPr id="100024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Primary ask: Endorse opening senior DV requisition (detail in resource request ~2026-05-20).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Decision by: 2026-05-18 1:1 (after first-silicon readout).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Air cover: restate Aurora sample &gt; internal tool polish in Thursday steering.</a:t>
            </a:r>
          </a:p>
        </p:txBody>
      </p:sp>
      <p:sp>
        <p:nvSpPr>
          <p:cNvPr id="100025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2026-08-05T23:30:46Z</dcterms:created>
  <cp:lastModifiedBy>OfficeCLI</cp:lastModifiedBy>
  <dcterms:modified xsi:type="dcterms:W3CDTF">2026-08-05T23:30:46Z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2026-08-05T23:30:47Z</vt:lpwstr>
  </op:property>
</op:Properties>
</file>